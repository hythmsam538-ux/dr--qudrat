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2"/>
  </p:notesMasterIdLst>
  <p:handoutMasterIdLst>
    <p:handoutMasterId r:id="rId103"/>
  </p:handoutMasterIdLst>
  <p:sldIdLst>
    <p:sldId id="256" r:id="rId2"/>
    <p:sldId id="355" r:id="rId3"/>
    <p:sldId id="353" r:id="rId4"/>
    <p:sldId id="356" r:id="rId5"/>
    <p:sldId id="354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348" r:id="rId47"/>
    <p:sldId id="349" r:id="rId48"/>
    <p:sldId id="345" r:id="rId49"/>
    <p:sldId id="346" r:id="rId50"/>
    <p:sldId id="347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  <p:sldId id="319" r:id="rId74"/>
    <p:sldId id="320" r:id="rId75"/>
    <p:sldId id="321" r:id="rId76"/>
    <p:sldId id="350" r:id="rId77"/>
    <p:sldId id="351" r:id="rId78"/>
    <p:sldId id="352" r:id="rId79"/>
    <p:sldId id="322" r:id="rId80"/>
    <p:sldId id="323" r:id="rId81"/>
    <p:sldId id="324" r:id="rId82"/>
    <p:sldId id="325" r:id="rId83"/>
    <p:sldId id="326" r:id="rId84"/>
    <p:sldId id="327" r:id="rId85"/>
    <p:sldId id="328" r:id="rId86"/>
    <p:sldId id="329" r:id="rId87"/>
    <p:sldId id="330" r:id="rId88"/>
    <p:sldId id="331" r:id="rId89"/>
    <p:sldId id="332" r:id="rId90"/>
    <p:sldId id="333" r:id="rId91"/>
    <p:sldId id="334" r:id="rId92"/>
    <p:sldId id="335" r:id="rId93"/>
    <p:sldId id="336" r:id="rId94"/>
    <p:sldId id="337" r:id="rId95"/>
    <p:sldId id="338" r:id="rId96"/>
    <p:sldId id="339" r:id="rId97"/>
    <p:sldId id="340" r:id="rId98"/>
    <p:sldId id="341" r:id="rId99"/>
    <p:sldId id="342" r:id="rId100"/>
    <p:sldId id="343" r:id="rId10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0E56"/>
    <a:srgbClr val="3F0F5D"/>
    <a:srgbClr val="290A3C"/>
    <a:srgbClr val="091C39"/>
    <a:srgbClr val="0D2B55"/>
    <a:srgbClr val="434343"/>
    <a:srgbClr val="054040"/>
    <a:srgbClr val="CBCAC4"/>
    <a:srgbClr val="6C6D6F"/>
    <a:srgbClr val="FFE0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19" autoAdjust="0"/>
  </p:normalViewPr>
  <p:slideViewPr>
    <p:cSldViewPr snapToGrid="0" snapToObjects="1">
      <p:cViewPr varScale="1">
        <p:scale>
          <a:sx n="146" d="100"/>
          <a:sy n="146" d="100"/>
        </p:scale>
        <p:origin x="59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0723F29-59F4-4BEF-AB23-91ECB5B912F9}" type="datetimeFigureOut">
              <a:rPr lang="ar-SA" smtClean="0"/>
              <a:t>06/12/47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19893D33-8B6E-4440-B115-B77A36D0D19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56693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F3F96911-6C16-46DE-8693-BB786E82F087}" type="datetimeFigureOut">
              <a:rPr lang="ar-SA" smtClean="0"/>
              <a:t>06/12/47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1FD37AF9-5D41-47B0-92D3-63BB87B293D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5387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7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68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79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D37AF9-5D41-47B0-92D3-63BB87B293D8}" type="slidenum">
              <a:rPr lang="ar-SA" smtClean="0"/>
              <a:t>13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04409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D37AF9-5D41-47B0-92D3-63BB87B293D8}" type="slidenum">
              <a:rPr lang="ar-SA" smtClean="0"/>
              <a:t>65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52469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D37AF9-5D41-47B0-92D3-63BB87B293D8}" type="slidenum">
              <a:rPr lang="ar-SA" smtClean="0"/>
              <a:t>84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70202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D37AF9-5D41-47B0-92D3-63BB87B293D8}" type="slidenum">
              <a:rPr lang="ar-SA" smtClean="0"/>
              <a:t>88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53850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578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صورة 6"/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194382"/>
              </a:clrFrom>
              <a:clrTo>
                <a:srgbClr val="194382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-50000"/>
                    </a14:imgEffect>
                    <a14:imgEffect>
                      <a14:brightnessContrast bright="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542" y="1162561"/>
            <a:ext cx="3524056" cy="2745775"/>
          </a:xfrm>
          <a:prstGeom prst="rect">
            <a:avLst/>
          </a:prstGeom>
        </p:spPr>
      </p:pic>
      <p:sp>
        <p:nvSpPr>
          <p:cNvPr id="8" name="مستطيل 7"/>
          <p:cNvSpPr/>
          <p:nvPr userDrawn="1"/>
        </p:nvSpPr>
        <p:spPr>
          <a:xfrm>
            <a:off x="4405570" y="3271878"/>
            <a:ext cx="1514606" cy="859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dirty="0" smtClean="0">
                <a:solidFill>
                  <a:srgbClr val="CBCAC4"/>
                </a:solidFill>
              </a:rPr>
              <a:t>هيثم عصام</a:t>
            </a:r>
          </a:p>
          <a:p>
            <a:pPr algn="ctr"/>
            <a:r>
              <a:rPr lang="ar-SA" sz="1400" dirty="0" smtClean="0">
                <a:solidFill>
                  <a:srgbClr val="CBCAC4"/>
                </a:solidFill>
              </a:rPr>
              <a:t>0547856086</a:t>
            </a:r>
            <a:endParaRPr lang="ar-SA" sz="1400" dirty="0">
              <a:solidFill>
                <a:srgbClr val="CBCA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8823960" cy="109728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42812"/>
            <a:ext cx="7772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4200" b="1" i="0" dirty="0" smtClean="0">
                <a:solidFill>
                  <a:srgbClr val="FFFFFF"/>
                </a:solidFill>
                <a:latin typeface="Arial"/>
              </a:rPr>
              <a:t>الدكتور في </a:t>
            </a:r>
            <a:r>
              <a:rPr sz="4200" b="1" i="0" dirty="0" err="1" smtClean="0">
                <a:solidFill>
                  <a:srgbClr val="FFFFFF"/>
                </a:solidFill>
                <a:latin typeface="Arial"/>
              </a:rPr>
              <a:t>القدرات</a:t>
            </a:r>
            <a:endParaRPr sz="4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3864" y="3165564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b="0" i="0" dirty="0" smtClean="0">
                <a:solidFill>
                  <a:srgbClr val="FFC107"/>
                </a:solidFill>
                <a:latin typeface="Arial"/>
              </a:rPr>
              <a:t>تأسيس + </a:t>
            </a:r>
            <a:r>
              <a:rPr lang="ar-SA" b="0" i="0" dirty="0" err="1" smtClean="0">
                <a:solidFill>
                  <a:srgbClr val="FFC107"/>
                </a:solidFill>
                <a:latin typeface="Arial"/>
              </a:rPr>
              <a:t>أختصار</a:t>
            </a:r>
            <a:r>
              <a:rPr lang="ar-SA" b="0" i="0" dirty="0" smtClean="0">
                <a:solidFill>
                  <a:srgbClr val="FFC107"/>
                </a:solidFill>
                <a:latin typeface="Arial"/>
              </a:rPr>
              <a:t> + </a:t>
            </a:r>
            <a:r>
              <a:rPr b="0" i="0" dirty="0" err="1" smtClean="0">
                <a:solidFill>
                  <a:srgbClr val="FFC107"/>
                </a:solidFill>
                <a:latin typeface="Arial"/>
              </a:rPr>
              <a:t>شرح</a:t>
            </a:r>
            <a:r>
              <a:rPr lang="ar-SA" b="0" i="0" dirty="0" smtClean="0">
                <a:solidFill>
                  <a:srgbClr val="FFC107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FFC107"/>
                </a:solidFill>
                <a:latin typeface="Arial"/>
              </a:rPr>
              <a:t>+</a:t>
            </a:r>
            <a:r>
              <a:rPr lang="ar-SA" b="0" i="0" dirty="0" smtClean="0">
                <a:solidFill>
                  <a:srgbClr val="FFC107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FFC107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FFC107"/>
                </a:solidFill>
                <a:latin typeface="Arial"/>
              </a:rPr>
              <a:t>أسئلة</a:t>
            </a:r>
            <a:r>
              <a:rPr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b="0" i="0" dirty="0" err="1" smtClean="0">
                <a:solidFill>
                  <a:srgbClr val="FFC107"/>
                </a:solidFill>
                <a:latin typeface="Arial"/>
              </a:rPr>
              <a:t>أص</a:t>
            </a:r>
            <a:r>
              <a:rPr lang="ar-SA" b="0" i="0" dirty="0" smtClean="0">
                <a:solidFill>
                  <a:srgbClr val="FFC107"/>
                </a:solidFill>
                <a:latin typeface="Arial"/>
              </a:rPr>
              <a:t>لي</a:t>
            </a:r>
            <a:r>
              <a:rPr b="0" i="0" dirty="0" smtClean="0">
                <a:solidFill>
                  <a:srgbClr val="FFC107"/>
                </a:solidFill>
                <a:latin typeface="Arial"/>
              </a:rPr>
              <a:t>ة</a:t>
            </a:r>
            <a:endParaRPr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00646" y="3737922"/>
            <a:ext cx="5486400" cy="457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ar-SA"/>
          </a:p>
        </p:txBody>
      </p:sp>
      <p:sp>
        <p:nvSpPr>
          <p:cNvPr id="7" name="TextBox 6"/>
          <p:cNvSpPr txBox="1"/>
          <p:nvPr/>
        </p:nvSpPr>
        <p:spPr>
          <a:xfrm>
            <a:off x="757646" y="3851792"/>
            <a:ext cx="7772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1500" b="0" i="0" dirty="0" smtClean="0">
                <a:solidFill>
                  <a:srgbClr val="CCDDFF"/>
                </a:solidFill>
                <a:latin typeface="Arial"/>
              </a:rPr>
              <a:t>في هذا الملف جميع المواضيع هذا الملف بإذن الله يغنيك عن مصادر أخرى كثير </a:t>
            </a:r>
            <a:endParaRPr sz="1500" b="0" i="0" dirty="0">
              <a:solidFill>
                <a:srgbClr val="CCDD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9404" y="3428301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1400" b="0" i="0" dirty="0" smtClean="0">
                <a:solidFill>
                  <a:srgbClr val="AABBDD"/>
                </a:solidFill>
                <a:latin typeface="Arial"/>
              </a:rPr>
              <a:t>قدرات كمي</a:t>
            </a:r>
            <a:endParaRPr sz="1400" b="0" i="0" dirty="0">
              <a:solidFill>
                <a:srgbClr val="AABBDD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0040" y="4663440"/>
            <a:ext cx="8823960" cy="4800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4640720"/>
            <a:ext cx="108069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1300" b="0" i="0" dirty="0" smtClean="0">
                <a:solidFill>
                  <a:srgbClr val="FFFFFF"/>
                </a:solidFill>
                <a:latin typeface="Arial"/>
              </a:rPr>
              <a:t>للتواصل 0547856086</a:t>
            </a:r>
            <a:endParaRPr sz="13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8077875" y="4644707"/>
            <a:ext cx="108069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1300" b="0" i="0" dirty="0" smtClean="0">
                <a:solidFill>
                  <a:srgbClr val="FFFFFF"/>
                </a:solidFill>
                <a:latin typeface="Arial"/>
              </a:rPr>
              <a:t>تصميم وإعداد هيثم عصام</a:t>
            </a:r>
            <a:endParaRPr sz="1300" b="0" i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" name="صورة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7" t="32448" r="9727" b="31250"/>
          <a:stretch/>
        </p:blipFill>
        <p:spPr>
          <a:xfrm>
            <a:off x="4360044" y="4680928"/>
            <a:ext cx="423911" cy="432700"/>
          </a:xfrm>
          <a:prstGeom prst="rect">
            <a:avLst/>
          </a:prstGeom>
        </p:spPr>
      </p:pic>
      <p:pic>
        <p:nvPicPr>
          <p:cNvPr id="14" name="صورة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93" t="24242" r="20109" b="36845"/>
          <a:stretch/>
        </p:blipFill>
        <p:spPr>
          <a:xfrm>
            <a:off x="3661438" y="4680927"/>
            <a:ext cx="434821" cy="424229"/>
          </a:xfrm>
          <a:prstGeom prst="rect">
            <a:avLst/>
          </a:prstGeom>
        </p:spPr>
      </p:pic>
      <p:pic>
        <p:nvPicPr>
          <p:cNvPr id="17" name="صورة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604" y="1193859"/>
            <a:ext cx="2688000" cy="2094361"/>
          </a:xfrm>
          <a:prstGeom prst="rect">
            <a:avLst/>
          </a:prstGeom>
        </p:spPr>
      </p:pic>
      <p:sp>
        <p:nvSpPr>
          <p:cNvPr id="18" name="TextBox 7"/>
          <p:cNvSpPr txBox="1"/>
          <p:nvPr/>
        </p:nvSpPr>
        <p:spPr>
          <a:xfrm>
            <a:off x="549404" y="4274253"/>
            <a:ext cx="7772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1400" b="0" i="0" dirty="0" smtClean="0">
                <a:solidFill>
                  <a:srgbClr val="AABBDD"/>
                </a:solidFill>
                <a:latin typeface="Arial"/>
              </a:rPr>
              <a:t>تقديرا للمجهود المبذول هذا الملف غير محلل لغير المشتركين</a:t>
            </a:r>
            <a:endParaRPr sz="1400" b="0" i="0" dirty="0">
              <a:solidFill>
                <a:srgbClr val="AABBDD"/>
              </a:solidFill>
              <a:latin typeface="Arial"/>
            </a:endParaRPr>
          </a:p>
        </p:txBody>
      </p:sp>
      <p:pic>
        <p:nvPicPr>
          <p:cNvPr id="11" name="صورة 1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71" t="35302" r="21695" b="33459"/>
          <a:stretch/>
        </p:blipFill>
        <p:spPr>
          <a:xfrm>
            <a:off x="4969362" y="4674396"/>
            <a:ext cx="398418" cy="4658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7"/>
          <p:cNvSpPr/>
          <p:nvPr/>
        </p:nvSpPr>
        <p:spPr>
          <a:xfrm>
            <a:off x="457200" y="137160"/>
            <a:ext cx="8604249" cy="5006340"/>
          </a:xfrm>
          <a:prstGeom prst="rect">
            <a:avLst/>
          </a:prstGeom>
          <a:solidFill>
            <a:srgbClr val="0D2B55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75290" y="0"/>
            <a:ext cx="320040" cy="685800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109728"/>
          </a:xfrm>
          <a:prstGeom prst="rect">
            <a:avLst/>
          </a:prstGeom>
          <a:solidFill>
            <a:srgbClr val="F47E20"/>
          </a:solidFill>
          <a:ln w="12700">
            <a:solidFill>
              <a:srgbClr val="F47E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11040"/>
            <a:ext cx="8823960" cy="175774"/>
          </a:xfrm>
          <a:prstGeom prst="rect">
            <a:avLst/>
          </a:prstGeom>
          <a:solidFill>
            <a:srgbClr val="F47E20"/>
          </a:solidFill>
          <a:ln w="12700">
            <a:solidFill>
              <a:srgbClr val="F47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47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الدكتور في القدرات  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52120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</a:t>
            </a:r>
            <a:r>
              <a:rPr lang="en-US" sz="24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هذا</a:t>
            </a:r>
            <a:r>
              <a:rPr lang="en-US" sz="24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الملف</a:t>
            </a:r>
            <a:r>
              <a:rPr lang="en-US" sz="24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مختلف</a:t>
            </a:r>
            <a:r>
              <a:rPr lang="en-US" sz="24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24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 بماذا </a:t>
            </a:r>
            <a:r>
              <a:rPr lang="ar-SA" sz="2400" b="1" dirty="0" err="1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يفيدك</a:t>
            </a:r>
            <a:r>
              <a:rPr lang="ar-SA" sz="24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11606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en-US" sz="12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صمّمه</a:t>
            </a: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</a:t>
            </a:r>
            <a:r>
              <a:rPr lang="ar-SA" sz="12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r>
              <a:rPr lang="en-US" sz="12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أخوك</a:t>
            </a:r>
            <a:r>
              <a:rPr lang="ar-SA" sz="12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r>
              <a:rPr lang="en-US" sz="12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هيثم </a:t>
            </a:r>
            <a:r>
              <a:rPr lang="en-US" sz="12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عصام</a:t>
            </a: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ar-SA" sz="12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2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قريب منكم </a:t>
            </a:r>
            <a:r>
              <a:rPr lang="en-US" sz="1200" dirty="0" err="1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يفهم</a:t>
            </a:r>
            <a:r>
              <a:rPr lang="en-US" sz="12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</a:t>
            </a:r>
            <a:r>
              <a:rPr lang="en-US" sz="12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يحتاجه</a:t>
            </a: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الطالب</a:t>
            </a: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ar-SA" sz="12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يعلم الله اني لا ابخل عليكم و أحاول افادتكم بما عندي </a:t>
            </a:r>
            <a:r>
              <a:rPr lang="en-US" sz="1200" dirty="0" smtClean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ar-SA" sz="1200" dirty="0" smtClean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 rtl="1"/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1463040"/>
            <a:ext cx="5852160" cy="36576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59" y="1609412"/>
            <a:ext cx="3828741" cy="903460"/>
          </a:xfrm>
          <a:prstGeom prst="rect">
            <a:avLst/>
          </a:prstGeom>
          <a:solidFill>
            <a:srgbClr val="0A2040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95928" y="1700784"/>
            <a:ext cx="347472" cy="347472"/>
          </a:xfrm>
          <a:prstGeom prst="ellipse">
            <a:avLst/>
          </a:prstGeom>
          <a:solidFill>
            <a:srgbClr val="F47E20"/>
          </a:solidFill>
          <a:ln w="12700">
            <a:solidFill>
              <a:srgbClr val="F47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95928" y="1700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700784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2110" y="1614101"/>
            <a:ext cx="349138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150" dirty="0" smtClean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بسبب تعدد المعاصر وحجمها الكبير </a:t>
            </a:r>
            <a:r>
              <a:rPr lang="en-US" sz="1150" dirty="0" smtClean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ar-SA" sz="1150" dirty="0" smtClean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صممت لك</a:t>
            </a:r>
            <a:r>
              <a:rPr lang="en-US" sz="1150" dirty="0" smtClean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 smtClean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أسلوب</a:t>
            </a:r>
            <a:r>
              <a:rPr lang="en-US" sz="1150" dirty="0" smtClean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بسيط وقريب </a:t>
            </a:r>
            <a:r>
              <a:rPr lang="en-US" sz="1150" dirty="0" err="1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يلامس</a:t>
            </a:r>
            <a:r>
              <a:rPr lang="en-US" sz="1150" dirty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 smtClean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تفكيرك</a:t>
            </a:r>
            <a:r>
              <a:rPr lang="en-US" sz="1150" dirty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 smtClean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ويوصّل</a:t>
            </a:r>
            <a:r>
              <a:rPr lang="en-US" sz="1150" dirty="0" smtClean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المعلومة</a:t>
            </a:r>
            <a:r>
              <a:rPr lang="en-US" sz="1150" dirty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 smtClean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بسرعة</a:t>
            </a:r>
            <a:r>
              <a:rPr lang="en-US" sz="1150" dirty="0" smtClean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150" dirty="0" smtClean="0">
                <a:solidFill>
                  <a:srgbClr val="D0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ويختصر وينجز معاك جدا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627631"/>
            <a:ext cx="3931920" cy="991015"/>
          </a:xfrm>
          <a:prstGeom prst="rect">
            <a:avLst/>
          </a:prstGeom>
          <a:solidFill>
            <a:srgbClr val="0A2040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6448" y="1700784"/>
            <a:ext cx="347472" cy="347472"/>
          </a:xfrm>
          <a:prstGeom prst="ellipse">
            <a:avLst/>
          </a:prstGeom>
          <a:solidFill>
            <a:srgbClr val="F47E20"/>
          </a:solidFill>
          <a:ln w="12700">
            <a:solidFill>
              <a:srgbClr val="F47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1700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700784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7561" y="1789811"/>
            <a:ext cx="3730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/>
            <a:r>
              <a:rPr lang="ar-SA" sz="1200" dirty="0">
                <a:solidFill>
                  <a:schemeClr val="bg2">
                    <a:lumMod val="90000"/>
                  </a:schemeClr>
                </a:solidFill>
              </a:rPr>
              <a:t>حرصت أثناء إعداد الملف أن يكون قريب جدًا من الطالب، لأني في الأصل </a:t>
            </a:r>
            <a:r>
              <a:rPr lang="ar-SA" sz="1200" dirty="0" smtClean="0">
                <a:solidFill>
                  <a:schemeClr val="bg2">
                    <a:lumMod val="90000"/>
                  </a:schemeClr>
                </a:solidFill>
              </a:rPr>
              <a:t>مررت في هذه التجربة وأتفهم </a:t>
            </a:r>
            <a:r>
              <a:rPr lang="ar-SA" sz="1200" dirty="0">
                <a:solidFill>
                  <a:schemeClr val="bg2">
                    <a:lumMod val="90000"/>
                  </a:schemeClr>
                </a:solidFill>
              </a:rPr>
              <a:t>جيدًا ما يحتاجه الطالب أثناء </a:t>
            </a:r>
            <a:r>
              <a:rPr lang="ar-SA" sz="1200" dirty="0" smtClean="0">
                <a:solidFill>
                  <a:schemeClr val="bg2">
                    <a:lumMod val="90000"/>
                  </a:schemeClr>
                </a:solidFill>
              </a:rPr>
              <a:t>المذاكرة ، </a:t>
            </a:r>
            <a:r>
              <a:rPr lang="ar-SA" sz="1200" dirty="0">
                <a:solidFill>
                  <a:schemeClr val="bg2">
                    <a:lumMod val="90000"/>
                  </a:schemeClr>
                </a:solidFill>
              </a:rPr>
              <a:t>وما هي الطريقة المناسبة التي تساعد على الفهم السريع بدون تعقيد أو </a:t>
            </a:r>
            <a:r>
              <a:rPr lang="ar-SA" sz="1200" dirty="0" smtClean="0">
                <a:solidFill>
                  <a:schemeClr val="bg2">
                    <a:lumMod val="90000"/>
                  </a:schemeClr>
                </a:solidFill>
              </a:rPr>
              <a:t>ملل .</a:t>
            </a:r>
            <a:endParaRPr lang="ar-SA" sz="12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920" y="2584365"/>
            <a:ext cx="3931920" cy="1358571"/>
          </a:xfrm>
          <a:prstGeom prst="rect">
            <a:avLst/>
          </a:prstGeom>
          <a:solidFill>
            <a:srgbClr val="0A2040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95928" y="2669531"/>
            <a:ext cx="347472" cy="347472"/>
          </a:xfrm>
          <a:prstGeom prst="ellipse">
            <a:avLst/>
          </a:prstGeom>
          <a:solidFill>
            <a:srgbClr val="F47E20"/>
          </a:solidFill>
          <a:ln w="12700">
            <a:solidFill>
              <a:srgbClr val="F47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95928" y="267057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8048" y="2937717"/>
            <a:ext cx="3730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/>
            <a:r>
              <a:rPr lang="ar-SA" sz="1200" dirty="0">
                <a:solidFill>
                  <a:schemeClr val="bg2">
                    <a:lumMod val="90000"/>
                  </a:schemeClr>
                </a:solidFill>
              </a:rPr>
              <a:t>تم إعداد الشرح بأسلوب </a:t>
            </a:r>
            <a:r>
              <a:rPr lang="ar-SA" sz="1200" dirty="0" smtClean="0">
                <a:solidFill>
                  <a:schemeClr val="bg2">
                    <a:lumMod val="90000"/>
                  </a:schemeClr>
                </a:solidFill>
              </a:rPr>
              <a:t>بسيط ، </a:t>
            </a:r>
            <a:r>
              <a:rPr lang="ar-SA" sz="1200" dirty="0">
                <a:solidFill>
                  <a:schemeClr val="bg2">
                    <a:lumMod val="90000"/>
                  </a:schemeClr>
                </a:solidFill>
              </a:rPr>
              <a:t>مختصر، ومنظم، بحيث يحتوي كل موضوع على:</a:t>
            </a:r>
            <a:br>
              <a:rPr lang="ar-SA" sz="1200" dirty="0">
                <a:solidFill>
                  <a:schemeClr val="bg2">
                    <a:lumMod val="90000"/>
                  </a:schemeClr>
                </a:solidFill>
              </a:rPr>
            </a:br>
            <a:r>
              <a:rPr lang="ar-SA" sz="1200" dirty="0">
                <a:solidFill>
                  <a:schemeClr val="bg2">
                    <a:lumMod val="90000"/>
                  </a:schemeClr>
                </a:solidFill>
              </a:rPr>
              <a:t>• شرح واضح </a:t>
            </a:r>
            <a:r>
              <a:rPr lang="ar-SA" sz="1200" dirty="0" smtClean="0">
                <a:solidFill>
                  <a:schemeClr val="bg2">
                    <a:lumMod val="90000"/>
                  </a:schemeClr>
                </a:solidFill>
              </a:rPr>
              <a:t>وسلس   • </a:t>
            </a:r>
            <a:r>
              <a:rPr lang="ar-SA" sz="1200" dirty="0">
                <a:solidFill>
                  <a:schemeClr val="bg2">
                    <a:lumMod val="90000"/>
                  </a:schemeClr>
                </a:solidFill>
              </a:rPr>
              <a:t>خرائط ذهنية تساعد على تثبيت المعلومات</a:t>
            </a:r>
            <a:br>
              <a:rPr lang="ar-SA" sz="1200" dirty="0">
                <a:solidFill>
                  <a:schemeClr val="bg2">
                    <a:lumMod val="90000"/>
                  </a:schemeClr>
                </a:solidFill>
              </a:rPr>
            </a:br>
            <a:r>
              <a:rPr lang="ar-SA" sz="1200" dirty="0">
                <a:solidFill>
                  <a:schemeClr val="bg2">
                    <a:lumMod val="90000"/>
                  </a:schemeClr>
                </a:solidFill>
              </a:rPr>
              <a:t>• أفكار وأساليب تسهّل الاستيعاب </a:t>
            </a:r>
            <a:r>
              <a:rPr lang="ar-SA" sz="1200" dirty="0" smtClean="0">
                <a:solidFill>
                  <a:schemeClr val="bg2">
                    <a:lumMod val="90000"/>
                  </a:schemeClr>
                </a:solidFill>
              </a:rPr>
              <a:t>والفهم   </a:t>
            </a:r>
          </a:p>
          <a:p>
            <a:pPr algn="r" rtl="1"/>
            <a:r>
              <a:rPr lang="ar-SA" sz="1200" dirty="0" smtClean="0">
                <a:solidFill>
                  <a:schemeClr val="bg2">
                    <a:lumMod val="90000"/>
                  </a:schemeClr>
                </a:solidFill>
              </a:rPr>
              <a:t>• </a:t>
            </a:r>
            <a:r>
              <a:rPr lang="ar-SA" sz="1200" dirty="0">
                <a:solidFill>
                  <a:schemeClr val="bg2">
                    <a:lumMod val="90000"/>
                  </a:schemeClr>
                </a:solidFill>
              </a:rPr>
              <a:t>وبعد كل جزء يوجد عدد بسيط من الأسئلة (لا يزيد عن 3 أسئلة</a:t>
            </a:r>
            <a:r>
              <a:rPr lang="ar-SA" sz="1200" dirty="0" smtClean="0">
                <a:solidFill>
                  <a:schemeClr val="bg2">
                    <a:lumMod val="90000"/>
                  </a:schemeClr>
                </a:solidFill>
              </a:rPr>
              <a:t>)</a:t>
            </a:r>
          </a:p>
          <a:p>
            <a:pPr algn="r" rtl="1"/>
            <a:r>
              <a:rPr lang="ar-SA" sz="1200" dirty="0" smtClean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ar-SA" sz="1200" dirty="0">
                <a:solidFill>
                  <a:schemeClr val="bg2">
                    <a:lumMod val="90000"/>
                  </a:schemeClr>
                </a:solidFill>
              </a:rPr>
              <a:t>للتأكد من فهمك للنقطة بشكل كامل</a:t>
            </a:r>
            <a:endParaRPr lang="en-US" sz="11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58868" y="2750676"/>
            <a:ext cx="3931920" cy="739919"/>
          </a:xfrm>
          <a:prstGeom prst="rect">
            <a:avLst/>
          </a:prstGeom>
          <a:solidFill>
            <a:srgbClr val="0A2040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2806401"/>
            <a:ext cx="347472" cy="347472"/>
          </a:xfrm>
          <a:prstGeom prst="ellipse">
            <a:avLst/>
          </a:prstGeom>
          <a:solidFill>
            <a:srgbClr val="F47E20"/>
          </a:solidFill>
          <a:ln w="12700">
            <a:solidFill>
              <a:srgbClr val="F47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49652" y="278082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3127248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25696" y="2733501"/>
            <a:ext cx="3730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200" dirty="0" err="1" smtClean="0">
                <a:solidFill>
                  <a:srgbClr val="D0E8E8"/>
                </a:solidFill>
                <a:latin typeface="Arial" pitchFamily="34" charset="0"/>
                <a:cs typeface="Arial" pitchFamily="34" charset="-120"/>
              </a:rPr>
              <a:t>يفيدك</a:t>
            </a:r>
            <a:r>
              <a:rPr lang="ar-SA" sz="1200" dirty="0" smtClean="0">
                <a:solidFill>
                  <a:srgbClr val="D0E8E8"/>
                </a:solidFill>
                <a:latin typeface="Arial" pitchFamily="34" charset="0"/>
                <a:cs typeface="Arial" pitchFamily="34" charset="-120"/>
              </a:rPr>
              <a:t> جدا في التأسيس او لو </a:t>
            </a:r>
            <a:r>
              <a:rPr lang="ar-SA" sz="1200" dirty="0" err="1" smtClean="0">
                <a:solidFill>
                  <a:srgbClr val="D0E8E8"/>
                </a:solidFill>
                <a:latin typeface="Arial" pitchFamily="34" charset="0"/>
                <a:cs typeface="Arial" pitchFamily="34" charset="-120"/>
              </a:rPr>
              <a:t>أختبارك</a:t>
            </a:r>
            <a:r>
              <a:rPr lang="ar-SA" sz="1200" dirty="0" smtClean="0">
                <a:solidFill>
                  <a:srgbClr val="D0E8E8"/>
                </a:solidFill>
                <a:latin typeface="Arial" pitchFamily="34" charset="0"/>
                <a:cs typeface="Arial" pitchFamily="34" charset="-120"/>
              </a:rPr>
              <a:t> قريب أو عاوز تراجع </a:t>
            </a:r>
          </a:p>
          <a:p>
            <a:pPr marL="0" indent="0" algn="r" rtl="1">
              <a:buNone/>
            </a:pPr>
            <a:r>
              <a:rPr lang="ar-SA" sz="1200" dirty="0" smtClean="0">
                <a:solidFill>
                  <a:srgbClr val="D0E8E8"/>
                </a:solidFill>
                <a:latin typeface="Arial" pitchFamily="34" charset="0"/>
                <a:cs typeface="Arial" pitchFamily="34" charset="-120"/>
              </a:rPr>
              <a:t>لأن الملف بسيط و مختصر و شامل مش </a:t>
            </a:r>
            <a:r>
              <a:rPr lang="ar-SA" sz="1200" dirty="0" err="1" smtClean="0">
                <a:solidFill>
                  <a:srgbClr val="D0E8E8"/>
                </a:solidFill>
                <a:latin typeface="Arial" pitchFamily="34" charset="0"/>
                <a:cs typeface="Arial" pitchFamily="34" charset="-120"/>
              </a:rPr>
              <a:t>هياخد</a:t>
            </a:r>
            <a:r>
              <a:rPr lang="ar-SA" sz="1200" dirty="0" smtClean="0">
                <a:solidFill>
                  <a:srgbClr val="D0E8E8"/>
                </a:solidFill>
                <a:latin typeface="Arial" pitchFamily="34" charset="0"/>
                <a:cs typeface="Arial" pitchFamily="34" charset="-120"/>
              </a:rPr>
              <a:t> معاك وقت كتير 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507992"/>
            <a:ext cx="8092440" cy="384048"/>
          </a:xfrm>
          <a:prstGeom prst="rect">
            <a:avLst/>
          </a:prstGeom>
          <a:solidFill>
            <a:srgbClr val="007070"/>
          </a:solidFill>
          <a:ln w="12700">
            <a:solidFill>
              <a:srgbClr val="0070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507992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0850" y="4513326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b="1" dirty="0">
                <a:solidFill>
                  <a:srgbClr val="F0F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جهد حقيقي قُدِّم بصدق </a:t>
            </a:r>
            <a:r>
              <a:rPr lang="en-US" b="1" dirty="0" err="1">
                <a:solidFill>
                  <a:srgbClr val="F0F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لأجلك</a:t>
            </a:r>
            <a:r>
              <a:rPr lang="en-US" b="1" dirty="0">
                <a:solidFill>
                  <a:srgbClr val="F0F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smtClean="0">
                <a:solidFill>
                  <a:srgbClr val="F0F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ar-SA" b="1" dirty="0" smtClean="0">
                <a:solidFill>
                  <a:srgbClr val="F0F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smtClean="0">
                <a:solidFill>
                  <a:srgbClr val="F0F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>
                <a:solidFill>
                  <a:srgbClr val="F0F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ادعُ </a:t>
            </a:r>
            <a:r>
              <a:rPr lang="en-US" b="1" dirty="0" err="1">
                <a:solidFill>
                  <a:srgbClr val="F0F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</a:t>
            </a:r>
            <a:r>
              <a:rPr lang="en-US" b="1" dirty="0">
                <a:solidFill>
                  <a:srgbClr val="F0F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 smtClean="0">
                <a:solidFill>
                  <a:srgbClr val="F0F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ولوالديّ</a:t>
            </a:r>
            <a:endParaRPr lang="en-US" dirty="0"/>
          </a:p>
        </p:txBody>
      </p:sp>
      <p:sp>
        <p:nvSpPr>
          <p:cNvPr id="34" name="Shape 22"/>
          <p:cNvSpPr/>
          <p:nvPr/>
        </p:nvSpPr>
        <p:spPr>
          <a:xfrm>
            <a:off x="4663440" y="3654077"/>
            <a:ext cx="3931920" cy="739919"/>
          </a:xfrm>
          <a:prstGeom prst="rect">
            <a:avLst/>
          </a:prstGeom>
          <a:solidFill>
            <a:srgbClr val="0A2040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36" name="Shape 23"/>
          <p:cNvSpPr/>
          <p:nvPr/>
        </p:nvSpPr>
        <p:spPr>
          <a:xfrm>
            <a:off x="8191788" y="3697391"/>
            <a:ext cx="347472" cy="347472"/>
          </a:xfrm>
          <a:prstGeom prst="ellipse">
            <a:avLst/>
          </a:prstGeom>
          <a:solidFill>
            <a:srgbClr val="F47E20"/>
          </a:solidFill>
          <a:ln w="12700">
            <a:solidFill>
              <a:srgbClr val="F47E20"/>
            </a:solidFill>
            <a:prstDash val="solid"/>
          </a:ln>
        </p:spPr>
      </p:sp>
      <p:sp>
        <p:nvSpPr>
          <p:cNvPr id="37" name="Text 24"/>
          <p:cNvSpPr/>
          <p:nvPr/>
        </p:nvSpPr>
        <p:spPr>
          <a:xfrm>
            <a:off x="8184992" y="3671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pic>
        <p:nvPicPr>
          <p:cNvPr id="39" name="صورة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402" y="259556"/>
            <a:ext cx="1900047" cy="1480425"/>
          </a:xfrm>
          <a:prstGeom prst="rect">
            <a:avLst/>
          </a:prstGeom>
        </p:spPr>
      </p:pic>
      <p:sp>
        <p:nvSpPr>
          <p:cNvPr id="40" name="مستطيل 39"/>
          <p:cNvSpPr/>
          <p:nvPr/>
        </p:nvSpPr>
        <p:spPr>
          <a:xfrm>
            <a:off x="7756117" y="1379068"/>
            <a:ext cx="1662203" cy="74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b="1" dirty="0" smtClean="0">
                <a:solidFill>
                  <a:schemeClr val="bg1">
                    <a:lumMod val="65000"/>
                  </a:schemeClr>
                </a:solidFill>
              </a:rPr>
              <a:t>هيثم عصام</a:t>
            </a:r>
          </a:p>
          <a:p>
            <a:pPr algn="ctr"/>
            <a:r>
              <a:rPr lang="ar-SA" sz="900" b="1" dirty="0" smtClean="0">
                <a:solidFill>
                  <a:schemeClr val="bg1">
                    <a:lumMod val="65000"/>
                  </a:schemeClr>
                </a:solidFill>
              </a:rPr>
              <a:t>0547856086</a:t>
            </a:r>
            <a:endParaRPr lang="ar-SA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Shape 22"/>
          <p:cNvSpPr/>
          <p:nvPr/>
        </p:nvSpPr>
        <p:spPr>
          <a:xfrm>
            <a:off x="542110" y="3992786"/>
            <a:ext cx="3931920" cy="428329"/>
          </a:xfrm>
          <a:prstGeom prst="rect">
            <a:avLst/>
          </a:prstGeom>
          <a:solidFill>
            <a:srgbClr val="0A2040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42" name="Text 26"/>
          <p:cNvSpPr/>
          <p:nvPr/>
        </p:nvSpPr>
        <p:spPr>
          <a:xfrm>
            <a:off x="4969084" y="3636708"/>
            <a:ext cx="321930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200" dirty="0" smtClean="0">
                <a:solidFill>
                  <a:srgbClr val="D0E8E8"/>
                </a:solidFill>
                <a:latin typeface="Arial" pitchFamily="34" charset="0"/>
                <a:cs typeface="Arial" pitchFamily="34" charset="-120"/>
              </a:rPr>
              <a:t>بمجرد مذاكرتك للملف </a:t>
            </a:r>
            <a:r>
              <a:rPr lang="ar-SA" sz="1200" dirty="0" err="1" smtClean="0">
                <a:solidFill>
                  <a:srgbClr val="D0E8E8"/>
                </a:solidFill>
                <a:latin typeface="Arial" pitchFamily="34" charset="0"/>
                <a:cs typeface="Arial" pitchFamily="34" charset="-120"/>
              </a:rPr>
              <a:t>اضمنلك</a:t>
            </a:r>
            <a:r>
              <a:rPr lang="ar-SA" sz="1200" dirty="0" smtClean="0">
                <a:solidFill>
                  <a:srgbClr val="D0E8E8"/>
                </a:solidFill>
                <a:latin typeface="Arial" pitchFamily="34" charset="0"/>
                <a:cs typeface="Arial" pitchFamily="34" charset="-120"/>
              </a:rPr>
              <a:t> ان مستواك وشغلك تقريبا ممكن يعدي الــ 75% بإذن الله وتقدر تتدرب بعده او تختبر بثقه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215873" y="1882243"/>
            <a:ext cx="361416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200" dirty="0" err="1" smtClean="0">
                <a:solidFill>
                  <a:srgbClr val="D0E8E8"/>
                </a:solidFill>
                <a:latin typeface="Arial" pitchFamily="34" charset="0"/>
                <a:cs typeface="Arial" pitchFamily="34" charset="-120"/>
              </a:rPr>
              <a:t>الحمدلله</a:t>
            </a:r>
            <a:r>
              <a:rPr lang="ar-SA" sz="1200" dirty="0" smtClean="0">
                <a:solidFill>
                  <a:srgbClr val="D0E8E8"/>
                </a:solidFill>
                <a:latin typeface="Arial" pitchFamily="34" charset="0"/>
                <a:cs typeface="Arial" pitchFamily="34" charset="-120"/>
              </a:rPr>
              <a:t> درجتي 100% من أول محاولة ثق في هذا المجهود</a:t>
            </a:r>
          </a:p>
          <a:p>
            <a:pPr marL="0" indent="0" algn="r" rtl="1">
              <a:buNone/>
            </a:pPr>
            <a:r>
              <a:rPr lang="ar-SA" sz="1200" dirty="0" smtClean="0">
                <a:solidFill>
                  <a:srgbClr val="D0E8E8"/>
                </a:solidFill>
                <a:latin typeface="Arial" pitchFamily="34" charset="0"/>
                <a:cs typeface="Arial" pitchFamily="34" charset="-120"/>
              </a:rPr>
              <a:t> وتوكل على الله</a:t>
            </a:r>
            <a:endParaRPr lang="en-US" sz="1200" dirty="0"/>
          </a:p>
        </p:txBody>
      </p:sp>
      <p:sp>
        <p:nvSpPr>
          <p:cNvPr id="43" name="Shape 18"/>
          <p:cNvSpPr/>
          <p:nvPr/>
        </p:nvSpPr>
        <p:spPr>
          <a:xfrm>
            <a:off x="4188428" y="3944429"/>
            <a:ext cx="347472" cy="347472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47E20"/>
            </a:solidFill>
            <a:prstDash val="solid"/>
          </a:ln>
        </p:spPr>
      </p:sp>
      <p:sp>
        <p:nvSpPr>
          <p:cNvPr id="44" name="Text 19"/>
          <p:cNvSpPr/>
          <p:nvPr/>
        </p:nvSpPr>
        <p:spPr>
          <a:xfrm>
            <a:off x="4113850" y="3935903"/>
            <a:ext cx="49942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SA" sz="1300" b="1" dirty="0" smtClean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هدية</a:t>
            </a:r>
            <a:endParaRPr lang="en-US" sz="1300" dirty="0"/>
          </a:p>
        </p:txBody>
      </p:sp>
      <p:sp>
        <p:nvSpPr>
          <p:cNvPr id="45" name="Text 26"/>
          <p:cNvSpPr/>
          <p:nvPr/>
        </p:nvSpPr>
        <p:spPr>
          <a:xfrm>
            <a:off x="555502" y="3852831"/>
            <a:ext cx="361416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ar-SA" sz="1600" b="1" dirty="0" smtClean="0">
                <a:solidFill>
                  <a:srgbClr val="FFC000"/>
                </a:solidFill>
                <a:latin typeface="Arial" pitchFamily="34" charset="0"/>
                <a:cs typeface="Arial" pitchFamily="34" charset="-120"/>
              </a:rPr>
              <a:t>من يمتلك الملف له خصم 40% للشرح في الحصة</a:t>
            </a:r>
            <a:endParaRPr lang="en-US" sz="16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46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4642" y="376420"/>
            <a:ext cx="77724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500" b="1" i="0" dirty="0">
                <a:solidFill>
                  <a:srgbClr val="FFC107"/>
                </a:solidFill>
                <a:latin typeface="Arial"/>
              </a:rPr>
              <a:t>⭐  </a:t>
            </a:r>
            <a:r>
              <a:rPr sz="2500" b="1" i="0" dirty="0" err="1">
                <a:solidFill>
                  <a:srgbClr val="FFC107"/>
                </a:solidFill>
                <a:latin typeface="Arial"/>
              </a:rPr>
              <a:t>نصائح</a:t>
            </a:r>
            <a:r>
              <a:rPr sz="2500" b="1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2500" b="1" i="0" dirty="0" smtClean="0">
                <a:solidFill>
                  <a:srgbClr val="FFC107"/>
                </a:solidFill>
                <a:latin typeface="Arial"/>
              </a:rPr>
              <a:t>من تجربتي </a:t>
            </a:r>
            <a:r>
              <a:rPr sz="2500" b="1" i="0" dirty="0" err="1" smtClean="0">
                <a:solidFill>
                  <a:srgbClr val="FFC107"/>
                </a:solidFill>
                <a:latin typeface="Arial"/>
              </a:rPr>
              <a:t>القدرات</a:t>
            </a:r>
            <a:r>
              <a:rPr sz="2500" b="1" i="0" dirty="0" smtClean="0">
                <a:solidFill>
                  <a:srgbClr val="FFC107"/>
                </a:solidFill>
                <a:latin typeface="Arial"/>
              </a:rPr>
              <a:t>  </a:t>
            </a:r>
            <a:r>
              <a:rPr sz="2500" b="1" i="0" dirty="0">
                <a:solidFill>
                  <a:srgbClr val="FFC107"/>
                </a:solidFill>
                <a:latin typeface="Arial"/>
              </a:rP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smtClean="0">
                <a:solidFill>
                  <a:srgbClr val="FFFFFF"/>
                </a:solidFill>
                <a:latin typeface="Arial"/>
              </a:rPr>
              <a:t>①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اصلح علاقتك بــ ربك ولح في الدعاء</a:t>
            </a:r>
            <a:endParaRPr sz="15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smtClean="0">
                <a:solidFill>
                  <a:srgbClr val="FFFFFF"/>
                </a:solidFill>
                <a:latin typeface="Arial"/>
              </a:rPr>
              <a:t>②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ثقتك بالله وايمانك بنفسك مش </a:t>
            </a:r>
            <a:r>
              <a:rPr lang="ar-SA" sz="1500" b="0" i="0" dirty="0" err="1" smtClean="0">
                <a:solidFill>
                  <a:srgbClr val="FFFFFF"/>
                </a:solidFill>
                <a:latin typeface="Arial"/>
              </a:rPr>
              <a:t>هتحقق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حاجه الا وانت </a:t>
            </a:r>
            <a:r>
              <a:rPr lang="ar-SA" sz="1500" b="0" i="0" dirty="0" smtClean="0">
                <a:solidFill>
                  <a:srgbClr val="434343"/>
                </a:solidFill>
                <a:latin typeface="Arial"/>
              </a:rPr>
              <a:t>واثق من 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نفسك</a:t>
            </a:r>
            <a:endParaRPr sz="15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smtClean="0">
                <a:solidFill>
                  <a:srgbClr val="FFFFFF"/>
                </a:solidFill>
                <a:latin typeface="Arial"/>
              </a:rPr>
              <a:t>③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بطل تكون سلبي وتسمع حاجات سلبيه تحبطك اقفل </a:t>
            </a:r>
            <a:r>
              <a:rPr lang="ar-SA" sz="1500" b="0" i="0" dirty="0" smtClean="0">
                <a:solidFill>
                  <a:srgbClr val="434343"/>
                </a:solidFill>
                <a:latin typeface="Arial"/>
              </a:rPr>
              <a:t>ودنك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وخليك ايجابي</a:t>
            </a:r>
            <a:endParaRPr sz="15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smtClean="0">
                <a:solidFill>
                  <a:srgbClr val="FFFFFF"/>
                </a:solidFill>
                <a:latin typeface="Arial"/>
              </a:rPr>
              <a:t>④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فكر في مستقبلك </a:t>
            </a:r>
            <a:r>
              <a:rPr lang="ar-SA" sz="1500" dirty="0">
                <a:solidFill>
                  <a:srgbClr val="FFFFFF"/>
                </a:solidFill>
                <a:latin typeface="Arial"/>
              </a:rPr>
              <a:t>ف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كر في اهلك يستحقوا يفرحوا ويكونوا فخورين بيك</a:t>
            </a:r>
            <a:endParaRPr sz="15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smtClean="0">
                <a:solidFill>
                  <a:srgbClr val="FFFFFF"/>
                </a:solidFill>
                <a:latin typeface="Arial"/>
              </a:rPr>
              <a:t>⑤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مهما كانت نفسيتك </a:t>
            </a:r>
            <a:r>
              <a:rPr lang="ar-SA" sz="1500" b="0" i="0" dirty="0" err="1" smtClean="0">
                <a:solidFill>
                  <a:srgbClr val="FFFFFF"/>
                </a:solidFill>
                <a:latin typeface="Arial"/>
              </a:rPr>
              <a:t>مضيعش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اليوم الا وأنت عامل حاجه </a:t>
            </a:r>
            <a:r>
              <a:rPr lang="ar-SA" sz="1500" b="0" i="0" dirty="0" err="1" smtClean="0">
                <a:solidFill>
                  <a:srgbClr val="FFFFFF"/>
                </a:solidFill>
                <a:latin typeface="Arial"/>
              </a:rPr>
              <a:t>وواخد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ولو خطوه</a:t>
            </a:r>
            <a:endParaRPr sz="15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3364798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smtClean="0">
                <a:solidFill>
                  <a:srgbClr val="FFFFFF"/>
                </a:solidFill>
                <a:latin typeface="Arial"/>
              </a:rPr>
              <a:t>⑥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حط </a:t>
            </a:r>
            <a:r>
              <a:rPr lang="ar-SA" sz="1500" b="0" i="0" dirty="0" err="1" smtClean="0">
                <a:solidFill>
                  <a:srgbClr val="FFFFFF"/>
                </a:solidFill>
                <a:latin typeface="Arial"/>
              </a:rPr>
              <a:t>تايمر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وانت </a:t>
            </a:r>
            <a:r>
              <a:rPr lang="ar-SA" sz="1500" b="0" i="0" dirty="0" err="1" smtClean="0">
                <a:solidFill>
                  <a:srgbClr val="FFFFFF"/>
                </a:solidFill>
                <a:latin typeface="Arial"/>
              </a:rPr>
              <a:t>بتحل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500" b="0" i="0" dirty="0" err="1" smtClean="0">
                <a:solidFill>
                  <a:srgbClr val="FFFFFF"/>
                </a:solidFill>
                <a:latin typeface="Arial"/>
              </a:rPr>
              <a:t>علشان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تتعود على </a:t>
            </a:r>
            <a:r>
              <a:rPr lang="ar-SA" sz="1500" b="0" i="0" dirty="0" err="1" smtClean="0">
                <a:solidFill>
                  <a:srgbClr val="FFFFFF"/>
                </a:solidFill>
                <a:latin typeface="Arial"/>
              </a:rPr>
              <a:t>الضغظ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لأن كل سؤال في دقيقه</a:t>
            </a:r>
          </a:p>
          <a:p>
            <a:pPr algn="r" rtl="1"/>
            <a:endParaRPr sz="15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0572" y="3748529"/>
            <a:ext cx="82296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smtClean="0">
                <a:solidFill>
                  <a:srgbClr val="FFFFFF"/>
                </a:solidFill>
                <a:latin typeface="Arial"/>
              </a:rPr>
              <a:t>⑦</a:t>
            </a:r>
            <a:r>
              <a:rPr lang="ar-SA" sz="1500" dirty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ابعد عن المشتتات وخلي كل الرفاهيات بعد المذاكرة انت </a:t>
            </a:r>
            <a:r>
              <a:rPr lang="ar-SA" sz="1500" b="0" i="0" dirty="0" err="1" smtClean="0">
                <a:solidFill>
                  <a:srgbClr val="FFFFFF"/>
                </a:solidFill>
                <a:latin typeface="Arial"/>
              </a:rPr>
              <a:t>دلوقتي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محدود</a:t>
            </a:r>
          </a:p>
          <a:p>
            <a:pPr algn="r" rtl="1"/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بـ وقت الرفاهية مش </a:t>
            </a:r>
            <a:r>
              <a:rPr lang="ar-SA" sz="1500" b="0" i="0" dirty="0" err="1" smtClean="0">
                <a:solidFill>
                  <a:srgbClr val="FFFFFF"/>
                </a:solidFill>
                <a:latin typeface="Arial"/>
              </a:rPr>
              <a:t>هتخلص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وموجوده ف أي وقت راجع وكرر كتير ضروري</a:t>
            </a:r>
            <a:endParaRPr sz="15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4572000"/>
            <a:ext cx="7315200" cy="47548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590288"/>
            <a:ext cx="7132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1" i="0" dirty="0" err="1">
                <a:solidFill>
                  <a:srgbClr val="FFFFFF"/>
                </a:solidFill>
                <a:latin typeface="Arial"/>
              </a:rPr>
              <a:t>بالتوفيق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i="0" dirty="0" err="1" smtClean="0">
                <a:solidFill>
                  <a:srgbClr val="FFFFFF"/>
                </a:solidFill>
                <a:latin typeface="Arial"/>
              </a:rPr>
              <a:t>أنت</a:t>
            </a:r>
            <a:r>
              <a:rPr sz="18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Arial"/>
              </a:rPr>
              <a:t>قادر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ar-SA" b="1" dirty="0" smtClean="0">
                <a:solidFill>
                  <a:srgbClr val="FFFFFF"/>
                </a:solidFill>
                <a:latin typeface="Arial"/>
              </a:rPr>
              <a:t>🎯</a:t>
            </a:r>
            <a:endParaRPr sz="18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Box 4"/>
          <p:cNvSpPr txBox="1"/>
          <p:nvPr/>
        </p:nvSpPr>
        <p:spPr>
          <a:xfrm>
            <a:off x="-4348283" y="993921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smtClean="0">
                <a:solidFill>
                  <a:srgbClr val="FFFFFF"/>
                </a:solidFill>
                <a:latin typeface="Arial"/>
              </a:rPr>
              <a:t>①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أسمع الشرح كويس واركز فيه</a:t>
            </a:r>
            <a:endParaRPr sz="15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5"/>
          <p:cNvSpPr txBox="1"/>
          <p:nvPr/>
        </p:nvSpPr>
        <p:spPr>
          <a:xfrm>
            <a:off x="-4348283" y="1492264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smtClean="0">
                <a:solidFill>
                  <a:srgbClr val="FFFFFF"/>
                </a:solidFill>
                <a:latin typeface="Arial"/>
              </a:rPr>
              <a:t>②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أحل واراجع بعد الشرح</a:t>
            </a:r>
            <a:endParaRPr sz="15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Box 6"/>
          <p:cNvSpPr txBox="1"/>
          <p:nvPr/>
        </p:nvSpPr>
        <p:spPr>
          <a:xfrm>
            <a:off x="-4348283" y="1989798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smtClean="0">
                <a:solidFill>
                  <a:srgbClr val="FFFFFF"/>
                </a:solidFill>
                <a:latin typeface="Arial"/>
              </a:rPr>
              <a:t>③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لو عندي حاجات مش فاهمه بعيد الشرح مره </a:t>
            </a:r>
            <a:r>
              <a:rPr lang="ar-SA" sz="1500" b="0" i="0" dirty="0" err="1" smtClean="0">
                <a:solidFill>
                  <a:srgbClr val="FFFFFF"/>
                </a:solidFill>
                <a:latin typeface="Arial"/>
              </a:rPr>
              <a:t>تاني</a:t>
            </a:r>
            <a:endParaRPr sz="15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Box 7"/>
          <p:cNvSpPr txBox="1"/>
          <p:nvPr/>
        </p:nvSpPr>
        <p:spPr>
          <a:xfrm>
            <a:off x="-4348283" y="2498076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smtClean="0">
                <a:solidFill>
                  <a:srgbClr val="FFFFFF"/>
                </a:solidFill>
                <a:latin typeface="Arial"/>
              </a:rPr>
              <a:t>④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في أسئلة بحددها واضيفها في دفتر الأخطاء</a:t>
            </a:r>
            <a:endParaRPr sz="15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Box 8"/>
          <p:cNvSpPr txBox="1"/>
          <p:nvPr/>
        </p:nvSpPr>
        <p:spPr>
          <a:xfrm>
            <a:off x="-4348283" y="3000996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smtClean="0">
                <a:solidFill>
                  <a:srgbClr val="FFFFFF"/>
                </a:solidFill>
                <a:latin typeface="Arial"/>
              </a:rPr>
              <a:t>⑤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براجع دايما دفتر الأخطاء </a:t>
            </a:r>
            <a:endParaRPr sz="15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Box 9"/>
          <p:cNvSpPr txBox="1"/>
          <p:nvPr/>
        </p:nvSpPr>
        <p:spPr>
          <a:xfrm>
            <a:off x="-4348283" y="3489807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smtClean="0">
                <a:solidFill>
                  <a:srgbClr val="FFFFFF"/>
                </a:solidFill>
                <a:latin typeface="Arial"/>
              </a:rPr>
              <a:t>⑥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بركز على نقاط ضعفي</a:t>
            </a:r>
            <a:endParaRPr sz="15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Box 10"/>
          <p:cNvSpPr txBox="1"/>
          <p:nvPr/>
        </p:nvSpPr>
        <p:spPr>
          <a:xfrm>
            <a:off x="-4381653" y="3973466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smtClean="0">
                <a:solidFill>
                  <a:srgbClr val="FFFFFF"/>
                </a:solidFill>
                <a:latin typeface="Arial"/>
              </a:rPr>
              <a:t>⑦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بحل </a:t>
            </a:r>
            <a:r>
              <a:rPr lang="ar-SA" sz="1500" b="0" i="0" dirty="0" err="1" smtClean="0">
                <a:solidFill>
                  <a:srgbClr val="FFFFFF"/>
                </a:solidFill>
                <a:latin typeface="Arial"/>
              </a:rPr>
              <a:t>وبكرر</a:t>
            </a:r>
            <a:r>
              <a:rPr lang="ar-SA" sz="1500" b="0" i="0" dirty="0" smtClean="0">
                <a:solidFill>
                  <a:srgbClr val="FFFFFF"/>
                </a:solidFill>
                <a:latin typeface="Arial"/>
              </a:rPr>
              <a:t> كتير لحد ما قللت اخطائي جدا</a:t>
            </a:r>
            <a:endParaRPr sz="15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Box 3"/>
          <p:cNvSpPr txBox="1"/>
          <p:nvPr/>
        </p:nvSpPr>
        <p:spPr>
          <a:xfrm>
            <a:off x="-1594290" y="371848"/>
            <a:ext cx="77724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500" b="1" i="0" dirty="0">
                <a:solidFill>
                  <a:srgbClr val="FFC107"/>
                </a:solidFill>
                <a:latin typeface="Arial"/>
              </a:rPr>
              <a:t>⭐  </a:t>
            </a:r>
            <a:r>
              <a:rPr lang="ar-SA" sz="2500" b="1" i="0" dirty="0" smtClean="0">
                <a:solidFill>
                  <a:srgbClr val="FFC107"/>
                </a:solidFill>
                <a:latin typeface="Arial"/>
              </a:rPr>
              <a:t>طريقة مذاكرتي </a:t>
            </a:r>
            <a:r>
              <a:rPr lang="ar-SA" sz="2500" b="1" dirty="0">
                <a:solidFill>
                  <a:srgbClr val="FFC107"/>
                </a:solidFill>
                <a:latin typeface="Arial"/>
              </a:rPr>
              <a:t>ل</a:t>
            </a:r>
            <a:r>
              <a:rPr sz="2500" b="1" i="0" dirty="0" err="1" smtClean="0">
                <a:solidFill>
                  <a:srgbClr val="FFC107"/>
                </a:solidFill>
                <a:latin typeface="Arial"/>
              </a:rPr>
              <a:t>لقدرات</a:t>
            </a:r>
            <a:r>
              <a:rPr sz="2500" b="1" i="0" dirty="0" smtClean="0">
                <a:solidFill>
                  <a:srgbClr val="FFC107"/>
                </a:solidFill>
                <a:latin typeface="Arial"/>
              </a:rPr>
              <a:t>  </a:t>
            </a:r>
            <a:r>
              <a:rPr sz="2500" b="1" i="0" dirty="0">
                <a:solidFill>
                  <a:srgbClr val="FFC107"/>
                </a:solidFill>
                <a:latin typeface="Arial"/>
              </a:rPr>
              <a:t>⭐</a:t>
            </a:r>
          </a:p>
        </p:txBody>
      </p:sp>
    </p:spTree>
    <p:extLst>
      <p:ext uri="{BB962C8B-B14F-4D97-AF65-F5344CB8AC3E}">
        <p14:creationId xmlns:p14="http://schemas.microsoft.com/office/powerpoint/2010/main" val="86104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مستطيل 19"/>
          <p:cNvSpPr/>
          <p:nvPr/>
        </p:nvSpPr>
        <p:spPr>
          <a:xfrm>
            <a:off x="-71846" y="0"/>
            <a:ext cx="9418320" cy="5218611"/>
          </a:xfrm>
          <a:prstGeom prst="rect">
            <a:avLst/>
          </a:prstGeom>
          <a:solidFill>
            <a:srgbClr val="091C3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2" name="Shape 0"/>
          <p:cNvSpPr/>
          <p:nvPr/>
        </p:nvSpPr>
        <p:spPr>
          <a:xfrm>
            <a:off x="109728" y="91440"/>
            <a:ext cx="128016" cy="12801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11" name="Shape 41"/>
          <p:cNvSpPr/>
          <p:nvPr/>
        </p:nvSpPr>
        <p:spPr>
          <a:xfrm>
            <a:off x="4581144" y="3302980"/>
            <a:ext cx="3511296" cy="795528"/>
          </a:xfrm>
          <a:prstGeom prst="rect">
            <a:avLst/>
          </a:prstGeom>
          <a:solidFill>
            <a:srgbClr val="3B0E56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201168"/>
            <a:ext cx="91440" cy="9144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09728"/>
            <a:ext cx="128016" cy="12801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5" name="Shape 3"/>
          <p:cNvSpPr/>
          <p:nvPr/>
        </p:nvSpPr>
        <p:spPr>
          <a:xfrm>
            <a:off x="8942832" y="219456"/>
            <a:ext cx="91440" cy="91440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64008"/>
            <a:ext cx="4572000" cy="548640"/>
          </a:xfrm>
          <a:prstGeom prst="roundRect">
            <a:avLst>
              <a:gd name="adj" fmla="val 23333"/>
            </a:avLst>
          </a:prstGeom>
          <a:solidFill>
            <a:srgbClr val="F5C51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640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5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r>
              <a:rPr lang="ar-SA" sz="15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5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5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</a:t>
            </a:r>
            <a:r>
              <a:rPr lang="en-US" sz="1550" b="1" dirty="0" err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مذاكرة</a:t>
            </a:r>
            <a:r>
              <a:rPr lang="en-US" sz="15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r>
              <a:rPr lang="ar-SA" sz="15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الدكتور في القدرات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6309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dirty="0" smtClean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</a:t>
            </a:r>
            <a:r>
              <a:rPr lang="ar-SA" sz="1100" dirty="0" smtClean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الكمي كامل -</a:t>
            </a:r>
            <a:r>
              <a:rPr lang="en-US" sz="1100" dirty="0" smtClean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٣١</a:t>
            </a:r>
            <a:r>
              <a:rPr lang="en-US" sz="11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smtClean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موضوع</a:t>
            </a:r>
            <a:r>
              <a:rPr lang="en-US" sz="11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smtClean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r>
              <a:rPr lang="en-US" sz="11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 </a:t>
            </a:r>
            <a:r>
              <a:rPr lang="en-US" sz="1100" dirty="0" err="1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أبواب</a:t>
            </a:r>
            <a:r>
              <a:rPr lang="en-US" sz="11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smtClean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ar-SA" sz="1100" dirty="0" smtClean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smtClean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مُنجز </a:t>
            </a:r>
            <a:r>
              <a:rPr lang="en-US" sz="1100" dirty="0" err="1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</a:t>
            </a:r>
            <a:r>
              <a:rPr lang="en-US" sz="11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1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100" dirty="0" smtClean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solidFill>
                  <a:srgbClr val="A0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أيام فقط 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92440" y="914400"/>
            <a:ext cx="804672" cy="795528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10" name="Shape 8"/>
          <p:cNvSpPr/>
          <p:nvPr/>
        </p:nvSpPr>
        <p:spPr>
          <a:xfrm>
            <a:off x="8586216" y="1024128"/>
            <a:ext cx="219456" cy="21945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8586216" y="10241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١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10728" y="914400"/>
            <a:ext cx="457200" cy="795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81144" y="914400"/>
            <a:ext cx="3511296" cy="795528"/>
          </a:xfrm>
          <a:prstGeom prst="rect">
            <a:avLst/>
          </a:prstGeom>
          <a:solidFill>
            <a:srgbClr val="0D3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92440" y="1709928"/>
            <a:ext cx="804672" cy="79552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6" name="Shape 14"/>
          <p:cNvSpPr/>
          <p:nvPr/>
        </p:nvSpPr>
        <p:spPr>
          <a:xfrm>
            <a:off x="8586216" y="1819656"/>
            <a:ext cx="219456" cy="21945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7" name="Text 15"/>
          <p:cNvSpPr/>
          <p:nvPr/>
        </p:nvSpPr>
        <p:spPr>
          <a:xfrm>
            <a:off x="8586216" y="18196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٢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10728" y="1709928"/>
            <a:ext cx="457200" cy="795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81144" y="1709928"/>
            <a:ext cx="3511296" cy="795528"/>
          </a:xfrm>
          <a:prstGeom prst="rect">
            <a:avLst/>
          </a:prstGeom>
          <a:solidFill>
            <a:srgbClr val="0F2A47"/>
          </a:solidFill>
          <a:ln/>
        </p:spPr>
      </p:sp>
      <p:sp>
        <p:nvSpPr>
          <p:cNvPr id="21" name="Shape 19"/>
          <p:cNvSpPr/>
          <p:nvPr/>
        </p:nvSpPr>
        <p:spPr>
          <a:xfrm>
            <a:off x="8092440" y="2505456"/>
            <a:ext cx="804672" cy="79552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Shape 20"/>
          <p:cNvSpPr/>
          <p:nvPr/>
        </p:nvSpPr>
        <p:spPr>
          <a:xfrm>
            <a:off x="8586216" y="2615184"/>
            <a:ext cx="219456" cy="21945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3" name="Text 21"/>
          <p:cNvSpPr/>
          <p:nvPr/>
        </p:nvSpPr>
        <p:spPr>
          <a:xfrm>
            <a:off x="8586216" y="2615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10728" y="2505456"/>
            <a:ext cx="457200" cy="795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81144" y="2505456"/>
            <a:ext cx="3511296" cy="79552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7" name="Shape 25"/>
          <p:cNvSpPr/>
          <p:nvPr/>
        </p:nvSpPr>
        <p:spPr>
          <a:xfrm>
            <a:off x="8092440" y="3300984"/>
            <a:ext cx="804672" cy="795528"/>
          </a:xfrm>
          <a:prstGeom prst="rect">
            <a:avLst/>
          </a:prstGeom>
          <a:solidFill>
            <a:srgbClr val="4A1A6A"/>
          </a:solidFill>
          <a:ln/>
        </p:spPr>
      </p:sp>
      <p:sp>
        <p:nvSpPr>
          <p:cNvPr id="28" name="Shape 26"/>
          <p:cNvSpPr/>
          <p:nvPr/>
        </p:nvSpPr>
        <p:spPr>
          <a:xfrm>
            <a:off x="8586216" y="3410712"/>
            <a:ext cx="219456" cy="21945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29" name="Text 27"/>
          <p:cNvSpPr/>
          <p:nvPr/>
        </p:nvSpPr>
        <p:spPr>
          <a:xfrm>
            <a:off x="8586216" y="3410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٤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3300984"/>
            <a:ext cx="457200" cy="795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685032" y="914400"/>
            <a:ext cx="804672" cy="79552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4" name="Shape 32"/>
          <p:cNvSpPr/>
          <p:nvPr/>
        </p:nvSpPr>
        <p:spPr>
          <a:xfrm>
            <a:off x="4178808" y="1024128"/>
            <a:ext cx="219456" cy="21945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35" name="Text 33"/>
          <p:cNvSpPr/>
          <p:nvPr/>
        </p:nvSpPr>
        <p:spPr>
          <a:xfrm>
            <a:off x="4178808" y="10241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03320" y="914400"/>
            <a:ext cx="457200" cy="795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73736" y="914400"/>
            <a:ext cx="3511296" cy="79552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9" name="Shape 37"/>
          <p:cNvSpPr/>
          <p:nvPr/>
        </p:nvSpPr>
        <p:spPr>
          <a:xfrm>
            <a:off x="3685032" y="1709928"/>
            <a:ext cx="804672" cy="795528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40" name="Shape 38"/>
          <p:cNvSpPr/>
          <p:nvPr/>
        </p:nvSpPr>
        <p:spPr>
          <a:xfrm>
            <a:off x="4178808" y="1819656"/>
            <a:ext cx="219456" cy="219456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41" name="Text 39"/>
          <p:cNvSpPr/>
          <p:nvPr/>
        </p:nvSpPr>
        <p:spPr>
          <a:xfrm>
            <a:off x="4178808" y="18196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٦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03320" y="1709928"/>
            <a:ext cx="457200" cy="795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73736" y="1709928"/>
            <a:ext cx="3511296" cy="795528"/>
          </a:xfrm>
          <a:prstGeom prst="rect">
            <a:avLst/>
          </a:prstGeom>
          <a:solidFill>
            <a:srgbClr val="0D3A1A"/>
          </a:solidFill>
          <a:ln/>
        </p:spPr>
      </p:sp>
      <p:sp>
        <p:nvSpPr>
          <p:cNvPr id="47" name="Text 45"/>
          <p:cNvSpPr/>
          <p:nvPr/>
        </p:nvSpPr>
        <p:spPr>
          <a:xfrm>
            <a:off x="4178808" y="26151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٧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78808" y="34107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٨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73736" y="4160520"/>
            <a:ext cx="2880360" cy="274320"/>
          </a:xfrm>
          <a:prstGeom prst="roundRect">
            <a:avLst>
              <a:gd name="adj" fmla="val 23333"/>
            </a:avLst>
          </a:prstGeom>
          <a:solidFill>
            <a:srgbClr val="4A1A6A"/>
          </a:solidFill>
          <a:ln/>
        </p:spPr>
      </p:sp>
      <p:sp>
        <p:nvSpPr>
          <p:cNvPr id="58" name="Text 56"/>
          <p:cNvSpPr/>
          <p:nvPr/>
        </p:nvSpPr>
        <p:spPr>
          <a:xfrm>
            <a:off x="173736" y="4160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00" b="1" dirty="0">
                <a:solidFill>
                  <a:srgbClr val="CE93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الباب الثالث: الهندسة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145536" y="4160520"/>
            <a:ext cx="2880360" cy="274320"/>
          </a:xfrm>
          <a:prstGeom prst="roundRect">
            <a:avLst>
              <a:gd name="adj" fmla="val 23333"/>
            </a:avLst>
          </a:prstGeom>
          <a:solidFill>
            <a:srgbClr val="1A5C2A"/>
          </a:solidFill>
          <a:ln/>
        </p:spPr>
      </p:sp>
      <p:sp>
        <p:nvSpPr>
          <p:cNvPr id="60" name="Text 58"/>
          <p:cNvSpPr/>
          <p:nvPr/>
        </p:nvSpPr>
        <p:spPr>
          <a:xfrm>
            <a:off x="3145536" y="4160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00" b="1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الباب الثاني: النسب والمتوسطات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17336" y="4160520"/>
            <a:ext cx="2880360" cy="274320"/>
          </a:xfrm>
          <a:prstGeom prst="roundRect">
            <a:avLst>
              <a:gd name="adj" fmla="val 23333"/>
            </a:avLst>
          </a:prstGeom>
          <a:solidFill>
            <a:srgbClr val="1B4F72"/>
          </a:solidFill>
          <a:ln/>
        </p:spPr>
      </p:sp>
      <p:sp>
        <p:nvSpPr>
          <p:cNvPr id="62" name="Text 60"/>
          <p:cNvSpPr/>
          <p:nvPr/>
        </p:nvSpPr>
        <p:spPr>
          <a:xfrm>
            <a:off x="6117336" y="4160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900" b="1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الباب الأول: أساسيات القدرات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73736" y="4489704"/>
            <a:ext cx="8869680" cy="274320"/>
          </a:xfrm>
          <a:prstGeom prst="roundRect">
            <a:avLst>
              <a:gd name="adj" fmla="val 26667"/>
            </a:avLst>
          </a:prstGeom>
          <a:solidFill>
            <a:srgbClr val="F5C518"/>
          </a:solidFill>
          <a:ln/>
        </p:spPr>
      </p:sp>
      <p:sp>
        <p:nvSpPr>
          <p:cNvPr id="64" name="Text 62"/>
          <p:cNvSpPr/>
          <p:nvPr/>
        </p:nvSpPr>
        <p:spPr>
          <a:xfrm>
            <a:off x="173736" y="4489704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r>
              <a:rPr lang="ar-SA" sz="10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ar-SA" sz="10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أيام </a:t>
            </a:r>
            <a:r>
              <a:rPr lang="en-US" sz="1050" b="1" dirty="0" err="1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فقط</a:t>
            </a:r>
            <a:r>
              <a:rPr lang="en-US" sz="10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وتكون مسيطر </a:t>
            </a:r>
            <a:r>
              <a:rPr lang="en-US" sz="1050" b="1" dirty="0" err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على</a:t>
            </a: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0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الكمي كامل بعده تقدر تتدرب أو تختبر بـ ثقة </a:t>
            </a:r>
            <a:r>
              <a:rPr lang="en-US" sz="10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ابدأ اليوم وما </a:t>
            </a:r>
            <a:r>
              <a:rPr lang="en-US" sz="1050" b="1" dirty="0" err="1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تأجل</a:t>
            </a: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SA" sz="10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 smtClean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</a:t>
            </a:r>
            <a:endParaRPr lang="en-US" sz="1050" dirty="0"/>
          </a:p>
        </p:txBody>
      </p:sp>
      <p:sp>
        <p:nvSpPr>
          <p:cNvPr id="65" name="Text 12"/>
          <p:cNvSpPr/>
          <p:nvPr/>
        </p:nvSpPr>
        <p:spPr>
          <a:xfrm>
            <a:off x="4953697" y="980299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b="1" dirty="0"/>
          </a:p>
        </p:txBody>
      </p:sp>
      <p:sp>
        <p:nvSpPr>
          <p:cNvPr id="66" name="Text 12"/>
          <p:cNvSpPr/>
          <p:nvPr/>
        </p:nvSpPr>
        <p:spPr>
          <a:xfrm>
            <a:off x="7163876" y="1437504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b="1" dirty="0"/>
          </a:p>
        </p:txBody>
      </p:sp>
      <p:sp>
        <p:nvSpPr>
          <p:cNvPr id="67" name="Text 12"/>
          <p:cNvSpPr/>
          <p:nvPr/>
        </p:nvSpPr>
        <p:spPr>
          <a:xfrm>
            <a:off x="4957821" y="1441621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b="1" dirty="0"/>
          </a:p>
        </p:txBody>
      </p:sp>
      <p:sp>
        <p:nvSpPr>
          <p:cNvPr id="14" name="Text 12"/>
          <p:cNvSpPr/>
          <p:nvPr/>
        </p:nvSpPr>
        <p:spPr>
          <a:xfrm>
            <a:off x="7159752" y="976182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b="1" dirty="0"/>
          </a:p>
        </p:txBody>
      </p:sp>
      <p:sp>
        <p:nvSpPr>
          <p:cNvPr id="68" name="Text 12"/>
          <p:cNvSpPr/>
          <p:nvPr/>
        </p:nvSpPr>
        <p:spPr>
          <a:xfrm>
            <a:off x="4949573" y="1804477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b="1" dirty="0"/>
          </a:p>
        </p:txBody>
      </p:sp>
      <p:sp>
        <p:nvSpPr>
          <p:cNvPr id="69" name="Text 12"/>
          <p:cNvSpPr/>
          <p:nvPr/>
        </p:nvSpPr>
        <p:spPr>
          <a:xfrm>
            <a:off x="7159752" y="2261682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b="1" dirty="0"/>
          </a:p>
        </p:txBody>
      </p:sp>
      <p:sp>
        <p:nvSpPr>
          <p:cNvPr id="70" name="Text 12"/>
          <p:cNvSpPr/>
          <p:nvPr/>
        </p:nvSpPr>
        <p:spPr>
          <a:xfrm>
            <a:off x="4953697" y="2265799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b="1" dirty="0"/>
          </a:p>
        </p:txBody>
      </p:sp>
      <p:sp>
        <p:nvSpPr>
          <p:cNvPr id="71" name="Text 12"/>
          <p:cNvSpPr/>
          <p:nvPr/>
        </p:nvSpPr>
        <p:spPr>
          <a:xfrm>
            <a:off x="7155628" y="1800360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b="1" dirty="0"/>
          </a:p>
        </p:txBody>
      </p:sp>
      <p:sp>
        <p:nvSpPr>
          <p:cNvPr id="72" name="Text 12"/>
          <p:cNvSpPr/>
          <p:nvPr/>
        </p:nvSpPr>
        <p:spPr>
          <a:xfrm>
            <a:off x="4907977" y="2607981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b="1" dirty="0"/>
          </a:p>
        </p:txBody>
      </p:sp>
      <p:sp>
        <p:nvSpPr>
          <p:cNvPr id="73" name="Text 12"/>
          <p:cNvSpPr/>
          <p:nvPr/>
        </p:nvSpPr>
        <p:spPr>
          <a:xfrm>
            <a:off x="7118156" y="3065186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b="1" dirty="0"/>
          </a:p>
        </p:txBody>
      </p:sp>
      <p:sp>
        <p:nvSpPr>
          <p:cNvPr id="74" name="Text 12"/>
          <p:cNvSpPr/>
          <p:nvPr/>
        </p:nvSpPr>
        <p:spPr>
          <a:xfrm>
            <a:off x="4912101" y="3069303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b="1" dirty="0"/>
          </a:p>
        </p:txBody>
      </p:sp>
      <p:sp>
        <p:nvSpPr>
          <p:cNvPr id="75" name="Text 12"/>
          <p:cNvSpPr/>
          <p:nvPr/>
        </p:nvSpPr>
        <p:spPr>
          <a:xfrm>
            <a:off x="7114032" y="2603864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b="1" dirty="0"/>
          </a:p>
        </p:txBody>
      </p:sp>
      <p:sp>
        <p:nvSpPr>
          <p:cNvPr id="76" name="Text 12"/>
          <p:cNvSpPr/>
          <p:nvPr/>
        </p:nvSpPr>
        <p:spPr>
          <a:xfrm>
            <a:off x="6025896" y="1224080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b="1" dirty="0"/>
          </a:p>
        </p:txBody>
      </p:sp>
      <p:sp>
        <p:nvSpPr>
          <p:cNvPr id="77" name="Text 12"/>
          <p:cNvSpPr/>
          <p:nvPr/>
        </p:nvSpPr>
        <p:spPr>
          <a:xfrm>
            <a:off x="5977720" y="2038461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b="1" dirty="0"/>
          </a:p>
        </p:txBody>
      </p:sp>
      <p:sp>
        <p:nvSpPr>
          <p:cNvPr id="78" name="Text 12"/>
          <p:cNvSpPr/>
          <p:nvPr/>
        </p:nvSpPr>
        <p:spPr>
          <a:xfrm>
            <a:off x="5978403" y="2826341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b="1" dirty="0"/>
          </a:p>
        </p:txBody>
      </p:sp>
      <p:sp>
        <p:nvSpPr>
          <p:cNvPr id="80" name="Text 12"/>
          <p:cNvSpPr/>
          <p:nvPr/>
        </p:nvSpPr>
        <p:spPr>
          <a:xfrm>
            <a:off x="4891190" y="3417989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b="1" dirty="0"/>
          </a:p>
        </p:txBody>
      </p:sp>
      <p:sp>
        <p:nvSpPr>
          <p:cNvPr id="81" name="Text 12"/>
          <p:cNvSpPr/>
          <p:nvPr/>
        </p:nvSpPr>
        <p:spPr>
          <a:xfrm>
            <a:off x="7101369" y="3875194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b="1" dirty="0"/>
          </a:p>
        </p:txBody>
      </p:sp>
      <p:sp>
        <p:nvSpPr>
          <p:cNvPr id="82" name="Text 12"/>
          <p:cNvSpPr/>
          <p:nvPr/>
        </p:nvSpPr>
        <p:spPr>
          <a:xfrm>
            <a:off x="4895314" y="3879311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b="1" dirty="0"/>
          </a:p>
        </p:txBody>
      </p:sp>
      <p:sp>
        <p:nvSpPr>
          <p:cNvPr id="83" name="Text 12"/>
          <p:cNvSpPr/>
          <p:nvPr/>
        </p:nvSpPr>
        <p:spPr>
          <a:xfrm>
            <a:off x="7097245" y="3413872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b="1" dirty="0"/>
          </a:p>
        </p:txBody>
      </p:sp>
      <p:sp>
        <p:nvSpPr>
          <p:cNvPr id="84" name="Text 12"/>
          <p:cNvSpPr/>
          <p:nvPr/>
        </p:nvSpPr>
        <p:spPr>
          <a:xfrm>
            <a:off x="5961616" y="3636349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b="1" dirty="0"/>
          </a:p>
        </p:txBody>
      </p:sp>
      <p:sp>
        <p:nvSpPr>
          <p:cNvPr id="90" name="Text 12"/>
          <p:cNvSpPr/>
          <p:nvPr/>
        </p:nvSpPr>
        <p:spPr>
          <a:xfrm>
            <a:off x="454321" y="992464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b="1" dirty="0"/>
          </a:p>
        </p:txBody>
      </p:sp>
      <p:sp>
        <p:nvSpPr>
          <p:cNvPr id="91" name="Text 12"/>
          <p:cNvSpPr/>
          <p:nvPr/>
        </p:nvSpPr>
        <p:spPr>
          <a:xfrm>
            <a:off x="2664500" y="1449669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b="1" dirty="0"/>
          </a:p>
        </p:txBody>
      </p:sp>
      <p:sp>
        <p:nvSpPr>
          <p:cNvPr id="92" name="Text 12"/>
          <p:cNvSpPr/>
          <p:nvPr/>
        </p:nvSpPr>
        <p:spPr>
          <a:xfrm>
            <a:off x="458445" y="1453786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b="1" dirty="0"/>
          </a:p>
        </p:txBody>
      </p:sp>
      <p:sp>
        <p:nvSpPr>
          <p:cNvPr id="93" name="Text 12"/>
          <p:cNvSpPr/>
          <p:nvPr/>
        </p:nvSpPr>
        <p:spPr>
          <a:xfrm>
            <a:off x="2660376" y="988347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b="1" dirty="0"/>
          </a:p>
        </p:txBody>
      </p:sp>
      <p:sp>
        <p:nvSpPr>
          <p:cNvPr id="94" name="Text 12"/>
          <p:cNvSpPr/>
          <p:nvPr/>
        </p:nvSpPr>
        <p:spPr>
          <a:xfrm>
            <a:off x="450197" y="1816642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b="1" dirty="0"/>
          </a:p>
        </p:txBody>
      </p:sp>
      <p:sp>
        <p:nvSpPr>
          <p:cNvPr id="95" name="Text 12"/>
          <p:cNvSpPr/>
          <p:nvPr/>
        </p:nvSpPr>
        <p:spPr>
          <a:xfrm>
            <a:off x="2660376" y="2273847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b="1" dirty="0"/>
          </a:p>
        </p:txBody>
      </p:sp>
      <p:sp>
        <p:nvSpPr>
          <p:cNvPr id="96" name="Text 12"/>
          <p:cNvSpPr/>
          <p:nvPr/>
        </p:nvSpPr>
        <p:spPr>
          <a:xfrm>
            <a:off x="454321" y="2277964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b="1" dirty="0"/>
          </a:p>
        </p:txBody>
      </p:sp>
      <p:sp>
        <p:nvSpPr>
          <p:cNvPr id="97" name="Text 12"/>
          <p:cNvSpPr/>
          <p:nvPr/>
        </p:nvSpPr>
        <p:spPr>
          <a:xfrm>
            <a:off x="2656252" y="1812525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b="1" dirty="0"/>
          </a:p>
        </p:txBody>
      </p:sp>
      <p:sp>
        <p:nvSpPr>
          <p:cNvPr id="102" name="Text 12"/>
          <p:cNvSpPr/>
          <p:nvPr/>
        </p:nvSpPr>
        <p:spPr>
          <a:xfrm>
            <a:off x="1526520" y="1236245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b="1" dirty="0"/>
          </a:p>
        </p:txBody>
      </p:sp>
      <p:sp>
        <p:nvSpPr>
          <p:cNvPr id="103" name="Text 12"/>
          <p:cNvSpPr/>
          <p:nvPr/>
        </p:nvSpPr>
        <p:spPr>
          <a:xfrm>
            <a:off x="1478344" y="1886850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b="1" dirty="0"/>
          </a:p>
        </p:txBody>
      </p:sp>
      <p:sp>
        <p:nvSpPr>
          <p:cNvPr id="110" name="Text 12"/>
          <p:cNvSpPr/>
          <p:nvPr/>
        </p:nvSpPr>
        <p:spPr>
          <a:xfrm>
            <a:off x="1466968" y="2203026"/>
            <a:ext cx="886968" cy="190047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 rtl="1">
              <a:buNone/>
            </a:pPr>
            <a:r>
              <a:rPr lang="ar-SA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الموضوع </a:t>
            </a:r>
            <a:r>
              <a:rPr lang="en-AE" sz="1200" b="1" dirty="0" smtClean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b="1" dirty="0"/>
          </a:p>
        </p:txBody>
      </p:sp>
      <p:pic>
        <p:nvPicPr>
          <p:cNvPr id="26" name="صورة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227" y="2572694"/>
            <a:ext cx="1900047" cy="1480425"/>
          </a:xfrm>
          <a:prstGeom prst="rect">
            <a:avLst/>
          </a:prstGeom>
        </p:spPr>
      </p:pic>
      <p:sp>
        <p:nvSpPr>
          <p:cNvPr id="31" name="مستطيل 30"/>
          <p:cNvSpPr/>
          <p:nvPr/>
        </p:nvSpPr>
        <p:spPr>
          <a:xfrm>
            <a:off x="1848547" y="3731372"/>
            <a:ext cx="1836485" cy="544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b="1" dirty="0" smtClean="0">
                <a:solidFill>
                  <a:schemeClr val="bg1">
                    <a:lumMod val="65000"/>
                  </a:schemeClr>
                </a:solidFill>
              </a:rPr>
              <a:t>هيثم عصام</a:t>
            </a:r>
          </a:p>
          <a:p>
            <a:pPr algn="ctr"/>
            <a:r>
              <a:rPr lang="ar-SA" sz="900" b="1" dirty="0" smtClean="0">
                <a:solidFill>
                  <a:schemeClr val="bg1">
                    <a:lumMod val="65000"/>
                  </a:schemeClr>
                </a:solidFill>
              </a:rPr>
              <a:t>0547856086</a:t>
            </a:r>
            <a:endParaRPr lang="ar-SA" sz="9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29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7F7A"/>
          </a:solidFill>
          <a:ln w="12700">
            <a:solidFill>
              <a:srgbClr val="1A7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1245362" y="71496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FE08A"/>
                </a:solidFill>
              </a:rPr>
              <a:t>⭐  تابع تقدمك ⭐</a:t>
            </a:r>
            <a:endParaRPr lang="en-US" sz="1800" dirty="0">
              <a:solidFill>
                <a:srgbClr val="FFE08A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322578" y="64389"/>
            <a:ext cx="9144000" cy="411480"/>
          </a:xfrm>
          <a:prstGeom prst="rect">
            <a:avLst/>
          </a:prstGeom>
          <a:noFill/>
          <a:ln/>
        </p:spPr>
        <p:txBody>
          <a:bodyPr wrap="square" lIns="0" tIns="3810" rIns="0" bIns="0" rtlCol="0" anchor="ctr"/>
          <a:lstStyle/>
          <a:p>
            <a:pPr marL="0" indent="0" algn="l" rtl="1">
              <a:buNone/>
            </a:pPr>
            <a:r>
              <a:rPr lang="en-US" sz="1300" b="1" dirty="0">
                <a:solidFill>
                  <a:srgbClr val="FFE08A"/>
                </a:solidFill>
              </a:rPr>
              <a:t>⭐  أكتب ملاحظاتك علشان </a:t>
            </a:r>
            <a:r>
              <a:rPr lang="en-US" sz="1300" b="1" dirty="0" err="1">
                <a:solidFill>
                  <a:srgbClr val="FFE08A"/>
                </a:solidFill>
              </a:rPr>
              <a:t>تراجع</a:t>
            </a:r>
            <a:r>
              <a:rPr lang="en-US" sz="1300" b="1" dirty="0">
                <a:solidFill>
                  <a:srgbClr val="FFE08A"/>
                </a:solidFill>
              </a:rPr>
              <a:t> </a:t>
            </a:r>
            <a:r>
              <a:rPr lang="en-US" sz="1300" b="1" dirty="0" err="1" smtClean="0">
                <a:solidFill>
                  <a:srgbClr val="FFE08A"/>
                </a:solidFill>
              </a:rPr>
              <a:t>عليها</a:t>
            </a:r>
            <a:r>
              <a:rPr lang="en-US" sz="1300" b="1" dirty="0" smtClean="0">
                <a:solidFill>
                  <a:srgbClr val="FFE08A"/>
                </a:solidFill>
              </a:rPr>
              <a:t> </a:t>
            </a:r>
            <a:r>
              <a:rPr lang="ar-SA" sz="1300" b="1" dirty="0" smtClean="0">
                <a:solidFill>
                  <a:srgbClr val="FFE08A"/>
                </a:solidFill>
              </a:rPr>
              <a:t>دي أهم حاجة</a:t>
            </a:r>
            <a:r>
              <a:rPr lang="en-US" sz="1300" b="1" dirty="0" smtClean="0">
                <a:solidFill>
                  <a:srgbClr val="FFE08A"/>
                </a:solidFill>
              </a:rPr>
              <a:t> </a:t>
            </a:r>
            <a:r>
              <a:rPr lang="en-US" sz="1300" b="1" dirty="0">
                <a:solidFill>
                  <a:srgbClr val="FFE08A"/>
                </a:solidFill>
              </a:rPr>
              <a:t>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03850" y="594360"/>
            <a:ext cx="3403600" cy="3863340"/>
          </a:xfrm>
          <a:prstGeom prst="rect">
            <a:avLst/>
          </a:prstGeom>
          <a:solidFill>
            <a:srgbClr val="0D5754"/>
          </a:solidFill>
          <a:ln w="12700">
            <a:solidFill>
              <a:srgbClr val="0D57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97470" y="694944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00570" y="658368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08140" y="694944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17590" y="658368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FFFFF"/>
                </a:solidFill>
              </a:rPr>
              <a:t>الموضوع 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93410" y="694944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860" y="658368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97470" y="1028700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0570" y="992124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 smtClean="0">
                <a:solidFill>
                  <a:srgbClr val="FFFFFF"/>
                </a:solidFill>
              </a:rPr>
              <a:t>الموضوع</a:t>
            </a:r>
            <a:r>
              <a:rPr lang="en-US" sz="1000" dirty="0" smtClean="0">
                <a:solidFill>
                  <a:srgbClr val="FFFFFF"/>
                </a:solidFill>
              </a:rPr>
              <a:t> 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08140" y="1028700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17590" y="992124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93410" y="1028700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860" y="992124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97470" y="1362456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00570" y="1325880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08140" y="1362456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17590" y="1325880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FFFFF"/>
                </a:solidFill>
              </a:rPr>
              <a:t>الموضوع 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93410" y="1362456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860" y="1325880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97470" y="1696212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00570" y="1659636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08140" y="1696212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17590" y="1659636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FFFFF"/>
                </a:solidFill>
              </a:rPr>
              <a:t>الموضوع 11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93410" y="1696212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02860" y="1659636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97470" y="2029968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00570" y="1993392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08140" y="2029968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17590" y="1993392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FFFFF"/>
                </a:solidFill>
              </a:rPr>
              <a:t>الموضوع 14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93410" y="2029968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860" y="1993392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97470" y="2363724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00570" y="2327148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16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08140" y="2363724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17590" y="2327148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FFFFF"/>
                </a:solidFill>
              </a:rPr>
              <a:t>الموضوع 17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93410" y="2363724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860" y="2327148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18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697470" y="2697480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00570" y="2660904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19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08140" y="2697480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17590" y="2660904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FFFFF"/>
                </a:solidFill>
              </a:rPr>
              <a:t>الموضوع 20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93410" y="2697480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02860" y="2660904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21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697470" y="3031236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00570" y="2994660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22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08140" y="3031236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17590" y="2994660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FFFFF"/>
                </a:solidFill>
              </a:rPr>
              <a:t>الموضوع 23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93410" y="3031236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02860" y="2994660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24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697470" y="3364992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00570" y="3328416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25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708140" y="3364992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17590" y="3328416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FFFFF"/>
                </a:solidFill>
              </a:rPr>
              <a:t>الموضوع 26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693410" y="3364992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02860" y="3328416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27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697470" y="3698748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00570" y="3662172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28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708140" y="3698748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17590" y="3662172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FFFFF"/>
                </a:solidFill>
              </a:rPr>
              <a:t>الموضوع 29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693410" y="3698748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02860" y="3662172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 err="1">
                <a:solidFill>
                  <a:srgbClr val="FFFFFF"/>
                </a:solidFill>
              </a:rPr>
              <a:t>الموضوع</a:t>
            </a:r>
            <a:r>
              <a:rPr lang="en-US" sz="1000" dirty="0">
                <a:solidFill>
                  <a:srgbClr val="FFFFFF"/>
                </a:solidFill>
              </a:rPr>
              <a:t> </a:t>
            </a:r>
            <a:r>
              <a:rPr lang="en-US" sz="1000" dirty="0" smtClean="0">
                <a:solidFill>
                  <a:srgbClr val="FFFFFF"/>
                </a:solidFill>
              </a:rPr>
              <a:t>30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704840" y="4032504"/>
            <a:ext cx="201168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6990" y="3995928"/>
            <a:ext cx="14630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FFFFF"/>
                </a:solidFill>
              </a:rPr>
              <a:t>الموضوع 31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1A7F7A"/>
          </a:solidFill>
          <a:ln w="12700">
            <a:solidFill>
              <a:srgbClr val="1A7F7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E08A"/>
                </a:solidFill>
              </a:rPr>
              <a:t>🎯 </a:t>
            </a:r>
            <a:r>
              <a:rPr lang="ar-SA" sz="1400" b="1" dirty="0" smtClean="0">
                <a:solidFill>
                  <a:srgbClr val="FFE08A"/>
                </a:solidFill>
              </a:rPr>
              <a:t>تقدر تعملها يـــ بطل </a:t>
            </a:r>
            <a:r>
              <a:rPr lang="ar-SA" sz="1400" b="1" dirty="0" smtClean="0">
                <a:solidFill>
                  <a:srgbClr val="FFE08A"/>
                </a:solidFill>
              </a:rPr>
              <a:t>بالتوفيق لا تتكاسل</a:t>
            </a:r>
            <a:r>
              <a:rPr lang="en-US" sz="1400" b="1" dirty="0" smtClean="0">
                <a:solidFill>
                  <a:srgbClr val="FFE08A"/>
                </a:solidFill>
              </a:rPr>
              <a:t>   </a:t>
            </a:r>
            <a:r>
              <a:rPr lang="en-US" sz="1400" b="1" dirty="0" smtClean="0">
                <a:solidFill>
                  <a:srgbClr val="FFE08A"/>
                </a:solidFill>
              </a:rPr>
              <a:t>🎯</a:t>
            </a:r>
            <a:endParaRPr lang="en-US" sz="1400" dirty="0"/>
          </a:p>
        </p:txBody>
      </p:sp>
      <p:sp>
        <p:nvSpPr>
          <p:cNvPr id="88" name="Shape 66"/>
          <p:cNvSpPr/>
          <p:nvPr/>
        </p:nvSpPr>
        <p:spPr>
          <a:xfrm>
            <a:off x="22860" y="539496"/>
            <a:ext cx="4963160" cy="4123944"/>
          </a:xfrm>
          <a:prstGeom prst="rect">
            <a:avLst/>
          </a:prstGeom>
          <a:solidFill>
            <a:srgbClr val="FFFEF5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89" name="Shape 67"/>
          <p:cNvSpPr/>
          <p:nvPr/>
        </p:nvSpPr>
        <p:spPr>
          <a:xfrm>
            <a:off x="22860" y="539496"/>
            <a:ext cx="4963160" cy="313689"/>
          </a:xfrm>
          <a:prstGeom prst="rect">
            <a:avLst/>
          </a:prstGeom>
          <a:solidFill>
            <a:srgbClr val="1A7F7A"/>
          </a:solidFill>
          <a:ln w="12700">
            <a:solidFill>
              <a:srgbClr val="1A7F7A"/>
            </a:solidFill>
            <a:prstDash val="solid"/>
          </a:ln>
        </p:spPr>
      </p:sp>
      <p:sp>
        <p:nvSpPr>
          <p:cNvPr id="90" name="Shape 69"/>
          <p:cNvSpPr/>
          <p:nvPr/>
        </p:nvSpPr>
        <p:spPr>
          <a:xfrm>
            <a:off x="114300" y="1040383"/>
            <a:ext cx="4744720" cy="6857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  <p:sp>
        <p:nvSpPr>
          <p:cNvPr id="91" name="Shape 70"/>
          <p:cNvSpPr/>
          <p:nvPr/>
        </p:nvSpPr>
        <p:spPr>
          <a:xfrm flipV="1">
            <a:off x="114300" y="1257300"/>
            <a:ext cx="4744720" cy="4572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  <p:sp>
        <p:nvSpPr>
          <p:cNvPr id="92" name="Shape 71"/>
          <p:cNvSpPr/>
          <p:nvPr/>
        </p:nvSpPr>
        <p:spPr>
          <a:xfrm flipV="1">
            <a:off x="114300" y="1504188"/>
            <a:ext cx="4765548" cy="4572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  <p:sp>
        <p:nvSpPr>
          <p:cNvPr id="93" name="Shape 72"/>
          <p:cNvSpPr/>
          <p:nvPr/>
        </p:nvSpPr>
        <p:spPr>
          <a:xfrm flipV="1">
            <a:off x="114300" y="1755648"/>
            <a:ext cx="4797298" cy="0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  <p:sp>
        <p:nvSpPr>
          <p:cNvPr id="94" name="Shape 73"/>
          <p:cNvSpPr/>
          <p:nvPr/>
        </p:nvSpPr>
        <p:spPr>
          <a:xfrm>
            <a:off x="114300" y="2002536"/>
            <a:ext cx="4797298" cy="20574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  <p:sp>
        <p:nvSpPr>
          <p:cNvPr id="95" name="Shape 74"/>
          <p:cNvSpPr/>
          <p:nvPr/>
        </p:nvSpPr>
        <p:spPr>
          <a:xfrm>
            <a:off x="114300" y="2249424"/>
            <a:ext cx="4797298" cy="20573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  <p:sp>
        <p:nvSpPr>
          <p:cNvPr id="96" name="Shape 75"/>
          <p:cNvSpPr/>
          <p:nvPr/>
        </p:nvSpPr>
        <p:spPr>
          <a:xfrm>
            <a:off x="114300" y="2496311"/>
            <a:ext cx="4797298" cy="7239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  <p:sp>
        <p:nvSpPr>
          <p:cNvPr id="97" name="Shape 76"/>
          <p:cNvSpPr/>
          <p:nvPr/>
        </p:nvSpPr>
        <p:spPr>
          <a:xfrm>
            <a:off x="114300" y="2743200"/>
            <a:ext cx="4797298" cy="0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  <p:sp>
        <p:nvSpPr>
          <p:cNvPr id="98" name="Shape 77"/>
          <p:cNvSpPr/>
          <p:nvPr/>
        </p:nvSpPr>
        <p:spPr>
          <a:xfrm>
            <a:off x="114300" y="2990087"/>
            <a:ext cx="4797298" cy="7237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  <p:sp>
        <p:nvSpPr>
          <p:cNvPr id="99" name="Shape 78"/>
          <p:cNvSpPr/>
          <p:nvPr/>
        </p:nvSpPr>
        <p:spPr>
          <a:xfrm flipV="1">
            <a:off x="114300" y="3229741"/>
            <a:ext cx="4744720" cy="7235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  <p:sp>
        <p:nvSpPr>
          <p:cNvPr id="100" name="Shape 79"/>
          <p:cNvSpPr/>
          <p:nvPr/>
        </p:nvSpPr>
        <p:spPr>
          <a:xfrm flipV="1">
            <a:off x="114300" y="3483862"/>
            <a:ext cx="4699000" cy="1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  <p:sp>
        <p:nvSpPr>
          <p:cNvPr id="85" name="Text 83"/>
          <p:cNvSpPr/>
          <p:nvPr/>
        </p:nvSpPr>
        <p:spPr>
          <a:xfrm>
            <a:off x="1294130" y="442150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✏️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309370" y="526161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FFFFF"/>
                </a:solidFill>
              </a:rPr>
              <a:t>📝  الملاحظات</a:t>
            </a:r>
            <a:endParaRPr lang="en-US" sz="1300" dirty="0"/>
          </a:p>
        </p:txBody>
      </p:sp>
      <p:sp>
        <p:nvSpPr>
          <p:cNvPr id="104" name="Shape 75"/>
          <p:cNvSpPr/>
          <p:nvPr/>
        </p:nvSpPr>
        <p:spPr>
          <a:xfrm>
            <a:off x="133350" y="3671061"/>
            <a:ext cx="4797298" cy="7239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  <p:sp>
        <p:nvSpPr>
          <p:cNvPr id="105" name="Shape 76"/>
          <p:cNvSpPr/>
          <p:nvPr/>
        </p:nvSpPr>
        <p:spPr>
          <a:xfrm>
            <a:off x="133350" y="3917950"/>
            <a:ext cx="4797298" cy="0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  <p:sp>
        <p:nvSpPr>
          <p:cNvPr id="106" name="Shape 77"/>
          <p:cNvSpPr/>
          <p:nvPr/>
        </p:nvSpPr>
        <p:spPr>
          <a:xfrm>
            <a:off x="133350" y="4164837"/>
            <a:ext cx="4797298" cy="7237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  <p:sp>
        <p:nvSpPr>
          <p:cNvPr id="107" name="Shape 78"/>
          <p:cNvSpPr/>
          <p:nvPr/>
        </p:nvSpPr>
        <p:spPr>
          <a:xfrm flipV="1">
            <a:off x="133350" y="4404491"/>
            <a:ext cx="4744720" cy="7235"/>
          </a:xfrm>
          <a:prstGeom prst="line">
            <a:avLst/>
          </a:prstGeom>
          <a:noFill/>
          <a:ln w="7620">
            <a:solidFill>
              <a:srgbClr val="C8B87A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361071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B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700" b="0" i="0" dirty="0" err="1">
                <a:solidFill>
                  <a:srgbClr val="CCFFFF"/>
                </a:solidFill>
                <a:latin typeface="Arial"/>
              </a:rPr>
              <a:t>الباب</a:t>
            </a:r>
            <a:r>
              <a:rPr sz="1700" b="0" i="0" dirty="0">
                <a:solidFill>
                  <a:srgbClr val="CCFFFF"/>
                </a:solidFill>
                <a:latin typeface="Arial"/>
              </a:rPr>
              <a:t> </a:t>
            </a:r>
            <a:r>
              <a:rPr sz="1700" b="0" i="0" dirty="0" err="1">
                <a:solidFill>
                  <a:srgbClr val="CCFFFF"/>
                </a:solidFill>
                <a:latin typeface="Arial"/>
              </a:rPr>
              <a:t>الأول</a:t>
            </a:r>
            <a:endParaRPr sz="1700" b="0" i="0" dirty="0">
              <a:solidFill>
                <a:srgbClr val="CC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600" b="1" i="0">
                <a:solidFill>
                  <a:srgbClr val="FFFFFF"/>
                </a:solidFill>
                <a:latin typeface="Arial"/>
              </a:rPr>
              <a:t>أساسيات القدرات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8229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500" b="0" i="0" dirty="0" err="1">
                <a:solidFill>
                  <a:srgbClr val="DDFFFF"/>
                </a:solidFill>
                <a:latin typeface="Arial"/>
              </a:rPr>
              <a:t>العمليات</a:t>
            </a:r>
            <a:r>
              <a:rPr sz="1500" b="0" i="0" dirty="0">
                <a:solidFill>
                  <a:srgbClr val="DDFFFF"/>
                </a:solidFill>
                <a:latin typeface="Arial"/>
              </a:rPr>
              <a:t> – </a:t>
            </a:r>
            <a:r>
              <a:rPr sz="1500" b="0" i="0" dirty="0" err="1">
                <a:solidFill>
                  <a:srgbClr val="DDFFFF"/>
                </a:solidFill>
                <a:latin typeface="Arial"/>
              </a:rPr>
              <a:t>التسلسلات</a:t>
            </a:r>
            <a:r>
              <a:rPr sz="1500" b="0" i="0" dirty="0">
                <a:solidFill>
                  <a:srgbClr val="DDFFFF"/>
                </a:solidFill>
                <a:latin typeface="Arial"/>
              </a:rPr>
              <a:t> – </a:t>
            </a:r>
            <a:r>
              <a:rPr sz="1500" b="0" i="0" dirty="0" err="1" smtClean="0">
                <a:solidFill>
                  <a:srgbClr val="DDFFFF"/>
                </a:solidFill>
                <a:latin typeface="Arial"/>
              </a:rPr>
              <a:t>الأعداد</a:t>
            </a:r>
            <a:r>
              <a:rPr lang="ar-SA" sz="1500" b="0" i="0" dirty="0" smtClean="0">
                <a:solidFill>
                  <a:srgbClr val="DDFFFF"/>
                </a:solidFill>
                <a:latin typeface="Arial"/>
              </a:rPr>
              <a:t> العشرية</a:t>
            </a:r>
            <a:r>
              <a:rPr sz="1500" b="0" i="0" dirty="0" smtClean="0">
                <a:solidFill>
                  <a:srgbClr val="DDFFFF"/>
                </a:solidFill>
                <a:latin typeface="Arial"/>
              </a:rPr>
              <a:t> </a:t>
            </a:r>
            <a:r>
              <a:rPr sz="1500" b="0" i="0" dirty="0">
                <a:solidFill>
                  <a:srgbClr val="DDFFFF"/>
                </a:solidFill>
                <a:latin typeface="Arial"/>
              </a:rPr>
              <a:t>– </a:t>
            </a:r>
            <a:r>
              <a:rPr sz="1500" b="0" i="0" dirty="0" err="1">
                <a:solidFill>
                  <a:srgbClr val="DDFFFF"/>
                </a:solidFill>
                <a:latin typeface="Arial"/>
              </a:rPr>
              <a:t>الكسور</a:t>
            </a:r>
            <a:r>
              <a:rPr sz="1500" b="0" i="0" dirty="0">
                <a:solidFill>
                  <a:srgbClr val="DDFFFF"/>
                </a:solidFill>
                <a:latin typeface="Arial"/>
              </a:rPr>
              <a:t> – </a:t>
            </a:r>
            <a:r>
              <a:rPr sz="1500" b="0" i="0" dirty="0" err="1">
                <a:solidFill>
                  <a:srgbClr val="DDFFFF"/>
                </a:solidFill>
                <a:latin typeface="Arial"/>
              </a:rPr>
              <a:t>الجذور</a:t>
            </a:r>
            <a:r>
              <a:rPr sz="1500" b="0" i="0" dirty="0">
                <a:solidFill>
                  <a:srgbClr val="DDFFFF"/>
                </a:solidFill>
                <a:latin typeface="Arial"/>
              </a:rPr>
              <a:t> – </a:t>
            </a:r>
            <a:r>
              <a:rPr sz="1500" b="0" i="0" dirty="0" err="1">
                <a:solidFill>
                  <a:srgbClr val="DDFFFF"/>
                </a:solidFill>
                <a:latin typeface="Arial"/>
              </a:rPr>
              <a:t>الأسس</a:t>
            </a:r>
            <a:r>
              <a:rPr sz="1500" b="0" i="0" dirty="0">
                <a:solidFill>
                  <a:srgbClr val="DDFFFF"/>
                </a:solidFill>
                <a:latin typeface="Arial"/>
              </a:rPr>
              <a:t> – </a:t>
            </a:r>
            <a:r>
              <a:rPr sz="1500" b="0" i="0" dirty="0" err="1">
                <a:solidFill>
                  <a:srgbClr val="DDFFFF"/>
                </a:solidFill>
                <a:latin typeface="Arial"/>
              </a:rPr>
              <a:t>السرعة</a:t>
            </a:r>
            <a:endParaRPr sz="1500" b="0" i="0" dirty="0">
              <a:solidFill>
                <a:srgbClr val="DDFFFF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800" y="2606040"/>
            <a:ext cx="54864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FFFFFF"/>
                </a:solidFill>
                <a:latin typeface="Arial"/>
              </a:rPr>
              <a:t>• ترتيب العمليات الحسابية والأعداد المكررة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FFFFFF"/>
                </a:solidFill>
                <a:latin typeface="Arial"/>
              </a:rPr>
              <a:t>• جمع الأعداد المتتالية وبالعامل المشترك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FFFFFF"/>
                </a:solidFill>
                <a:latin typeface="Arial"/>
              </a:rPr>
              <a:t>• جمع الزوجية والفردية  |  الضرب والقسمة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FFFFFF"/>
                </a:solidFill>
                <a:latin typeface="Arial"/>
              </a:rPr>
              <a:t>• عدد المباريات والمصافحات والهدايا والأشكال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FFFFFF"/>
                </a:solidFill>
                <a:latin typeface="Arial"/>
              </a:rPr>
              <a:t>• الأعداد المحصورة  |  الدوريات  |  الكسور  |  الجذور  |  الأسس  |  السرعة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ترتيب العمليات الحسابية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>
                <a:solidFill>
                  <a:srgbClr val="FFC107"/>
                </a:solidFill>
                <a:latin typeface="Arial"/>
              </a:rPr>
              <a:t>الموضوع ١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444444"/>
                </a:solidFill>
                <a:latin typeface="Arial"/>
              </a:rPr>
              <a:t>عند حساب أي مقدار رياضي نتبع هذا الترتيب الثابت: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smtClean="0">
                <a:solidFill>
                  <a:srgbClr val="444444"/>
                </a:solidFill>
                <a:latin typeface="Arial"/>
              </a:rPr>
              <a:t>①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الأقواس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أولاً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احسب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ما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بداخلها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قبل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أي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شيء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smtClean="0">
                <a:solidFill>
                  <a:srgbClr val="444444"/>
                </a:solidFill>
                <a:latin typeface="Arial"/>
              </a:rPr>
              <a:t>②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الأسس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والجذور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بعد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الأقواس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احسب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قيمة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الأسس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والجذور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smtClean="0">
                <a:solidFill>
                  <a:srgbClr val="444444"/>
                </a:solidFill>
                <a:latin typeface="Arial"/>
              </a:rPr>
              <a:t>③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الضرب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والقسمة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اليسار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إلى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اليمين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بالترتيب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2688336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smtClean="0">
                <a:solidFill>
                  <a:srgbClr val="444444"/>
                </a:solidFill>
                <a:latin typeface="Arial"/>
              </a:rPr>
              <a:t>④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الجمع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والطرح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آخر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خطوة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،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اليسار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إلى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اليمين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3753612"/>
            <a:ext cx="848563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3753612"/>
            <a:ext cx="848563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3771900"/>
            <a:ext cx="8394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055364"/>
            <a:ext cx="83941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C107"/>
                </a:solidFill>
                <a:latin typeface="Arial"/>
              </a:rPr>
              <a:t>أقواس ← أسس ← ضرب/قسمة ← جمع/طرح</a:t>
            </a:r>
          </a:p>
        </p:txBody>
      </p:sp>
      <p:pic>
        <p:nvPicPr>
          <p:cNvPr id="18" name="صورة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45542"/>
            <a:ext cx="2487930" cy="24257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ناتج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المقدار</a:t>
            </a:r>
            <a:r>
              <a:rPr b="0" i="0" dirty="0">
                <a:solidFill>
                  <a:srgbClr val="0D2B55"/>
                </a:solidFill>
                <a:latin typeface="Arial"/>
              </a:rPr>
              <a:t>:  ٥ + ٧ 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(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٨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− ٢</a:t>
            </a:r>
            <a:r>
              <a:rPr lang="ar-SA" dirty="0" smtClean="0">
                <a:solidFill>
                  <a:srgbClr val="0D2B55"/>
                </a:solidFill>
                <a:latin typeface="Arial"/>
              </a:rPr>
              <a:t>²)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÷</a:t>
            </a:r>
            <a:r>
              <a:rPr lang="ar-SA" dirty="0">
                <a:solidFill>
                  <a:srgbClr val="0D2B55"/>
                </a:solidFill>
                <a:latin typeface="Arial"/>
              </a:rPr>
              <a:t> </a:t>
            </a:r>
            <a:r>
              <a:rPr lang="ar-SA" dirty="0" smtClean="0">
                <a:solidFill>
                  <a:srgbClr val="0D2B55"/>
                </a:solidFill>
                <a:latin typeface="Arial"/>
              </a:rPr>
              <a:t>2 </a:t>
            </a:r>
            <a:r>
              <a:rPr lang="ar-SA" dirty="0">
                <a:solidFill>
                  <a:srgbClr val="0D2B55"/>
                </a:solidFill>
                <a:latin typeface="Arial"/>
              </a:rPr>
              <a:t>+ </a:t>
            </a:r>
            <a:r>
              <a:rPr lang="ar-SA" dirty="0" smtClean="0">
                <a:solidFill>
                  <a:srgbClr val="0D2B55"/>
                </a:solidFill>
                <a:latin typeface="Arial"/>
              </a:rPr>
              <a:t>3² </a:t>
            </a:r>
            <a:endParaRPr b="0" i="0" dirty="0">
              <a:solidFill>
                <a:srgbClr val="0D2B55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٣٥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28 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25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30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١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نبدأ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بالأقواس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داخل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القوس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يوجد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    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أولاً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نحسب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الأس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٢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²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 ٢×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٢ = 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3826424"/>
            <a:ext cx="8449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            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   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(٨ − 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4)</a:t>
            </a:r>
            <a:endParaRPr lang="ar-SA" sz="1200" b="0" i="0" dirty="0" smtClean="0">
              <a:solidFill>
                <a:srgbClr val="054040"/>
              </a:solidFill>
              <a:latin typeface="Arial"/>
            </a:endParaRPr>
          </a:p>
          <a:p>
            <a:pPr algn="r" rtl="1"/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ثم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نطرح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٨ − ٤ = ٤  ←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إذاً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القوس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33425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٢ —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الضرب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والقسمة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اليمين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 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٧ × ٤ =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٢٨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ثم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٢٨ ÷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2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= 14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" y="470001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٣ —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الجمع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٥ +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14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+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9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=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28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←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بتجربة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الخيارات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أ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28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هو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أيٌّ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من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التعبيرات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التالية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تساوي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٦؟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+ ٢ × ١ + ٢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٢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× ١ + ٢ × 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٦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÷ ١ × ٢ − 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>
                <a:solidFill>
                  <a:srgbClr val="FFFFFF"/>
                </a:solidFill>
                <a:latin typeface="Arial"/>
              </a:rPr>
              <a:t>✅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ج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٢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+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3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×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٢−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نحسب كل خيار بتطبيق ترتيب العمليات: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smtClean="0">
                <a:solidFill>
                  <a:srgbClr val="054040"/>
                </a:solidFill>
                <a:latin typeface="Arial"/>
              </a:rPr>
              <a:t>أ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  2 </a:t>
            </a:r>
            <a:r>
              <a:rPr lang="ar-SA" sz="1200" dirty="0"/>
              <a:t>× 1 = 2  + 2 </a:t>
            </a:r>
            <a:r>
              <a:rPr lang="ar-SA" sz="1200" dirty="0" smtClean="0"/>
              <a:t>× 1 = 2 اذن 2 + 2 = 4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←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ليس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٦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r>
              <a:rPr lang="ar-SA" sz="1200" dirty="0">
                <a:solidFill>
                  <a:srgbClr val="FF0000"/>
                </a:solidFill>
              </a:rPr>
              <a:t>×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 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smtClean="0">
                <a:solidFill>
                  <a:srgbClr val="054040"/>
                </a:solidFill>
                <a:latin typeface="Arial"/>
              </a:rPr>
              <a:t>ب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2 </a:t>
            </a:r>
            <a:r>
              <a:rPr lang="ar-SA" sz="1200" dirty="0" smtClean="0"/>
              <a:t>× 1 = 2  + 1 +2 = 5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←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ليس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٦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>
                <a:solidFill>
                  <a:srgbClr val="FF0000"/>
                </a:solidFill>
              </a:rPr>
              <a:t>×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33425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smtClean="0">
                <a:solidFill>
                  <a:srgbClr val="054040"/>
                </a:solidFill>
                <a:latin typeface="Arial"/>
              </a:rPr>
              <a:t>ج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3 </a:t>
            </a:r>
            <a:r>
              <a:rPr lang="ar-SA" sz="1200" dirty="0" smtClean="0"/>
              <a:t>× 2 = 6  +2 = 8 – 2 = 6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←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اذن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٦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✓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" y="470001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smtClean="0">
                <a:solidFill>
                  <a:srgbClr val="054040"/>
                </a:solidFill>
                <a:latin typeface="Arial"/>
              </a:rPr>
              <a:t>د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1 </a:t>
            </a:r>
            <a:r>
              <a:rPr lang="ar-SA" sz="1200" dirty="0"/>
              <a:t>× </a:t>
            </a:r>
            <a:r>
              <a:rPr lang="ar-SA" sz="1200" dirty="0" smtClean="0"/>
              <a:t> 2 = 2  6 </a:t>
            </a:r>
            <a:r>
              <a:rPr lang="ar-SA" sz="1200" dirty="0">
                <a:solidFill>
                  <a:srgbClr val="444444"/>
                </a:solidFill>
                <a:latin typeface="Arial"/>
              </a:rPr>
              <a:t>÷ </a:t>
            </a:r>
            <a:r>
              <a:rPr lang="ar-SA" sz="1200" dirty="0" smtClean="0"/>
              <a:t>2 = 3  - 2 = 1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← ليس ٦ </a:t>
            </a:r>
            <a:r>
              <a:rPr lang="ar-SA" sz="1200" dirty="0">
                <a:solidFill>
                  <a:srgbClr val="FF0000"/>
                </a:solidFill>
              </a:rPr>
              <a:t>×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جمع الأعداد المكررة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>
                <a:solidFill>
                  <a:srgbClr val="FFC107"/>
                </a:solidFill>
                <a:latin typeface="Arial"/>
              </a:rPr>
              <a:t>الموضوع ٢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444444"/>
                </a:solidFill>
                <a:latin typeface="Arial"/>
              </a:rPr>
              <a:t>إذا تكرر عدد معين عدة مرات فالمجموع = العدد × عدد مرات التكرار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444444"/>
                </a:solidFill>
                <a:latin typeface="Arial"/>
              </a:rPr>
              <a:t>مثال: ٨١ + ٨١ + ٨١ + ٨١ = ٨١ × ٤ = ٣٢٤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444444"/>
                </a:solidFill>
                <a:latin typeface="Arial"/>
              </a:rPr>
              <a:t>هذا يتيح لك حل أسئلة تبدو معقدة بسرعة كبيرة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53612"/>
            <a:ext cx="848563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53612"/>
            <a:ext cx="848563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8394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055364"/>
            <a:ext cx="83941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C107"/>
                </a:solidFill>
                <a:latin typeface="Arial"/>
              </a:rPr>
              <a:t>المجموع = العدد × عدد التكرار</a:t>
            </a:r>
          </a:p>
        </p:txBody>
      </p:sp>
      <p:pic>
        <p:nvPicPr>
          <p:cNvPr id="11" name="صورة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13" y="1271016"/>
            <a:ext cx="1734429" cy="12298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ناتج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جمع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العدد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٦٤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مع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نفسه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٦٤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مرة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١٦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٦٤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٨١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  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>
                <a:solidFill>
                  <a:srgbClr val="FFFFFF"/>
                </a:solidFill>
                <a:latin typeface="Arial"/>
              </a:rPr>
              <a:t>✅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ج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٦٤²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نلاحظ أن العدد ٦٤ يتكرر ٦٤ مرة كاملة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نستخدم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القانون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المجموع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العدد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×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التكرار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       إذاً:  المجموع = ٦٤ × ٦٤ = ٦٤²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33425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لا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حاجة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للجمع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اليدوي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مجرد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كتابته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ك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ـ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أ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و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س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يكفي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470001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ج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٦٤²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4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54864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ناتج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جمع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lang="ar-SA" sz="20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smtClean="0">
                <a:solidFill>
                  <a:srgbClr val="0D2B55"/>
                </a:solidFill>
                <a:latin typeface="Arial"/>
              </a:rPr>
              <a:t>٣</a:t>
            </a:r>
            <a:r>
              <a:rPr lang="ar-SA" sz="2000" b="0" i="0" dirty="0" smtClean="0">
                <a:solidFill>
                  <a:srgbClr val="0D2B55"/>
                </a:solidFill>
                <a:latin typeface="Arial"/>
              </a:rPr>
              <a:t>  </a:t>
            </a:r>
            <a:r>
              <a:rPr sz="2000" b="0" i="0" dirty="0" err="1" smtClean="0">
                <a:solidFill>
                  <a:srgbClr val="0D2B55"/>
                </a:solidFill>
                <a:latin typeface="Arial"/>
              </a:rPr>
              <a:t>مع</a:t>
            </a:r>
            <a:r>
              <a:rPr sz="20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نفسها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٢٠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مرة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١٢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>
                <a:solidFill>
                  <a:srgbClr val="FFFFFF"/>
                </a:solidFill>
                <a:latin typeface="Arial"/>
              </a:rPr>
              <a:t>✅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١٥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٢٠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٢٤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الكسر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٣/٤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يتكرر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٢٠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مرة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،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فنضرب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مباشرة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    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المجموع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3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×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٢٠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041648"/>
            <a:ext cx="8449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نحسب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٣ × ٢٠ = ٦٠  ،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ثم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نقسم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٦٠ ÷ ٤ = ١٥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44398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أ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١٥ 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✓</a:t>
            </a:r>
          </a:p>
        </p:txBody>
      </p:sp>
      <p:cxnSp>
        <p:nvCxnSpPr>
          <p:cNvPr id="23" name="رابط مستقيم 22"/>
          <p:cNvCxnSpPr/>
          <p:nvPr/>
        </p:nvCxnSpPr>
        <p:spPr>
          <a:xfrm flipH="1">
            <a:off x="7550150" y="3841889"/>
            <a:ext cx="1206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مستطيل 25"/>
          <p:cNvSpPr/>
          <p:nvPr/>
        </p:nvSpPr>
        <p:spPr>
          <a:xfrm>
            <a:off x="7444780" y="1033781"/>
            <a:ext cx="89694" cy="1463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2000" dirty="0" smtClean="0">
                <a:solidFill>
                  <a:srgbClr val="0D2B55"/>
                </a:solidFill>
              </a:rPr>
              <a:t>4</a:t>
            </a:r>
            <a:endParaRPr lang="ar-SA" dirty="0">
              <a:solidFill>
                <a:srgbClr val="0D2B55"/>
              </a:solidFill>
            </a:endParaRPr>
          </a:p>
        </p:txBody>
      </p:sp>
      <p:sp>
        <p:nvSpPr>
          <p:cNvPr id="29" name="مستطيل 28"/>
          <p:cNvSpPr/>
          <p:nvPr/>
        </p:nvSpPr>
        <p:spPr>
          <a:xfrm>
            <a:off x="7565628" y="3897261"/>
            <a:ext cx="89694" cy="1463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dirty="0" smtClean="0">
                <a:solidFill>
                  <a:srgbClr val="054040"/>
                </a:solidFill>
              </a:rPr>
              <a:t>4</a:t>
            </a:r>
            <a:endParaRPr lang="ar-SA" dirty="0">
              <a:solidFill>
                <a:srgbClr val="054040"/>
              </a:solidFill>
            </a:endParaRPr>
          </a:p>
        </p:txBody>
      </p:sp>
      <p:cxnSp>
        <p:nvCxnSpPr>
          <p:cNvPr id="30" name="رابط مستقيم 29"/>
          <p:cNvCxnSpPr/>
          <p:nvPr/>
        </p:nvCxnSpPr>
        <p:spPr>
          <a:xfrm flipH="1">
            <a:off x="7370267" y="971828"/>
            <a:ext cx="2506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 dirty="0" err="1">
                <a:solidFill>
                  <a:srgbClr val="FFFFFF"/>
                </a:solidFill>
                <a:latin typeface="Arial"/>
              </a:rPr>
              <a:t>جمع</a:t>
            </a:r>
            <a:r>
              <a:rPr sz="25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FFFFFF"/>
                </a:solidFill>
                <a:latin typeface="Arial"/>
              </a:rPr>
              <a:t>الأعداد</a:t>
            </a:r>
            <a:r>
              <a:rPr sz="25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2500" b="1" i="0" dirty="0" smtClean="0">
                <a:solidFill>
                  <a:srgbClr val="FFFFFF"/>
                </a:solidFill>
                <a:latin typeface="Arial"/>
              </a:rPr>
              <a:t>كل </a:t>
            </a:r>
            <a:r>
              <a:rPr sz="2500" b="1" i="0" dirty="0" err="1" smtClean="0">
                <a:solidFill>
                  <a:srgbClr val="FFFFFF"/>
                </a:solidFill>
                <a:latin typeface="Arial"/>
              </a:rPr>
              <a:t>اثنين</a:t>
            </a:r>
            <a:r>
              <a:rPr lang="ar-SA" sz="2500" b="1" i="0" dirty="0" smtClean="0">
                <a:solidFill>
                  <a:srgbClr val="FFFFFF"/>
                </a:solidFill>
                <a:latin typeface="Arial"/>
              </a:rPr>
              <a:t> مع </a:t>
            </a:r>
            <a:r>
              <a:rPr sz="2500" b="1" i="0" dirty="0" err="1" smtClean="0">
                <a:solidFill>
                  <a:srgbClr val="FFFFFF"/>
                </a:solidFill>
                <a:latin typeface="Arial"/>
              </a:rPr>
              <a:t>اثنين</a:t>
            </a:r>
            <a:endParaRPr sz="25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" y="1828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FFC107"/>
                </a:solidFill>
                <a:latin typeface="Arial"/>
              </a:rPr>
              <a:t>٣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>
                <a:solidFill>
                  <a:srgbClr val="FFFFFF"/>
                </a:solidFill>
                <a:latin typeface="Arial"/>
              </a:rPr>
              <a:t>📌 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الشرح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والقواعد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طريقة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ذكية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لجمع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أعداد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كبيرة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نجمع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كل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عددين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مجموعهما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ثابت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مثال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٦٥+٣٥+٩٤+٦+١٣٢+٦٨ →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نجمع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(٦٥+٣٥)=١٠٠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(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٩٤+٦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)=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١٠٠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(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١٣٢+٦٨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)=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200)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المجموع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=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١٠٠+١٠٠+٢٠٠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=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٤٠٠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بدون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حساب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طويل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!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ابحث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دائماً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عن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الأزواج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التي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تعطي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أعداداً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مريحة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(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١٠٠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، ١٠٠٠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،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...)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59650" y="3753612"/>
            <a:ext cx="140030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53612"/>
            <a:ext cx="848563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83941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 dirty="0" smtClean="0">
                <a:solidFill>
                  <a:srgbClr val="FFFFFF"/>
                </a:solidFill>
                <a:latin typeface="Arial"/>
              </a:rPr>
              <a:t>⚡</a:t>
            </a:r>
            <a:r>
              <a:rPr lang="ar-SA" sz="11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 smtClean="0">
                <a:solidFill>
                  <a:srgbClr val="FFFFFF"/>
                </a:solidFill>
                <a:latin typeface="Arial"/>
              </a:rPr>
              <a:t>قانون</a:t>
            </a:r>
            <a:r>
              <a:rPr lang="ar-SA" sz="1100" b="1" i="0" dirty="0" smtClean="0">
                <a:solidFill>
                  <a:srgbClr val="FFFFFF"/>
                </a:solidFill>
                <a:latin typeface="Arial"/>
              </a:rPr>
              <a:t>  1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" y="4055364"/>
            <a:ext cx="83941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 dirty="0" err="1">
                <a:solidFill>
                  <a:srgbClr val="FFC107"/>
                </a:solidFill>
                <a:latin typeface="Arial"/>
              </a:rPr>
              <a:t>ابحث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C107"/>
                </a:solidFill>
                <a:latin typeface="Arial"/>
              </a:rPr>
              <a:t>عن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C107"/>
                </a:solidFill>
                <a:latin typeface="Arial"/>
              </a:rPr>
              <a:t>أزواج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
</a:t>
            </a:r>
            <a:r>
              <a:rPr sz="1200" b="1" i="0" dirty="0" err="1">
                <a:solidFill>
                  <a:srgbClr val="FFC107"/>
                </a:solidFill>
                <a:latin typeface="Arial"/>
              </a:rPr>
              <a:t>مجموعها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err="1" smtClean="0">
                <a:solidFill>
                  <a:srgbClr val="FFC107"/>
                </a:solidFill>
                <a:latin typeface="Arial"/>
              </a:rPr>
              <a:t>ثابت</a:t>
            </a:r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 و مريح</a:t>
            </a:r>
            <a:endParaRPr sz="1200" b="1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17" name="Rectangle 11"/>
          <p:cNvSpPr/>
          <p:nvPr/>
        </p:nvSpPr>
        <p:spPr>
          <a:xfrm>
            <a:off x="274320" y="4027931"/>
            <a:ext cx="6918452" cy="997903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ar-SA" sz="1200" b="1" dirty="0" smtClean="0">
                <a:solidFill>
                  <a:srgbClr val="FFC107"/>
                </a:solidFill>
                <a:latin typeface="Arial"/>
              </a:rPr>
              <a:t>العدد الأخير </a:t>
            </a:r>
            <a:r>
              <a:rPr lang="ar-SA" sz="1200" dirty="0" smtClean="0">
                <a:solidFill>
                  <a:srgbClr val="EEB60D"/>
                </a:solidFill>
                <a:latin typeface="Arial"/>
              </a:rPr>
              <a:t>× العدد الـ بعده      الحل         </a:t>
            </a:r>
            <a:r>
              <a:rPr lang="ar-SA" sz="1400" dirty="0" smtClean="0">
                <a:solidFill>
                  <a:srgbClr val="EEB60D"/>
                </a:solidFill>
                <a:latin typeface="Arial"/>
              </a:rPr>
              <a:t>7 </a:t>
            </a:r>
            <a:r>
              <a:rPr lang="ar-SA" sz="1400" dirty="0" smtClean="0">
                <a:solidFill>
                  <a:srgbClr val="FFC107"/>
                </a:solidFill>
                <a:latin typeface="Arial"/>
              </a:rPr>
              <a:t>× 8 =</a:t>
            </a:r>
            <a:r>
              <a:rPr lang="ar-SA" sz="1400" b="1" dirty="0" smtClean="0">
                <a:solidFill>
                  <a:srgbClr val="FFC107"/>
                </a:solidFill>
                <a:latin typeface="Arial"/>
              </a:rPr>
              <a:t> 28</a:t>
            </a:r>
            <a:r>
              <a:rPr lang="ar-SA" sz="1200" b="1" dirty="0" smtClean="0">
                <a:solidFill>
                  <a:srgbClr val="FFC107"/>
                </a:solidFill>
                <a:latin typeface="Arial"/>
              </a:rPr>
              <a:t> </a:t>
            </a:r>
            <a:endParaRPr lang="ar-SA" sz="1200" b="1" dirty="0">
              <a:solidFill>
                <a:srgbClr val="FFC107"/>
              </a:solidFill>
              <a:latin typeface="Arial"/>
            </a:endParaRPr>
          </a:p>
          <a:p>
            <a:pPr algn="ctr"/>
            <a:endParaRPr dirty="0"/>
          </a:p>
        </p:txBody>
      </p:sp>
      <p:sp>
        <p:nvSpPr>
          <p:cNvPr id="18" name="TextBox 13"/>
          <p:cNvSpPr txBox="1"/>
          <p:nvPr/>
        </p:nvSpPr>
        <p:spPr>
          <a:xfrm>
            <a:off x="-1247140" y="3727387"/>
            <a:ext cx="83941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 dirty="0" smtClean="0">
                <a:solidFill>
                  <a:srgbClr val="FFFFFF"/>
                </a:solidFill>
                <a:latin typeface="Arial"/>
              </a:rPr>
              <a:t>⚡</a:t>
            </a:r>
            <a:r>
              <a:rPr lang="ar-SA" sz="11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 smtClean="0">
                <a:solidFill>
                  <a:srgbClr val="FFFFFF"/>
                </a:solidFill>
                <a:latin typeface="Arial"/>
              </a:rPr>
              <a:t>قانون</a:t>
            </a:r>
            <a:r>
              <a:rPr lang="ar-SA" sz="1100" b="1" i="0" dirty="0" smtClean="0">
                <a:solidFill>
                  <a:srgbClr val="FFFFFF"/>
                </a:solidFill>
                <a:latin typeface="Arial"/>
              </a:rPr>
              <a:t>  2 </a:t>
            </a:r>
            <a:r>
              <a:rPr lang="ar-SA" sz="1100" b="1" dirty="0">
                <a:solidFill>
                  <a:srgbClr val="FFC107"/>
                </a:solidFill>
                <a:latin typeface="Arial"/>
              </a:rPr>
              <a:t>جمع الأعداد المتتالية مثال ( 1 + 2+ 3 + .. + 7 ) 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0" name="رابط مستقيم 19"/>
          <p:cNvCxnSpPr/>
          <p:nvPr/>
        </p:nvCxnSpPr>
        <p:spPr>
          <a:xfrm>
            <a:off x="5756402" y="4504342"/>
            <a:ext cx="13906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مستطيل 20"/>
          <p:cNvSpPr/>
          <p:nvPr/>
        </p:nvSpPr>
        <p:spPr>
          <a:xfrm>
            <a:off x="5921502" y="4572000"/>
            <a:ext cx="106045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smtClean="0">
                <a:solidFill>
                  <a:srgbClr val="FFC107"/>
                </a:solidFill>
              </a:rPr>
              <a:t>2</a:t>
            </a:r>
            <a:endParaRPr lang="ar-SA" dirty="0">
              <a:solidFill>
                <a:srgbClr val="FFC107"/>
              </a:solidFill>
            </a:endParaRPr>
          </a:p>
        </p:txBody>
      </p:sp>
      <p:cxnSp>
        <p:nvCxnSpPr>
          <p:cNvPr id="23" name="رابط كسهم مستقيم 22"/>
          <p:cNvCxnSpPr/>
          <p:nvPr/>
        </p:nvCxnSpPr>
        <p:spPr>
          <a:xfrm flipH="1">
            <a:off x="4972050" y="4402836"/>
            <a:ext cx="241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رابط مستقيم 23"/>
          <p:cNvCxnSpPr/>
          <p:nvPr/>
        </p:nvCxnSpPr>
        <p:spPr>
          <a:xfrm>
            <a:off x="4508500" y="4485292"/>
            <a:ext cx="3429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مستطيل 26"/>
          <p:cNvSpPr/>
          <p:nvPr/>
        </p:nvSpPr>
        <p:spPr>
          <a:xfrm>
            <a:off x="4165600" y="4527576"/>
            <a:ext cx="1060450" cy="190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smtClean="0">
                <a:solidFill>
                  <a:srgbClr val="FFC107"/>
                </a:solidFill>
              </a:rPr>
              <a:t>2</a:t>
            </a:r>
            <a:endParaRPr lang="ar-SA" dirty="0">
              <a:solidFill>
                <a:srgbClr val="FFC10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ناتج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:  ٩٩ + ٨٨ + ٧٧ + ٦٦ + ٥٥ + ٤٤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>
                <a:solidFill>
                  <a:srgbClr val="FFFFFF"/>
                </a:solidFill>
                <a:latin typeface="Arial"/>
              </a:rPr>
              <a:t>✅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ب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٤٢٩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٤٣٠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٤١٩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٤٢٠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نبحث عن أزواج ذكية بدلاً من الجمع المباشر: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الزوج الأول:   ٩٩ + ٤٤ = ١٤٣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الزوج الثاني:  ٨٨ + ٥٥ = ١٤٣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33425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الزوج الثالث:  ٧٧ + ٦٦ = ١٤٣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470001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الآن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نجمع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النتائج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١٤٣ × ٣ = ٤٢٩  ✓  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الإجابة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ب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٤٢٩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ناتج</a:t>
            </a:r>
            <a:r>
              <a:rPr b="0" i="0" dirty="0">
                <a:solidFill>
                  <a:srgbClr val="0D2B55"/>
                </a:solidFill>
                <a:latin typeface="Arial"/>
              </a:rPr>
              <a:t>: </a:t>
            </a:r>
            <a:r>
              <a:rPr lang="ar-SA" sz="2000" dirty="0">
                <a:solidFill>
                  <a:srgbClr val="0D2B55"/>
                </a:solidFill>
              </a:rPr>
              <a:t>١+٢+٣+...+٩+١٠ 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- </a:t>
            </a:r>
            <a:r>
              <a:rPr lang="ar-SA" sz="2000" dirty="0">
                <a:solidFill>
                  <a:srgbClr val="0D2B55"/>
                </a:solidFill>
              </a:rPr>
              <a:t>(١+٢+٣+...+٩) ؟</a:t>
            </a:r>
            <a:endParaRPr b="0" i="0" dirty="0">
              <a:solidFill>
                <a:srgbClr val="0D2B55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ب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١٠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٩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نحسب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المتسلسلة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من خلال القانون </a:t>
            </a:r>
          </a:p>
          <a:p>
            <a:pPr algn="r" rtl="1"/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الأولى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من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١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إلى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١٠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مجموع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١٠ × ١١ ÷ ٢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٥٥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نحسب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المتسلسلة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الثانية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من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١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إلى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٩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33425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مجموع = ٩ × ١٠ ÷ ٢ = ٤٥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470001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الناتج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النهائي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٥٥ − ٤٥ = ١٠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ب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✓ 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١٠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pic>
        <p:nvPicPr>
          <p:cNvPr id="23" name="صورة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914" y="3276380"/>
            <a:ext cx="1462474" cy="5717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جمع الأعداد المتتالية وبالعامل المشترك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>
                <a:solidFill>
                  <a:srgbClr val="FFC107"/>
                </a:solidFill>
                <a:latin typeface="Arial"/>
              </a:rPr>
              <a:t>الموضوع ٤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616263"/>
                </a:solidFill>
              </a:rPr>
              <a:t>جمع الأعداد من ١ إلى س: المجموع = س(س+١) ÷ ٢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1675130"/>
            <a:ext cx="8412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جمع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بالعامل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المشترك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إذا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كانت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الأعداد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تقبل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القسمة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على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عامل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مشترك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→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أخرجه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013458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616263"/>
                </a:solidFill>
              </a:rPr>
              <a:t>مثال: ٤٤+٥٥+٦٦+٧٧+٨٨+٩٩ → العامل المشترك ١١ → ١١×(٤+٥+٦+٧+٨+٩</a:t>
            </a:r>
            <a:r>
              <a:rPr lang="ar-SA" sz="1400" dirty="0" smtClean="0">
                <a:solidFill>
                  <a:srgbClr val="616263"/>
                </a:solidFill>
              </a:rPr>
              <a:t>)=429 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55364"/>
            <a:ext cx="4096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نشوف عامل مشترك لو وجد و </a:t>
            </a:r>
            <a:r>
              <a:rPr lang="ar-SA" sz="1200" b="1" i="0" dirty="0" err="1" smtClean="0">
                <a:solidFill>
                  <a:srgbClr val="FFC107"/>
                </a:solidFill>
                <a:latin typeface="Arial"/>
              </a:rPr>
              <a:t>نستخدمة</a:t>
            </a:r>
            <a:endParaRPr sz="1200" b="1" i="0" dirty="0">
              <a:solidFill>
                <a:srgbClr val="FFC107"/>
              </a:solidFill>
              <a:latin typeface="Arial"/>
            </a:endParaRPr>
          </a:p>
        </p:txBody>
      </p:sp>
      <p:pic>
        <p:nvPicPr>
          <p:cNvPr id="20" name="صورة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821" y="4124269"/>
            <a:ext cx="1808417" cy="706994"/>
          </a:xfrm>
          <a:prstGeom prst="rect">
            <a:avLst/>
          </a:prstGeom>
        </p:spPr>
      </p:pic>
      <p:pic>
        <p:nvPicPr>
          <p:cNvPr id="9" name="صورة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927" y="2460093"/>
            <a:ext cx="1548522" cy="1156407"/>
          </a:xfrm>
          <a:prstGeom prst="rect">
            <a:avLst/>
          </a:prstGeom>
        </p:spPr>
      </p:pic>
      <p:pic>
        <p:nvPicPr>
          <p:cNvPr id="15" name="صورة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270401"/>
            <a:ext cx="1672607" cy="21016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مجموع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الأعداد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من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١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إلى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٥٠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١١٥٠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١٢٢٥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>
                <a:solidFill>
                  <a:srgbClr val="FFFFFF"/>
                </a:solidFill>
                <a:latin typeface="Arial"/>
              </a:rPr>
              <a:t>✅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د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١٢٧٥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١٣٠٠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نطبق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قانون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جمع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الأعداد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المتتالية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من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١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إلى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س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جمع الأعداد من ١ إلى س: المجموع = س(س+١) ÷ ٢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lang="ar-SA" sz="1200" dirty="0">
                <a:solidFill>
                  <a:srgbClr val="054040"/>
                </a:solidFill>
              </a:rPr>
              <a:t>نضع س = ٥٠ : ٥٠ × (٥٠+١) ÷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٢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33425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نحسب:  ٥٠ × ٥١ = ٢٥٥٠  ،  ثم ٢٥٥٠ ÷ ٢ = ١٢٧٥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470001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د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١٢٧٥  ✓</a:t>
            </a:r>
          </a:p>
        </p:txBody>
      </p:sp>
      <p:pic>
        <p:nvPicPr>
          <p:cNvPr id="23" name="صورة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104" y="3370978"/>
            <a:ext cx="1606634" cy="6281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ناتج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: ١٠ + ٢٠ + ٣٠ + ... + ٩٠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٤٠٠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>
                <a:solidFill>
                  <a:srgbClr val="FFFFFF"/>
                </a:solidFill>
                <a:latin typeface="Arial"/>
              </a:rPr>
              <a:t>✅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أ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٤٥٠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٥٠٠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٥٥٠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 dirty="0">
                <a:solidFill>
                  <a:srgbClr val="FFFFFF"/>
                </a:solidFill>
                <a:latin typeface="Arial"/>
              </a:rPr>
              <a:t>✏️ 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خطوات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الحل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نلاحظ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أن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كل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الأعداد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تقبل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القسمة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على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١٠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نستخرج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العامل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المشترك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</a:rPr>
              <a:t>10 </a:t>
            </a:r>
            <a:r>
              <a:rPr lang="ar-SA" sz="1200" dirty="0">
                <a:solidFill>
                  <a:srgbClr val="054040"/>
                </a:solidFill>
              </a:rPr>
              <a:t>× (١ + ٢ + ٣ + ... + ٩)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4041648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نحسب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مجموع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١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إلى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٩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٩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× ١٠ ÷ ٢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٤٥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44398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الناتج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النهائي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١٠ × ٤٥ = ٤٥٠  ✓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أ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٤٥٠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جمع الأعداد الزوجية والفردية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>
                <a:solidFill>
                  <a:srgbClr val="FFC107"/>
                </a:solidFill>
                <a:latin typeface="Arial"/>
              </a:rPr>
              <a:t>الموضوع ٥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616263"/>
                </a:solidFill>
              </a:rPr>
              <a:t>جمع الأعداد الزوجية </a:t>
            </a:r>
            <a:r>
              <a:rPr lang="ar-SA" sz="1400" dirty="0" smtClean="0">
                <a:solidFill>
                  <a:srgbClr val="616263"/>
                </a:solidFill>
              </a:rPr>
              <a:t>ابتداء من ٢ </a:t>
            </a:r>
            <a:r>
              <a:rPr lang="ar-SA" sz="1400" dirty="0">
                <a:solidFill>
                  <a:srgbClr val="616263"/>
                </a:solidFill>
              </a:rPr>
              <a:t>إلى </a:t>
            </a:r>
            <a:r>
              <a:rPr lang="ar-SA" sz="1400" dirty="0" smtClean="0">
                <a:solidFill>
                  <a:srgbClr val="616263"/>
                </a:solidFill>
              </a:rPr>
              <a:t>أي عدد زوجي س : </a:t>
            </a:r>
            <a:r>
              <a:rPr lang="ar-SA" sz="1400" dirty="0">
                <a:solidFill>
                  <a:srgbClr val="616263"/>
                </a:solidFill>
              </a:rPr>
              <a:t>المجموع = </a:t>
            </a:r>
            <a:r>
              <a:rPr lang="ar-SA" sz="1400" dirty="0" smtClean="0">
                <a:solidFill>
                  <a:srgbClr val="616263"/>
                </a:solidFill>
              </a:rPr>
              <a:t>س × (س+2) </a:t>
            </a:r>
            <a:r>
              <a:rPr lang="ar-SA" sz="1400" dirty="0" smtClean="0">
                <a:solidFill>
                  <a:srgbClr val="616263"/>
                </a:solidFill>
                <a:latin typeface="Arial"/>
              </a:rPr>
              <a:t>÷ 4</a:t>
            </a:r>
            <a:r>
              <a:rPr lang="ar-SA" sz="1400" dirty="0" smtClean="0">
                <a:solidFill>
                  <a:srgbClr val="616263"/>
                </a:solidFill>
              </a:rPr>
              <a:t> 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616263"/>
                </a:solidFill>
              </a:rPr>
              <a:t>جمع الأعداد الفردية </a:t>
            </a:r>
            <a:r>
              <a:rPr lang="ar-SA" sz="1400" dirty="0" smtClean="0">
                <a:solidFill>
                  <a:srgbClr val="616263"/>
                </a:solidFill>
              </a:rPr>
              <a:t>ابتداء من ١ إلى أي عدد فردي س : </a:t>
            </a:r>
            <a:r>
              <a:rPr lang="ar-SA" sz="1400" dirty="0">
                <a:solidFill>
                  <a:srgbClr val="616263"/>
                </a:solidFill>
              </a:rPr>
              <a:t>المجموع = </a:t>
            </a:r>
            <a:r>
              <a:rPr lang="ar-SA" sz="1400" dirty="0" smtClean="0">
                <a:solidFill>
                  <a:srgbClr val="616263"/>
                </a:solidFill>
              </a:rPr>
              <a:t>نزيد 1 على اخر عدد ثم نقسم </a:t>
            </a:r>
            <a:r>
              <a:rPr lang="ar-SA" sz="1400" dirty="0" smtClean="0">
                <a:solidFill>
                  <a:srgbClr val="616263"/>
                </a:solidFill>
                <a:latin typeface="Arial"/>
              </a:rPr>
              <a:t>÷ 2 ثم نربع</a:t>
            </a:r>
            <a:r>
              <a:rPr lang="ar-SA" sz="1400" dirty="0" smtClean="0">
                <a:solidFill>
                  <a:srgbClr val="616263"/>
                </a:solidFill>
              </a:rPr>
              <a:t> </a:t>
            </a:r>
          </a:p>
          <a:p>
            <a:pPr algn="r" rtl="1"/>
            <a:r>
              <a:rPr lang="ar-SA" sz="1400" b="0" i="0" dirty="0" smtClean="0">
                <a:solidFill>
                  <a:srgbClr val="FF0000"/>
                </a:solidFill>
                <a:latin typeface="Arial"/>
              </a:rPr>
              <a:t>ملحوظة !!    </a:t>
            </a:r>
            <a:r>
              <a:rPr lang="ar-SA" sz="1400" b="0" i="0" dirty="0" smtClean="0">
                <a:solidFill>
                  <a:srgbClr val="054040"/>
                </a:solidFill>
                <a:latin typeface="Arial"/>
              </a:rPr>
              <a:t>س هو اخر عدد في المثال</a:t>
            </a:r>
            <a:endParaRPr sz="13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8747" y="2306848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616263"/>
                </a:solidFill>
              </a:rPr>
              <a:t>مثال: </a:t>
            </a:r>
            <a:r>
              <a:rPr lang="ar-SA" sz="1400" dirty="0" smtClean="0">
                <a:solidFill>
                  <a:srgbClr val="616263"/>
                </a:solidFill>
              </a:rPr>
              <a:t>١+٣+٥+٧+٩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055364"/>
            <a:ext cx="4096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جمع الأعداد الفردية</a:t>
            </a:r>
            <a:endParaRPr sz="1200" b="1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55364"/>
            <a:ext cx="4096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جمع الأعداد الزوجية</a:t>
            </a:r>
          </a:p>
          <a:p>
            <a:pPr algn="r" rtl="1"/>
            <a:endParaRPr lang="ar-SA" sz="1200" b="1" i="0" dirty="0" smtClean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20" name="مستطيل 19"/>
          <p:cNvSpPr/>
          <p:nvPr/>
        </p:nvSpPr>
        <p:spPr>
          <a:xfrm>
            <a:off x="5467350" y="4060571"/>
            <a:ext cx="1670050" cy="5599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smtClean="0">
                <a:solidFill>
                  <a:srgbClr val="EEB60D"/>
                </a:solidFill>
              </a:rPr>
              <a:t>س ( س + 2 )</a:t>
            </a:r>
            <a:endParaRPr lang="ar-SA" dirty="0">
              <a:solidFill>
                <a:srgbClr val="EEB60D"/>
              </a:solidFill>
            </a:endParaRPr>
          </a:p>
        </p:txBody>
      </p:sp>
      <p:cxnSp>
        <p:nvCxnSpPr>
          <p:cNvPr id="22" name="رابط مستقيم 21"/>
          <p:cNvCxnSpPr/>
          <p:nvPr/>
        </p:nvCxnSpPr>
        <p:spPr>
          <a:xfrm>
            <a:off x="5676900" y="4517029"/>
            <a:ext cx="127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مستطيل 22"/>
          <p:cNvSpPr/>
          <p:nvPr/>
        </p:nvSpPr>
        <p:spPr>
          <a:xfrm>
            <a:off x="5476875" y="4401312"/>
            <a:ext cx="1670050" cy="5599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>
                <a:solidFill>
                  <a:srgbClr val="EEB60D"/>
                </a:solidFill>
              </a:rPr>
              <a:t>4</a:t>
            </a:r>
          </a:p>
        </p:txBody>
      </p:sp>
      <p:sp>
        <p:nvSpPr>
          <p:cNvPr id="24" name="مستطيل 23"/>
          <p:cNvSpPr/>
          <p:nvPr/>
        </p:nvSpPr>
        <p:spPr>
          <a:xfrm>
            <a:off x="1334643" y="4149400"/>
            <a:ext cx="1670050" cy="5599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smtClean="0">
                <a:solidFill>
                  <a:srgbClr val="EEB60D"/>
                </a:solidFill>
              </a:rPr>
              <a:t>س + 1</a:t>
            </a:r>
            <a:endParaRPr lang="ar-SA" dirty="0">
              <a:solidFill>
                <a:srgbClr val="EEB60D"/>
              </a:solidFill>
            </a:endParaRPr>
          </a:p>
        </p:txBody>
      </p:sp>
      <p:cxnSp>
        <p:nvCxnSpPr>
          <p:cNvPr id="25" name="رابط مستقيم 24"/>
          <p:cNvCxnSpPr/>
          <p:nvPr/>
        </p:nvCxnSpPr>
        <p:spPr>
          <a:xfrm>
            <a:off x="1544193" y="4605858"/>
            <a:ext cx="127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مستطيل 25"/>
          <p:cNvSpPr/>
          <p:nvPr/>
        </p:nvSpPr>
        <p:spPr>
          <a:xfrm>
            <a:off x="1306132" y="4490212"/>
            <a:ext cx="1670050" cy="5599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smtClean="0">
                <a:solidFill>
                  <a:srgbClr val="EEB60D"/>
                </a:solidFill>
              </a:rPr>
              <a:t>2</a:t>
            </a:r>
            <a:endParaRPr lang="ar-SA" dirty="0">
              <a:solidFill>
                <a:srgbClr val="EEB60D"/>
              </a:solidFill>
            </a:endParaRPr>
          </a:p>
        </p:txBody>
      </p:sp>
      <p:sp>
        <p:nvSpPr>
          <p:cNvPr id="27" name="مستطيل 26"/>
          <p:cNvSpPr/>
          <p:nvPr/>
        </p:nvSpPr>
        <p:spPr>
          <a:xfrm>
            <a:off x="875856" y="4290643"/>
            <a:ext cx="908050" cy="39913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EEB60D"/>
                </a:solidFill>
              </a:rPr>
              <a:t>ثم نربع الناتج</a:t>
            </a:r>
            <a:endParaRPr lang="ar-SA" sz="1200" dirty="0">
              <a:solidFill>
                <a:srgbClr val="EEB60D"/>
              </a:solidFill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640080" y="2631107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 smtClean="0">
                <a:solidFill>
                  <a:srgbClr val="FF0000"/>
                </a:solidFill>
              </a:rPr>
              <a:t>الحـــــل</a:t>
            </a:r>
            <a:endParaRPr sz="1300" b="0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9" name="TextBox 10"/>
          <p:cNvSpPr txBox="1"/>
          <p:nvPr/>
        </p:nvSpPr>
        <p:spPr>
          <a:xfrm>
            <a:off x="-223456" y="2647589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 smtClean="0">
                <a:solidFill>
                  <a:srgbClr val="054040"/>
                </a:solidFill>
              </a:rPr>
              <a:t>9 + 1 = 5   بعدين اربع الــ 5 = 25</a:t>
            </a:r>
            <a:endParaRPr sz="1300" b="0" i="0" dirty="0">
              <a:solidFill>
                <a:srgbClr val="054040"/>
              </a:solidFill>
              <a:latin typeface="Arial"/>
            </a:endParaRPr>
          </a:p>
        </p:txBody>
      </p:sp>
      <p:cxnSp>
        <p:nvCxnSpPr>
          <p:cNvPr id="31" name="رابط مستقيم 30"/>
          <p:cNvCxnSpPr/>
          <p:nvPr/>
        </p:nvCxnSpPr>
        <p:spPr>
          <a:xfrm flipH="1">
            <a:off x="7721729" y="2884222"/>
            <a:ext cx="336548" cy="1"/>
          </a:xfrm>
          <a:prstGeom prst="line">
            <a:avLst/>
          </a:prstGeom>
          <a:ln>
            <a:solidFill>
              <a:srgbClr val="6162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0"/>
          <p:cNvSpPr txBox="1"/>
          <p:nvPr/>
        </p:nvSpPr>
        <p:spPr>
          <a:xfrm>
            <a:off x="-354203" y="2895271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 smtClean="0">
                <a:solidFill>
                  <a:srgbClr val="054040"/>
                </a:solidFill>
              </a:rPr>
              <a:t>2</a:t>
            </a:r>
            <a:endParaRPr sz="13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36" name="TextBox 10"/>
          <p:cNvSpPr txBox="1"/>
          <p:nvPr/>
        </p:nvSpPr>
        <p:spPr>
          <a:xfrm>
            <a:off x="6358144" y="2589629"/>
            <a:ext cx="1897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050" dirty="0" smtClean="0">
                <a:solidFill>
                  <a:srgbClr val="054040"/>
                </a:solidFill>
              </a:rPr>
              <a:t>2</a:t>
            </a:r>
            <a:endParaRPr sz="1300" b="0" i="0" dirty="0">
              <a:solidFill>
                <a:srgbClr val="054040"/>
              </a:solidFill>
              <a:latin typeface="Arial"/>
            </a:endParaRPr>
          </a:p>
        </p:txBody>
      </p:sp>
      <p:pic>
        <p:nvPicPr>
          <p:cNvPr id="10" name="صورة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22958"/>
            <a:ext cx="1766020" cy="25110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مجموع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الأعداد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الزوجية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من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٢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إلى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٢٠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١٠٠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١١٠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١٢٠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٩٠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نحدد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قيمة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س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أولاً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آخر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زوجي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٢٠  →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س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نطبق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القانون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dirty="0">
                <a:solidFill>
                  <a:srgbClr val="054040"/>
                </a:solidFill>
              </a:rPr>
              <a:t>المجموع = </a:t>
            </a:r>
            <a:r>
              <a:rPr lang="ar-SA" sz="1200" dirty="0" smtClean="0">
                <a:solidFill>
                  <a:srgbClr val="054040"/>
                </a:solidFill>
              </a:rPr>
              <a:t>س ( س+2)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÷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 4 </a:t>
            </a:r>
          </a:p>
          <a:p>
            <a:pPr algn="r" rtl="1"/>
            <a:r>
              <a:rPr lang="ar-SA" sz="1200" dirty="0" smtClean="0">
                <a:solidFill>
                  <a:srgbClr val="FF0000"/>
                </a:solidFill>
                <a:latin typeface="Arial"/>
              </a:rPr>
              <a:t>عوض</a:t>
            </a:r>
            <a:endParaRPr lang="ar-SA" sz="1200" b="0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4041648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</a:rPr>
              <a:t>20 (20 + 22) </a:t>
            </a:r>
            <a:r>
              <a:rPr lang="ar-SA" sz="1200" dirty="0">
                <a:solidFill>
                  <a:srgbClr val="054040"/>
                </a:solidFill>
              </a:rPr>
              <a:t>= </a:t>
            </a:r>
            <a:r>
              <a:rPr lang="ar-SA" sz="1200" dirty="0" smtClean="0">
                <a:solidFill>
                  <a:srgbClr val="054040"/>
                </a:solidFill>
              </a:rPr>
              <a:t>20× 22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÷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4 </a:t>
            </a:r>
            <a:r>
              <a:rPr lang="ar-SA" sz="1200" dirty="0" smtClean="0">
                <a:solidFill>
                  <a:srgbClr val="054040"/>
                </a:solidFill>
              </a:rPr>
              <a:t>= </a:t>
            </a:r>
            <a:r>
              <a:rPr lang="ar-SA" sz="1200" dirty="0">
                <a:solidFill>
                  <a:srgbClr val="054040"/>
                </a:solidFill>
              </a:rPr>
              <a:t>١١٠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44398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أ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١١٠  ✓</a:t>
            </a:r>
          </a:p>
        </p:txBody>
      </p:sp>
      <p:pic>
        <p:nvPicPr>
          <p:cNvPr id="22" name="صورة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364" y="3415969"/>
            <a:ext cx="1521048" cy="6256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مجموع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أول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٨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أعداد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فردية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ابتداءً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من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١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٥٦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٦٤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٧٢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٨١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أول 8 اعداد هم   ( 1 + 3 + 5 + 7 +9  + 11 + 13 + 15)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  <a:latin typeface="Arial"/>
              </a:rPr>
              <a:t>نحدد قيمة س أولاً:  آخر عدد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فردي = 15 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→  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" y="3907536"/>
            <a:ext cx="8449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المجموع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س +  1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÷ 2 ثم نربع</a:t>
            </a:r>
          </a:p>
          <a:p>
            <a:pPr algn="r" rtl="1"/>
            <a:r>
              <a:rPr lang="ar-SA" sz="1200" b="0" i="0" dirty="0" smtClean="0">
                <a:solidFill>
                  <a:srgbClr val="FF0000"/>
                </a:solidFill>
                <a:latin typeface="Arial"/>
              </a:rPr>
              <a:t>عوض </a:t>
            </a:r>
            <a:endParaRPr sz="1200" b="0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321123"/>
            <a:ext cx="84490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</a:rPr>
              <a:t>15 + 1 </a:t>
            </a:r>
            <a:r>
              <a:rPr lang="ar-SA" sz="1200" dirty="0">
                <a:solidFill>
                  <a:srgbClr val="054040"/>
                </a:solidFill>
              </a:rPr>
              <a:t>= </a:t>
            </a:r>
            <a:r>
              <a:rPr lang="ar-SA" sz="1200" dirty="0" smtClean="0">
                <a:solidFill>
                  <a:srgbClr val="054040"/>
                </a:solidFill>
              </a:rPr>
              <a:t>16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÷ 2 </a:t>
            </a:r>
            <a:r>
              <a:rPr lang="ar-SA" sz="1200" dirty="0">
                <a:solidFill>
                  <a:srgbClr val="054040"/>
                </a:solidFill>
              </a:rPr>
              <a:t>= </a:t>
            </a:r>
            <a:r>
              <a:rPr lang="ar-SA" sz="1200" dirty="0" smtClean="0">
                <a:solidFill>
                  <a:srgbClr val="054040"/>
                </a:solidFill>
              </a:rPr>
              <a:t>8 ثم نربع 8 = 64</a:t>
            </a:r>
            <a:endParaRPr lang="ar-SA" sz="1200" dirty="0">
              <a:solidFill>
                <a:srgbClr val="054040"/>
              </a:solidFill>
              <a:latin typeface="Arial"/>
            </a:endParaRPr>
          </a:p>
          <a:p>
            <a:pPr algn="r" rtl="1"/>
            <a:endParaRPr lang="ar-SA" sz="1200" b="0" i="0" dirty="0" smtClean="0">
              <a:solidFill>
                <a:srgbClr val="054040"/>
              </a:solidFill>
              <a:latin typeface="Arial"/>
            </a:endParaRPr>
          </a:p>
          <a:p>
            <a:pPr algn="r" rtl="1"/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✓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أ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٦٤</a:t>
            </a:r>
          </a:p>
        </p:txBody>
      </p:sp>
      <p:pic>
        <p:nvPicPr>
          <p:cNvPr id="22" name="صورة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450844"/>
            <a:ext cx="1920247" cy="630174"/>
          </a:xfrm>
          <a:prstGeom prst="rect">
            <a:avLst/>
          </a:prstGeom>
        </p:spPr>
      </p:pic>
      <p:sp>
        <p:nvSpPr>
          <p:cNvPr id="23" name="TextBox 10"/>
          <p:cNvSpPr txBox="1"/>
          <p:nvPr/>
        </p:nvSpPr>
        <p:spPr>
          <a:xfrm>
            <a:off x="7012067" y="4256684"/>
            <a:ext cx="1897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050" dirty="0" smtClean="0">
                <a:solidFill>
                  <a:srgbClr val="054040"/>
                </a:solidFill>
              </a:rPr>
              <a:t>2</a:t>
            </a:r>
            <a:endParaRPr sz="13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الضرب وقسمة الأعداد الكبيرة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>
                <a:solidFill>
                  <a:srgbClr val="FFC107"/>
                </a:solidFill>
                <a:latin typeface="Arial"/>
              </a:rPr>
              <a:t>الموضوع ٦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444444"/>
                </a:solidFill>
                <a:latin typeface="Arial"/>
              </a:rPr>
              <a:t>لتحديد آحاد ناتج الضرب: نضرب آحاد الأعداد فقط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مثال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٧٢</a:t>
            </a:r>
            <a:r>
              <a:rPr sz="1300" b="0" i="0" dirty="0">
                <a:solidFill>
                  <a:srgbClr val="FF0000"/>
                </a:solidFill>
                <a:latin typeface="Arial"/>
              </a:rPr>
              <a:t>٣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× ١٥</a:t>
            </a:r>
            <a:r>
              <a:rPr sz="1300" b="0" i="0" dirty="0">
                <a:solidFill>
                  <a:srgbClr val="FF0000"/>
                </a:solidFill>
                <a:latin typeface="Arial"/>
              </a:rPr>
              <a:t>٢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→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آحاد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الناتج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=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آحاد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400" dirty="0" smtClean="0">
                <a:solidFill>
                  <a:srgbClr val="616263"/>
                </a:solidFill>
              </a:rPr>
              <a:t>(</a:t>
            </a:r>
            <a:r>
              <a:rPr lang="ar-SA" sz="1400" dirty="0">
                <a:solidFill>
                  <a:srgbClr val="FF0000"/>
                </a:solidFill>
              </a:rPr>
              <a:t>٣</a:t>
            </a:r>
            <a:r>
              <a:rPr lang="ar-SA" sz="1400" dirty="0">
                <a:solidFill>
                  <a:srgbClr val="616263"/>
                </a:solidFill>
              </a:rPr>
              <a:t> × </a:t>
            </a:r>
            <a:r>
              <a:rPr lang="ar-SA" sz="1400" dirty="0">
                <a:solidFill>
                  <a:srgbClr val="FF0000"/>
                </a:solidFill>
              </a:rPr>
              <a:t>٢</a:t>
            </a:r>
            <a:r>
              <a:rPr lang="ar-SA" sz="1400" dirty="0">
                <a:solidFill>
                  <a:srgbClr val="616263"/>
                </a:solidFill>
              </a:rPr>
              <a:t>) = </a:t>
            </a:r>
            <a:r>
              <a:rPr lang="ar-SA" sz="1400" dirty="0" smtClean="0">
                <a:solidFill>
                  <a:srgbClr val="616263"/>
                </a:solidFill>
              </a:rPr>
              <a:t>الاحاد ٦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لتحديد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خانة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العشرات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نضرب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أول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رقمين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العدد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الأول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×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أول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رقمين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الثاني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من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الأكبر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عند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الضرب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: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الزيادة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في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كل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قيمة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تحدد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القيمة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الأكبر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(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قارن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المعدلات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)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753612"/>
            <a:ext cx="848563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53612"/>
            <a:ext cx="848563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8394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2650" y="4055364"/>
            <a:ext cx="2751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 dirty="0" err="1">
                <a:solidFill>
                  <a:srgbClr val="FFC107"/>
                </a:solidFill>
                <a:latin typeface="Arial"/>
              </a:rPr>
              <a:t>آحاد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C107"/>
                </a:solidFill>
                <a:latin typeface="Arial"/>
              </a:rPr>
              <a:t>الضرب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 =
</a:t>
            </a:r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اول رقم من العدد الأول</a:t>
            </a:r>
            <a:r>
              <a:rPr sz="1200" b="1" i="0" dirty="0" smtClean="0">
                <a:solidFill>
                  <a:srgbClr val="FFC107"/>
                </a:solidFill>
                <a:latin typeface="Arial"/>
              </a:rPr>
              <a:t>× </a:t>
            </a:r>
            <a:r>
              <a:rPr lang="ar-SA" sz="1200" b="1" dirty="0">
                <a:solidFill>
                  <a:srgbClr val="FFC107"/>
                </a:solidFill>
                <a:latin typeface="Arial"/>
              </a:rPr>
              <a:t>اول رقم من العدد </a:t>
            </a:r>
            <a:r>
              <a:rPr lang="ar-SA" sz="1200" b="1" dirty="0" smtClean="0">
                <a:solidFill>
                  <a:srgbClr val="FFC107"/>
                </a:solidFill>
                <a:latin typeface="Arial"/>
              </a:rPr>
              <a:t>الثاني</a:t>
            </a:r>
            <a:endParaRPr sz="1200" b="1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2609468" y="4091940"/>
            <a:ext cx="28277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عشرات </a:t>
            </a:r>
            <a:r>
              <a:rPr sz="1200" b="1" i="0" dirty="0" err="1" smtClean="0">
                <a:solidFill>
                  <a:srgbClr val="FFC107"/>
                </a:solidFill>
                <a:latin typeface="Arial"/>
              </a:rPr>
              <a:t>الضرب</a:t>
            </a:r>
            <a:r>
              <a:rPr sz="1200" b="1" i="0" dirty="0" smtClean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=
</a:t>
            </a:r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ثاني رقم من العدد الأول</a:t>
            </a:r>
            <a:r>
              <a:rPr sz="1200" b="1" i="0" dirty="0" smtClean="0">
                <a:solidFill>
                  <a:srgbClr val="FFC107"/>
                </a:solidFill>
                <a:latin typeface="Arial"/>
              </a:rPr>
              <a:t>×</a:t>
            </a:r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smtClean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200" b="1" dirty="0">
                <a:solidFill>
                  <a:srgbClr val="FFC107"/>
                </a:solidFill>
                <a:latin typeface="Arial"/>
              </a:rPr>
              <a:t>ثاني رقم من العدد </a:t>
            </a:r>
            <a:r>
              <a:rPr lang="ar-SA" sz="1200" b="1" dirty="0" smtClean="0">
                <a:solidFill>
                  <a:srgbClr val="FFC107"/>
                </a:solidFill>
                <a:latin typeface="Arial"/>
              </a:rPr>
              <a:t>الثاني</a:t>
            </a:r>
            <a:endParaRPr sz="1200" b="1" i="0" dirty="0">
              <a:solidFill>
                <a:srgbClr val="FFC107"/>
              </a:solidFill>
              <a:latin typeface="Arial"/>
            </a:endParaRPr>
          </a:p>
        </p:txBody>
      </p:sp>
      <p:pic>
        <p:nvPicPr>
          <p:cNvPr id="17" name="صورة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0666"/>
            <a:ext cx="1977561" cy="1907099"/>
          </a:xfrm>
          <a:prstGeom prst="rect">
            <a:avLst/>
          </a:prstGeom>
        </p:spPr>
      </p:pic>
      <p:pic>
        <p:nvPicPr>
          <p:cNvPr id="18" name="صورة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431" y="2706403"/>
            <a:ext cx="1776784" cy="9832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آحاد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ناتج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: ٤٥٣٢ × ٣٧٥٧٦٥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ب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صفر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٣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لإيجاد رقم الآحاد نهتم فقط بآحاد كل عدد: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آحاد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٤٥٣٢ =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٢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  ، 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آحاد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٣٧٥٧٦٥ =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٥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نضرب الآحاد فقط:  ٢ × ٥ = ١٠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33425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رقم الآحاد في ١٠ = صفر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470001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ب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صفر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قارن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: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القيمة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الأولى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١١٢ ×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٩٧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 VS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القيمة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الثانية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١١١ × ٩٨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الأولى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أكبر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الثانية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أكبر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متساويتان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لا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يمكن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المقارنة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0632" y="3278493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نحط مكان العدد الأكبر 1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الأول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١١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2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×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٩٧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نحط 1 مكان العدد الأكبر 112 يصبح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1 ×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97 = 97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4414" y="405057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الثاني ١١1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×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٩8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نحط 1 مكان العدد الأكبر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111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يصبح 1 ×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98 = 98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3464" y="4458069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الثانية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أكبر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لأن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97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&gt;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98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✓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أ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الثانية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أكبر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 dirty="0" err="1">
                <a:solidFill>
                  <a:srgbClr val="FFFFFF"/>
                </a:solidFill>
                <a:latin typeface="Arial"/>
              </a:rPr>
              <a:t>عدد</a:t>
            </a:r>
            <a:r>
              <a:rPr sz="24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Arial"/>
              </a:rPr>
              <a:t>المباريات</a:t>
            </a:r>
            <a:r>
              <a:rPr sz="24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400" b="1" i="0" dirty="0" smtClean="0">
                <a:solidFill>
                  <a:srgbClr val="FFFFFF"/>
                </a:solidFill>
                <a:latin typeface="Arial"/>
              </a:rPr>
              <a:t>–</a:t>
            </a:r>
            <a:r>
              <a:rPr lang="ar-SA" sz="24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4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400" b="1" i="0" dirty="0" err="1" smtClean="0">
                <a:solidFill>
                  <a:srgbClr val="FFFFFF"/>
                </a:solidFill>
                <a:latin typeface="Arial"/>
              </a:rPr>
              <a:t>المصافحات</a:t>
            </a:r>
            <a:r>
              <a:rPr lang="ar-SA" sz="24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400" b="1" i="0" dirty="0" smtClean="0">
                <a:solidFill>
                  <a:srgbClr val="FFFFFF"/>
                </a:solidFill>
                <a:latin typeface="Arial"/>
              </a:rPr>
              <a:t>–</a:t>
            </a:r>
            <a:r>
              <a:rPr lang="ar-SA" sz="24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4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400" b="1" i="0" dirty="0" err="1" smtClean="0">
                <a:solidFill>
                  <a:srgbClr val="FFFFFF"/>
                </a:solidFill>
                <a:latin typeface="Arial"/>
              </a:rPr>
              <a:t>الهدايا</a:t>
            </a:r>
            <a:r>
              <a:rPr lang="ar-SA" sz="2400" b="1" dirty="0">
                <a:solidFill>
                  <a:srgbClr val="FFFFFF"/>
                </a:solidFill>
                <a:latin typeface="Arial"/>
              </a:rPr>
              <a:t> – </a:t>
            </a:r>
            <a:r>
              <a:rPr lang="ar-SA" sz="2400" b="1" dirty="0" err="1" smtClean="0">
                <a:solidFill>
                  <a:srgbClr val="FFFFFF"/>
                </a:solidFill>
                <a:latin typeface="Arial"/>
              </a:rPr>
              <a:t>أستخدام</a:t>
            </a:r>
            <a:r>
              <a:rPr lang="ar-SA" sz="2400" b="1" dirty="0" smtClean="0">
                <a:solidFill>
                  <a:srgbClr val="FFFFFF"/>
                </a:solidFill>
                <a:latin typeface="Arial"/>
              </a:rPr>
              <a:t> الألة </a:t>
            </a:r>
            <a:r>
              <a:rPr lang="ar-SA" sz="2400" b="1" dirty="0">
                <a:solidFill>
                  <a:srgbClr val="FFFFFF"/>
                </a:solidFill>
                <a:latin typeface="Arial"/>
              </a:rPr>
              <a:t>– </a:t>
            </a:r>
            <a:r>
              <a:rPr lang="ar-SA" sz="2400" b="1" dirty="0" smtClean="0">
                <a:solidFill>
                  <a:srgbClr val="FFFFFF"/>
                </a:solidFill>
                <a:latin typeface="Arial"/>
              </a:rPr>
              <a:t>المشابك</a:t>
            </a:r>
            <a:endParaRPr sz="24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928" y="-22133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٧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616263"/>
                </a:solidFill>
              </a:rPr>
              <a:t>عدد المباريات بين س فريق أو </a:t>
            </a:r>
            <a:r>
              <a:rPr lang="ar-SA" sz="1400" dirty="0" smtClean="0">
                <a:solidFill>
                  <a:srgbClr val="616263"/>
                </a:solidFill>
              </a:rPr>
              <a:t>شخص : </a:t>
            </a:r>
            <a:r>
              <a:rPr lang="ar-SA" sz="1400" dirty="0">
                <a:solidFill>
                  <a:srgbClr val="616263"/>
                </a:solidFill>
              </a:rPr>
              <a:t>س × (س−١) ÷ </a:t>
            </a:r>
            <a:r>
              <a:rPr lang="ar-SA" sz="1400" dirty="0" smtClean="0">
                <a:solidFill>
                  <a:srgbClr val="616263"/>
                </a:solidFill>
              </a:rPr>
              <a:t>٢  ولو في اكثر من مواجهه نضرب في عدد المواجهات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616263"/>
                </a:solidFill>
              </a:rPr>
              <a:t>عدد المصافحات بين س </a:t>
            </a:r>
            <a:r>
              <a:rPr lang="ar-SA" sz="1400" dirty="0" smtClean="0">
                <a:solidFill>
                  <a:srgbClr val="616263"/>
                </a:solidFill>
              </a:rPr>
              <a:t>شخص : </a:t>
            </a:r>
            <a:r>
              <a:rPr lang="ar-SA" sz="1400" dirty="0">
                <a:solidFill>
                  <a:srgbClr val="616263"/>
                </a:solidFill>
              </a:rPr>
              <a:t>نفس القانون → س(س−١) ÷ ٢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616263"/>
                </a:solidFill>
              </a:rPr>
              <a:t>عدد </a:t>
            </a:r>
            <a:r>
              <a:rPr lang="ar-SA" sz="1400" dirty="0" smtClean="0">
                <a:solidFill>
                  <a:srgbClr val="616263"/>
                </a:solidFill>
              </a:rPr>
              <a:t>الهدايا : </a:t>
            </a:r>
            <a:r>
              <a:rPr lang="ar-SA" sz="1400" dirty="0">
                <a:solidFill>
                  <a:srgbClr val="616263"/>
                </a:solidFill>
              </a:rPr>
              <a:t>س × (س−١)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055364"/>
            <a:ext cx="4096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ال</a:t>
            </a:r>
            <a:r>
              <a:rPr sz="1200" b="1" i="0" dirty="0" err="1" smtClean="0">
                <a:solidFill>
                  <a:srgbClr val="FFC107"/>
                </a:solidFill>
                <a:latin typeface="Arial"/>
              </a:rPr>
              <a:t>مباريات</a:t>
            </a:r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smtClean="0">
                <a:solidFill>
                  <a:srgbClr val="FFC107"/>
                </a:solidFill>
                <a:latin typeface="Arial"/>
              </a:rPr>
              <a:t>/</a:t>
            </a:r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 عدد ال</a:t>
            </a:r>
            <a:r>
              <a:rPr sz="1200" b="1" i="0" dirty="0" err="1" smtClean="0">
                <a:solidFill>
                  <a:srgbClr val="FFC107"/>
                </a:solidFill>
                <a:latin typeface="Arial"/>
              </a:rPr>
              <a:t>مصافحات</a:t>
            </a:r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smtClean="0">
                <a:solidFill>
                  <a:srgbClr val="FFC107"/>
                </a:solidFill>
                <a:latin typeface="Arial"/>
              </a:rPr>
              <a:t>: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
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55364"/>
            <a:ext cx="4096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عدد الهدايا :</a:t>
            </a:r>
            <a:endParaRPr sz="1200" b="1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20" name="مستطيل 19"/>
          <p:cNvSpPr/>
          <p:nvPr/>
        </p:nvSpPr>
        <p:spPr>
          <a:xfrm>
            <a:off x="5467350" y="4060571"/>
            <a:ext cx="1670050" cy="5599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smtClean="0">
                <a:solidFill>
                  <a:srgbClr val="EEB60D"/>
                </a:solidFill>
              </a:rPr>
              <a:t>س ( س - 1 )</a:t>
            </a:r>
            <a:endParaRPr lang="ar-SA" dirty="0">
              <a:solidFill>
                <a:srgbClr val="EEB60D"/>
              </a:solidFill>
            </a:endParaRPr>
          </a:p>
        </p:txBody>
      </p:sp>
      <p:sp>
        <p:nvSpPr>
          <p:cNvPr id="22" name="مستطيل 21"/>
          <p:cNvSpPr/>
          <p:nvPr/>
        </p:nvSpPr>
        <p:spPr>
          <a:xfrm>
            <a:off x="841375" y="4499930"/>
            <a:ext cx="1670050" cy="5599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smtClean="0">
                <a:solidFill>
                  <a:srgbClr val="EEB60D"/>
                </a:solidFill>
              </a:rPr>
              <a:t>2</a:t>
            </a:r>
            <a:endParaRPr lang="ar-SA" dirty="0">
              <a:solidFill>
                <a:srgbClr val="EEB60D"/>
              </a:solidFill>
            </a:endParaRPr>
          </a:p>
        </p:txBody>
      </p:sp>
      <p:sp>
        <p:nvSpPr>
          <p:cNvPr id="23" name="مستطيل 22"/>
          <p:cNvSpPr/>
          <p:nvPr/>
        </p:nvSpPr>
        <p:spPr>
          <a:xfrm>
            <a:off x="831850" y="4114891"/>
            <a:ext cx="1670050" cy="55994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smtClean="0">
                <a:solidFill>
                  <a:srgbClr val="EEB60D"/>
                </a:solidFill>
              </a:rPr>
              <a:t>س ( س - 1 )</a:t>
            </a:r>
            <a:endParaRPr lang="ar-SA" dirty="0">
              <a:solidFill>
                <a:srgbClr val="EEB60D"/>
              </a:solidFill>
            </a:endParaRPr>
          </a:p>
        </p:txBody>
      </p:sp>
      <p:cxnSp>
        <p:nvCxnSpPr>
          <p:cNvPr id="24" name="رابط مستقيم 23"/>
          <p:cNvCxnSpPr/>
          <p:nvPr/>
        </p:nvCxnSpPr>
        <p:spPr>
          <a:xfrm>
            <a:off x="1041400" y="4571349"/>
            <a:ext cx="127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9"/>
          <p:cNvSpPr txBox="1"/>
          <p:nvPr/>
        </p:nvSpPr>
        <p:spPr>
          <a:xfrm>
            <a:off x="411480" y="2408673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 err="1" smtClean="0">
                <a:solidFill>
                  <a:srgbClr val="616263"/>
                </a:solidFill>
              </a:rPr>
              <a:t>أستخدام</a:t>
            </a:r>
            <a:r>
              <a:rPr lang="ar-SA" sz="1400" dirty="0" smtClean="0">
                <a:solidFill>
                  <a:srgbClr val="616263"/>
                </a:solidFill>
              </a:rPr>
              <a:t> الألة : عدد القطع - 1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sp>
        <p:nvSpPr>
          <p:cNvPr id="26" name="TextBox 9"/>
          <p:cNvSpPr txBox="1"/>
          <p:nvPr/>
        </p:nvSpPr>
        <p:spPr>
          <a:xfrm>
            <a:off x="411480" y="2777451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 smtClean="0">
                <a:solidFill>
                  <a:srgbClr val="616263"/>
                </a:solidFill>
              </a:rPr>
              <a:t>المشابك : عدد القطع + 1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pic>
        <p:nvPicPr>
          <p:cNvPr id="11" name="صورة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93" y="2831479"/>
            <a:ext cx="1456574" cy="884725"/>
          </a:xfrm>
          <a:prstGeom prst="rect">
            <a:avLst/>
          </a:prstGeom>
        </p:spPr>
      </p:pic>
      <p:pic>
        <p:nvPicPr>
          <p:cNvPr id="21" name="صورة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599" y="1632780"/>
            <a:ext cx="1285662" cy="1144672"/>
          </a:xfrm>
          <a:prstGeom prst="rect">
            <a:avLst/>
          </a:prstGeom>
        </p:spPr>
      </p:pic>
      <p:pic>
        <p:nvPicPr>
          <p:cNvPr id="27" name="صورة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278434"/>
            <a:ext cx="1781032" cy="24354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دوري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فيه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١٠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فرق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مباراة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تُلعب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إذا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لعب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كل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فريق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مع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الآخر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مرة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واحدة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فقط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٤٠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٤٥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٥٠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٥٥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نطبق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قانون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المباريات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10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فرق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اذن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س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=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١٠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المباريات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 smtClean="0">
                <a:solidFill>
                  <a:srgbClr val="054040"/>
                </a:solidFill>
              </a:rPr>
              <a:t>س </a:t>
            </a:r>
            <a:r>
              <a:rPr lang="ar-SA" sz="1200" dirty="0">
                <a:solidFill>
                  <a:srgbClr val="054040"/>
                </a:solidFill>
              </a:rPr>
              <a:t>× (س−١) ÷ </a:t>
            </a:r>
            <a:r>
              <a:rPr lang="ar-SA" sz="1200" dirty="0" smtClean="0">
                <a:solidFill>
                  <a:srgbClr val="054040"/>
                </a:solidFill>
              </a:rPr>
              <a:t>٢ </a:t>
            </a:r>
          </a:p>
          <a:p>
            <a:pPr algn="r" rtl="1"/>
            <a:r>
              <a:rPr lang="ar-SA" sz="1200" dirty="0" smtClean="0">
                <a:solidFill>
                  <a:srgbClr val="FF0000"/>
                </a:solidFill>
              </a:rPr>
              <a:t>عوض </a:t>
            </a:r>
            <a:endParaRPr sz="1200" b="0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</a:rPr>
              <a:t>10 × </a:t>
            </a:r>
            <a:r>
              <a:rPr lang="ar-SA" sz="1200" dirty="0">
                <a:solidFill>
                  <a:srgbClr val="054040"/>
                </a:solidFill>
              </a:rPr>
              <a:t>(١٠−١) ÷ ٢ = ١٠ × ٩ ÷ </a:t>
            </a:r>
            <a:r>
              <a:rPr lang="ar-SA" sz="1200" dirty="0" smtClean="0">
                <a:solidFill>
                  <a:srgbClr val="054040"/>
                </a:solidFill>
              </a:rPr>
              <a:t>٢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4320" y="423367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= ٩٠ ÷ ٢  =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٤٥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مباراة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" y="456151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أ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٤٥  ✓</a:t>
            </a:r>
          </a:p>
        </p:txBody>
      </p:sp>
      <p:pic>
        <p:nvPicPr>
          <p:cNvPr id="23" name="صورة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983" y="3342996"/>
            <a:ext cx="1379609" cy="625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في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حفل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 smtClean="0">
                <a:solidFill>
                  <a:srgbClr val="0D2B55"/>
                </a:solidFill>
                <a:latin typeface="Arial"/>
              </a:rPr>
              <a:t>حضره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٨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أشخاص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وصافح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كل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منهم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 smtClean="0">
                <a:solidFill>
                  <a:srgbClr val="0D2B55"/>
                </a:solidFill>
                <a:latin typeface="Arial"/>
              </a:rPr>
              <a:t>الآخرين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مصافحة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حدثت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؟</a:t>
            </a:r>
            <a:endParaRPr b="0" i="0" dirty="0">
              <a:solidFill>
                <a:srgbClr val="0D2B55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٢٤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أ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٢٨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٣٢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٥٦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نطبق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نفس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قانون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المباريات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لأن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المصافحة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تحسب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مرة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واحدة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المصافحات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>
                <a:solidFill>
                  <a:srgbClr val="054040"/>
                </a:solidFill>
              </a:rPr>
              <a:t>س × (س−١) ÷ ٢ </a:t>
            </a:r>
            <a:endParaRPr lang="ar-SA" sz="1200" dirty="0" smtClean="0">
              <a:solidFill>
                <a:srgbClr val="054040"/>
              </a:solidFill>
            </a:endParaRPr>
          </a:p>
          <a:p>
            <a:pPr algn="r" rtl="1"/>
            <a:r>
              <a:rPr lang="ar-SA" sz="1200" b="0" i="0" dirty="0" smtClean="0">
                <a:solidFill>
                  <a:srgbClr val="FF0000"/>
                </a:solidFill>
                <a:latin typeface="Arial"/>
              </a:rPr>
              <a:t>عوض</a:t>
            </a:r>
            <a:endParaRPr sz="1200" b="0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4041648"/>
            <a:ext cx="8449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smtClean="0">
                <a:solidFill>
                  <a:srgbClr val="054040"/>
                </a:solidFill>
                <a:latin typeface="Arial"/>
              </a:rPr>
              <a:t>٨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× ٧ ÷ ٢  =  ٥٦ ÷ ٢ </a:t>
            </a:r>
            <a:endParaRPr lang="ar-SA" sz="1200" b="0" i="0" dirty="0" smtClean="0">
              <a:solidFill>
                <a:srgbClr val="054040"/>
              </a:solidFill>
              <a:latin typeface="Arial"/>
            </a:endParaRPr>
          </a:p>
          <a:p>
            <a:pPr algn="r" rtl="1"/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٢٨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مصافحة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44398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smtClean="0">
                <a:solidFill>
                  <a:srgbClr val="054040"/>
                </a:solidFill>
                <a:latin typeface="Arial"/>
              </a:rPr>
              <a:t>✓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الإجابة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أ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٢٨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pic>
        <p:nvPicPr>
          <p:cNvPr id="22" name="صورة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222" y="3296712"/>
            <a:ext cx="1226778" cy="5831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 dirty="0" err="1">
                <a:solidFill>
                  <a:srgbClr val="FFFFFF"/>
                </a:solidFill>
                <a:latin typeface="Arial"/>
              </a:rPr>
              <a:t>عدد</a:t>
            </a:r>
            <a:r>
              <a:rPr sz="25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FFFFFF"/>
                </a:solidFill>
                <a:latin typeface="Arial"/>
              </a:rPr>
              <a:t>الأعمدة</a:t>
            </a:r>
            <a:r>
              <a:rPr sz="25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500" b="1" i="0" dirty="0" err="1" smtClean="0">
                <a:solidFill>
                  <a:srgbClr val="FFFFFF"/>
                </a:solidFill>
                <a:latin typeface="Arial"/>
              </a:rPr>
              <a:t>والأشجار</a:t>
            </a:r>
            <a:r>
              <a:rPr lang="ar-SA" sz="2500" b="1" i="0" dirty="0" smtClean="0">
                <a:solidFill>
                  <a:srgbClr val="FFFFFF"/>
                </a:solidFill>
                <a:latin typeface="Arial"/>
              </a:rPr>
              <a:t> والمربعات</a:t>
            </a:r>
            <a:r>
              <a:rPr sz="25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FFFFFF"/>
                </a:solidFill>
                <a:latin typeface="Arial"/>
              </a:rPr>
              <a:t>والمستطيلات</a:t>
            </a:r>
            <a:r>
              <a:rPr sz="25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FFFFFF"/>
                </a:solidFill>
                <a:latin typeface="Arial"/>
              </a:rPr>
              <a:t>والمثلثات</a:t>
            </a:r>
            <a:endParaRPr sz="25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26781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٨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616263"/>
                </a:solidFill>
                <a:latin typeface="Arial"/>
              </a:rPr>
              <a:t>عدد</a:t>
            </a:r>
            <a:r>
              <a:rPr sz="1300" b="0" i="0" dirty="0">
                <a:solidFill>
                  <a:srgbClr val="616263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616263"/>
                </a:solidFill>
                <a:latin typeface="Arial"/>
              </a:rPr>
              <a:t>العلامات</a:t>
            </a:r>
            <a:r>
              <a:rPr lang="ar-SA" sz="1300" b="0" i="0" dirty="0" smtClean="0">
                <a:solidFill>
                  <a:srgbClr val="616263"/>
                </a:solidFill>
                <a:latin typeface="Arial"/>
              </a:rPr>
              <a:t> أو </a:t>
            </a:r>
            <a:r>
              <a:rPr sz="1300" b="0" i="0" dirty="0" err="1" smtClean="0">
                <a:solidFill>
                  <a:srgbClr val="616263"/>
                </a:solidFill>
                <a:latin typeface="Arial"/>
              </a:rPr>
              <a:t>الأشجارعلى</a:t>
            </a:r>
            <a:r>
              <a:rPr sz="1300" b="0" i="0" dirty="0" smtClean="0">
                <a:solidFill>
                  <a:srgbClr val="616263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616263"/>
                </a:solidFill>
                <a:latin typeface="Arial"/>
              </a:rPr>
              <a:t>طريق</a:t>
            </a:r>
            <a:r>
              <a:rPr sz="1300" b="0" i="0" dirty="0" smtClean="0">
                <a:solidFill>
                  <a:srgbClr val="616263"/>
                </a:solidFill>
                <a:latin typeface="Arial"/>
              </a:rPr>
              <a:t>:</a:t>
            </a:r>
            <a:r>
              <a:rPr lang="ar-SA" sz="1300" b="0" i="0" dirty="0" smtClean="0">
                <a:solidFill>
                  <a:srgbClr val="616263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616263"/>
                </a:solidFill>
                <a:latin typeface="Arial"/>
              </a:rPr>
              <a:t> </a:t>
            </a:r>
            <a:r>
              <a:rPr lang="ar-SA" sz="1400" dirty="0">
                <a:solidFill>
                  <a:srgbClr val="616263"/>
                </a:solidFill>
              </a:rPr>
              <a:t>المسافة الكلية ÷ المسافة البينية + ١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444444"/>
                </a:solidFill>
                <a:latin typeface="Arial"/>
              </a:rPr>
              <a:t>عدد المسافات البينية = عدد العلامات − 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1663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عدد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المستطيلات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في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شكل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: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مجموع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الأفقي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×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مجموع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الراسي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1710" y="2754966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616263"/>
                </a:solidFill>
              </a:rPr>
              <a:t>عدد المثلثات في رأس واحد: </a:t>
            </a:r>
            <a:r>
              <a:rPr lang="ar-SA" sz="1400" dirty="0" smtClean="0">
                <a:solidFill>
                  <a:srgbClr val="616263"/>
                </a:solidFill>
              </a:rPr>
              <a:t>س </a:t>
            </a:r>
            <a:r>
              <a:rPr lang="ar-SA" sz="1400" dirty="0">
                <a:solidFill>
                  <a:srgbClr val="616263"/>
                </a:solidFill>
              </a:rPr>
              <a:t>× </a:t>
            </a:r>
            <a:r>
              <a:rPr lang="ar-SA" sz="1400" dirty="0" smtClean="0">
                <a:solidFill>
                  <a:srgbClr val="616263"/>
                </a:solidFill>
              </a:rPr>
              <a:t>(س−</a:t>
            </a:r>
            <a:r>
              <a:rPr lang="ar-SA" sz="1400" dirty="0">
                <a:solidFill>
                  <a:srgbClr val="616263"/>
                </a:solidFill>
              </a:rPr>
              <a:t>١) ÷ ٢</a:t>
            </a:r>
            <a:r>
              <a:rPr sz="1300" b="0" i="0" dirty="0" smtClean="0">
                <a:solidFill>
                  <a:srgbClr val="616263"/>
                </a:solidFill>
                <a:latin typeface="Arial"/>
              </a:rPr>
              <a:t> 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حيث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س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=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عدد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FF0000"/>
                </a:solidFill>
                <a:latin typeface="Arial"/>
              </a:rPr>
              <a:t>الأضلاع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في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المثلث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055364"/>
            <a:ext cx="4096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EEB60D"/>
                </a:solidFill>
              </a:rPr>
              <a:t>عدد المثلثات في رأس </a:t>
            </a:r>
            <a:r>
              <a:rPr lang="ar-SA" sz="1200" dirty="0" smtClean="0">
                <a:solidFill>
                  <a:srgbClr val="EEB60D"/>
                </a:solidFill>
              </a:rPr>
              <a:t>واحد = </a:t>
            </a:r>
          </a:p>
          <a:p>
            <a:pPr algn="r" rtl="1"/>
            <a:endParaRPr lang="ar-SA" sz="1200" dirty="0" smtClean="0">
              <a:solidFill>
                <a:srgbClr val="EEB60D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55364"/>
            <a:ext cx="40965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EEB60D"/>
                </a:solidFill>
                <a:latin typeface="Arial"/>
              </a:rPr>
              <a:t>عدد العلامات أو الأشجار</a:t>
            </a:r>
            <a:r>
              <a:rPr sz="1200" b="1" i="0" dirty="0" smtClean="0">
                <a:solidFill>
                  <a:srgbClr val="EEB60D"/>
                </a:solidFill>
                <a:latin typeface="Arial"/>
              </a:rPr>
              <a:t>=</a:t>
            </a:r>
            <a:r>
              <a:rPr sz="1200" b="1" i="0" dirty="0">
                <a:solidFill>
                  <a:srgbClr val="EEB60D"/>
                </a:solidFill>
                <a:latin typeface="Arial"/>
              </a:rPr>
              <a:t>
</a:t>
            </a:r>
            <a:r>
              <a:rPr lang="ar-SA" sz="1200" b="1" i="0" dirty="0" smtClean="0">
                <a:solidFill>
                  <a:srgbClr val="EEB60D"/>
                </a:solidFill>
                <a:latin typeface="Arial"/>
              </a:rPr>
              <a:t>المسافة الكلية</a:t>
            </a:r>
          </a:p>
          <a:p>
            <a:pPr algn="r" rtl="1"/>
            <a:r>
              <a:rPr sz="1200" b="1" i="0" dirty="0" smtClean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  </a:t>
            </a:r>
          </a:p>
          <a:p>
            <a:pPr algn="r" rtl="1"/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المسافة البينية</a:t>
            </a:r>
            <a:endParaRPr sz="1200" b="1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20" name="TextBox 9"/>
          <p:cNvSpPr txBox="1"/>
          <p:nvPr/>
        </p:nvSpPr>
        <p:spPr>
          <a:xfrm>
            <a:off x="365760" y="20861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عدد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المربعات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في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شكل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: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نرقم المربعات الأفقية ثم نربع كل عدد ونجمعهم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21" name="مستطيل 20"/>
          <p:cNvSpPr/>
          <p:nvPr/>
        </p:nvSpPr>
        <p:spPr>
          <a:xfrm>
            <a:off x="4240202" y="1995666"/>
            <a:ext cx="377518" cy="36686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cxnSp>
        <p:nvCxnSpPr>
          <p:cNvPr id="23" name="رابط مستقيم 22"/>
          <p:cNvCxnSpPr>
            <a:stCxn id="21" idx="3"/>
            <a:endCxn id="21" idx="1"/>
          </p:cNvCxnSpPr>
          <p:nvPr/>
        </p:nvCxnSpPr>
        <p:spPr>
          <a:xfrm flipH="1">
            <a:off x="4240202" y="2179096"/>
            <a:ext cx="3775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رابط مستقيم 23"/>
          <p:cNvCxnSpPr>
            <a:stCxn id="21" idx="0"/>
            <a:endCxn id="21" idx="2"/>
          </p:cNvCxnSpPr>
          <p:nvPr/>
        </p:nvCxnSpPr>
        <p:spPr>
          <a:xfrm>
            <a:off x="4428961" y="1995666"/>
            <a:ext cx="0" cy="3668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مستطيل 26"/>
          <p:cNvSpPr/>
          <p:nvPr/>
        </p:nvSpPr>
        <p:spPr>
          <a:xfrm>
            <a:off x="4266533" y="1871669"/>
            <a:ext cx="150019" cy="1022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smtClean="0">
                <a:solidFill>
                  <a:srgbClr val="054040"/>
                </a:solidFill>
              </a:rPr>
              <a:t>2</a:t>
            </a:r>
            <a:endParaRPr lang="ar-SA" dirty="0">
              <a:solidFill>
                <a:srgbClr val="054040"/>
              </a:solidFill>
            </a:endParaRPr>
          </a:p>
        </p:txBody>
      </p:sp>
      <p:sp>
        <p:nvSpPr>
          <p:cNvPr id="28" name="مستطيل 27"/>
          <p:cNvSpPr/>
          <p:nvPr/>
        </p:nvSpPr>
        <p:spPr>
          <a:xfrm>
            <a:off x="4467701" y="1865210"/>
            <a:ext cx="150019" cy="1022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smtClean="0">
                <a:solidFill>
                  <a:srgbClr val="054040"/>
                </a:solidFill>
              </a:rPr>
              <a:t>1</a:t>
            </a:r>
            <a:endParaRPr lang="ar-SA" dirty="0">
              <a:solidFill>
                <a:srgbClr val="054040"/>
              </a:solidFill>
            </a:endParaRPr>
          </a:p>
        </p:txBody>
      </p:sp>
      <p:sp>
        <p:nvSpPr>
          <p:cNvPr id="29" name="مستطيل 28"/>
          <p:cNvSpPr/>
          <p:nvPr/>
        </p:nvSpPr>
        <p:spPr>
          <a:xfrm>
            <a:off x="4346304" y="1789151"/>
            <a:ext cx="45719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dirty="0" smtClean="0">
                <a:solidFill>
                  <a:srgbClr val="FF0000"/>
                </a:solidFill>
              </a:rPr>
              <a:t>2</a:t>
            </a:r>
            <a:endParaRPr lang="ar-SA" sz="900" dirty="0">
              <a:solidFill>
                <a:srgbClr val="FF0000"/>
              </a:solidFill>
            </a:endParaRPr>
          </a:p>
        </p:txBody>
      </p:sp>
      <p:sp>
        <p:nvSpPr>
          <p:cNvPr id="30" name="مستطيل 29"/>
          <p:cNvSpPr/>
          <p:nvPr/>
        </p:nvSpPr>
        <p:spPr>
          <a:xfrm>
            <a:off x="4522231" y="1784235"/>
            <a:ext cx="45719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dirty="0" smtClean="0">
                <a:solidFill>
                  <a:srgbClr val="FF0000"/>
                </a:solidFill>
              </a:rPr>
              <a:t>2</a:t>
            </a:r>
            <a:endParaRPr lang="ar-SA" sz="900" dirty="0">
              <a:solidFill>
                <a:srgbClr val="FF0000"/>
              </a:solidFill>
            </a:endParaRPr>
          </a:p>
        </p:txBody>
      </p:sp>
      <p:sp>
        <p:nvSpPr>
          <p:cNvPr id="31" name="مستطيل 30"/>
          <p:cNvSpPr/>
          <p:nvPr/>
        </p:nvSpPr>
        <p:spPr>
          <a:xfrm>
            <a:off x="4387261" y="1897596"/>
            <a:ext cx="132589" cy="623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 smtClean="0">
                <a:solidFill>
                  <a:srgbClr val="FF0000"/>
                </a:solidFill>
              </a:rPr>
              <a:t>+</a:t>
            </a:r>
            <a:endParaRPr lang="ar-SA" sz="1100" dirty="0">
              <a:solidFill>
                <a:srgbClr val="FF0000"/>
              </a:solidFill>
            </a:endParaRPr>
          </a:p>
        </p:txBody>
      </p:sp>
      <p:sp>
        <p:nvSpPr>
          <p:cNvPr id="34" name="مستطيل 33"/>
          <p:cNvSpPr/>
          <p:nvPr/>
        </p:nvSpPr>
        <p:spPr>
          <a:xfrm>
            <a:off x="4661694" y="2464445"/>
            <a:ext cx="595379" cy="212988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cxnSp>
        <p:nvCxnSpPr>
          <p:cNvPr id="35" name="رابط مستقيم 34"/>
          <p:cNvCxnSpPr/>
          <p:nvPr/>
        </p:nvCxnSpPr>
        <p:spPr>
          <a:xfrm flipH="1">
            <a:off x="4661695" y="2570939"/>
            <a:ext cx="5953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رابط مستقيم 35"/>
          <p:cNvCxnSpPr>
            <a:stCxn id="34" idx="0"/>
            <a:endCxn id="34" idx="2"/>
          </p:cNvCxnSpPr>
          <p:nvPr/>
        </p:nvCxnSpPr>
        <p:spPr>
          <a:xfrm>
            <a:off x="4959384" y="2464445"/>
            <a:ext cx="0" cy="2129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مستطيل 46"/>
          <p:cNvSpPr/>
          <p:nvPr/>
        </p:nvSpPr>
        <p:spPr>
          <a:xfrm>
            <a:off x="5036963" y="2375528"/>
            <a:ext cx="150019" cy="6800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54040"/>
                </a:solidFill>
              </a:rPr>
              <a:t>1</a:t>
            </a:r>
            <a:endParaRPr lang="ar-SA" dirty="0">
              <a:solidFill>
                <a:srgbClr val="054040"/>
              </a:solidFill>
            </a:endParaRPr>
          </a:p>
        </p:txBody>
      </p:sp>
      <p:sp>
        <p:nvSpPr>
          <p:cNvPr id="48" name="مستطيل 47"/>
          <p:cNvSpPr/>
          <p:nvPr/>
        </p:nvSpPr>
        <p:spPr>
          <a:xfrm>
            <a:off x="4765423" y="2358278"/>
            <a:ext cx="150019" cy="10229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54040"/>
                </a:solidFill>
              </a:rPr>
              <a:t>2</a:t>
            </a:r>
            <a:endParaRPr lang="ar-SA" dirty="0">
              <a:solidFill>
                <a:srgbClr val="054040"/>
              </a:solidFill>
            </a:endParaRPr>
          </a:p>
        </p:txBody>
      </p:sp>
      <p:sp>
        <p:nvSpPr>
          <p:cNvPr id="49" name="مستطيل 48"/>
          <p:cNvSpPr/>
          <p:nvPr/>
        </p:nvSpPr>
        <p:spPr>
          <a:xfrm>
            <a:off x="5228921" y="2479109"/>
            <a:ext cx="150019" cy="6800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 smtClean="0">
                <a:solidFill>
                  <a:srgbClr val="054040"/>
                </a:solidFill>
              </a:rPr>
              <a:t>1</a:t>
            </a:r>
            <a:endParaRPr lang="ar-SA" sz="1600" dirty="0">
              <a:solidFill>
                <a:srgbClr val="054040"/>
              </a:solidFill>
            </a:endParaRPr>
          </a:p>
        </p:txBody>
      </p:sp>
      <p:sp>
        <p:nvSpPr>
          <p:cNvPr id="50" name="مستطيل 49"/>
          <p:cNvSpPr/>
          <p:nvPr/>
        </p:nvSpPr>
        <p:spPr>
          <a:xfrm>
            <a:off x="5228921" y="2618385"/>
            <a:ext cx="150019" cy="6800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 smtClean="0">
                <a:solidFill>
                  <a:srgbClr val="054040"/>
                </a:solidFill>
              </a:rPr>
              <a:t>2</a:t>
            </a:r>
            <a:endParaRPr lang="ar-SA" sz="1600" dirty="0">
              <a:solidFill>
                <a:srgbClr val="054040"/>
              </a:solidFill>
            </a:endParaRPr>
          </a:p>
        </p:txBody>
      </p:sp>
      <p:sp>
        <p:nvSpPr>
          <p:cNvPr id="51" name="مستطيل 50"/>
          <p:cNvSpPr/>
          <p:nvPr/>
        </p:nvSpPr>
        <p:spPr>
          <a:xfrm>
            <a:off x="4909148" y="2377649"/>
            <a:ext cx="132589" cy="623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 smtClean="0">
                <a:solidFill>
                  <a:srgbClr val="FF0000"/>
                </a:solidFill>
              </a:rPr>
              <a:t>+</a:t>
            </a:r>
            <a:endParaRPr lang="ar-SA" sz="1100" dirty="0">
              <a:solidFill>
                <a:srgbClr val="FF0000"/>
              </a:solidFill>
            </a:endParaRPr>
          </a:p>
        </p:txBody>
      </p:sp>
      <p:sp>
        <p:nvSpPr>
          <p:cNvPr id="52" name="مستطيل 51"/>
          <p:cNvSpPr/>
          <p:nvPr/>
        </p:nvSpPr>
        <p:spPr>
          <a:xfrm>
            <a:off x="5240001" y="2541212"/>
            <a:ext cx="132589" cy="623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600" dirty="0" smtClean="0">
                <a:solidFill>
                  <a:srgbClr val="FF0000"/>
                </a:solidFill>
              </a:rPr>
              <a:t>+</a:t>
            </a:r>
            <a:endParaRPr lang="ar-SA" sz="1000" dirty="0">
              <a:solidFill>
                <a:srgbClr val="FF0000"/>
              </a:solidFill>
            </a:endParaRPr>
          </a:p>
        </p:txBody>
      </p:sp>
      <p:sp>
        <p:nvSpPr>
          <p:cNvPr id="53" name="مستطيل 52"/>
          <p:cNvSpPr/>
          <p:nvPr/>
        </p:nvSpPr>
        <p:spPr>
          <a:xfrm>
            <a:off x="5214596" y="2410468"/>
            <a:ext cx="63929" cy="6146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600" dirty="0">
                <a:solidFill>
                  <a:srgbClr val="FF0000"/>
                </a:solidFill>
                <a:latin typeface="Arial"/>
              </a:rPr>
              <a:t>×</a:t>
            </a:r>
            <a:endParaRPr lang="ar-SA" dirty="0">
              <a:solidFill>
                <a:srgbClr val="FF0000"/>
              </a:solidFill>
            </a:endParaRPr>
          </a:p>
        </p:txBody>
      </p:sp>
      <p:sp>
        <p:nvSpPr>
          <p:cNvPr id="54" name="مثلث متساوي الساقين 53"/>
          <p:cNvSpPr/>
          <p:nvPr/>
        </p:nvSpPr>
        <p:spPr>
          <a:xfrm>
            <a:off x="6298442" y="3129609"/>
            <a:ext cx="1782121" cy="496196"/>
          </a:xfrm>
          <a:prstGeom prst="triangle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cxnSp>
        <p:nvCxnSpPr>
          <p:cNvPr id="56" name="رابط مستقيم 55"/>
          <p:cNvCxnSpPr>
            <a:stCxn id="54" idx="0"/>
            <a:endCxn id="54" idx="3"/>
          </p:cNvCxnSpPr>
          <p:nvPr/>
        </p:nvCxnSpPr>
        <p:spPr>
          <a:xfrm>
            <a:off x="7189503" y="3129609"/>
            <a:ext cx="0" cy="4961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رابط مستقيم 57"/>
          <p:cNvCxnSpPr>
            <a:stCxn id="54" idx="0"/>
          </p:cNvCxnSpPr>
          <p:nvPr/>
        </p:nvCxnSpPr>
        <p:spPr>
          <a:xfrm>
            <a:off x="7189503" y="3129609"/>
            <a:ext cx="455452" cy="519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رابط مستقيم 59"/>
          <p:cNvCxnSpPr>
            <a:stCxn id="54" idx="0"/>
          </p:cNvCxnSpPr>
          <p:nvPr/>
        </p:nvCxnSpPr>
        <p:spPr>
          <a:xfrm flipH="1">
            <a:off x="6882959" y="3129609"/>
            <a:ext cx="306544" cy="4961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رابط مستقيم 66"/>
          <p:cNvCxnSpPr/>
          <p:nvPr/>
        </p:nvCxnSpPr>
        <p:spPr>
          <a:xfrm flipH="1">
            <a:off x="7816800" y="3433807"/>
            <a:ext cx="91918" cy="1027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رابط مستقيم 67"/>
          <p:cNvCxnSpPr/>
          <p:nvPr/>
        </p:nvCxnSpPr>
        <p:spPr>
          <a:xfrm flipH="1">
            <a:off x="7413497" y="3399895"/>
            <a:ext cx="82550" cy="769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رابط مستقيم 68"/>
          <p:cNvCxnSpPr/>
          <p:nvPr/>
        </p:nvCxnSpPr>
        <p:spPr>
          <a:xfrm flipH="1" flipV="1">
            <a:off x="7130647" y="3531220"/>
            <a:ext cx="117714" cy="53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رابط مستقيم 69"/>
          <p:cNvCxnSpPr/>
          <p:nvPr/>
        </p:nvCxnSpPr>
        <p:spPr>
          <a:xfrm flipH="1" flipV="1">
            <a:off x="6975172" y="3326161"/>
            <a:ext cx="116373" cy="1030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رابط مستقيم 70"/>
          <p:cNvCxnSpPr/>
          <p:nvPr/>
        </p:nvCxnSpPr>
        <p:spPr>
          <a:xfrm flipH="1" flipV="1">
            <a:off x="6569852" y="3377944"/>
            <a:ext cx="134074" cy="5774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مستطيل 80"/>
          <p:cNvSpPr/>
          <p:nvPr/>
        </p:nvSpPr>
        <p:spPr>
          <a:xfrm>
            <a:off x="5518056" y="3325627"/>
            <a:ext cx="939800" cy="15388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smtClean="0">
                <a:solidFill>
                  <a:srgbClr val="054040"/>
                </a:solidFill>
              </a:rPr>
              <a:t>س = 5</a:t>
            </a:r>
            <a:endParaRPr lang="ar-SA" dirty="0">
              <a:solidFill>
                <a:srgbClr val="054040"/>
              </a:solidFill>
            </a:endParaRPr>
          </a:p>
        </p:txBody>
      </p:sp>
      <p:cxnSp>
        <p:nvCxnSpPr>
          <p:cNvPr id="82" name="رابط مستقيم 81"/>
          <p:cNvCxnSpPr/>
          <p:nvPr/>
        </p:nvCxnSpPr>
        <p:spPr>
          <a:xfrm flipH="1">
            <a:off x="8002251" y="4577539"/>
            <a:ext cx="59537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مستطيل 82"/>
          <p:cNvSpPr/>
          <p:nvPr/>
        </p:nvSpPr>
        <p:spPr>
          <a:xfrm>
            <a:off x="7358598" y="4489450"/>
            <a:ext cx="527050" cy="8808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smtClean="0">
                <a:solidFill>
                  <a:srgbClr val="EEB60D"/>
                </a:solidFill>
              </a:rPr>
              <a:t>+ 1</a:t>
            </a:r>
            <a:endParaRPr lang="ar-SA" dirty="0">
              <a:solidFill>
                <a:srgbClr val="EEB60D"/>
              </a:solidFill>
            </a:endParaRPr>
          </a:p>
        </p:txBody>
      </p:sp>
      <p:pic>
        <p:nvPicPr>
          <p:cNvPr id="84" name="صورة 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281" y="4309887"/>
            <a:ext cx="1338882" cy="597612"/>
          </a:xfrm>
          <a:prstGeom prst="rect">
            <a:avLst/>
          </a:prstGeom>
        </p:spPr>
      </p:pic>
      <p:pic>
        <p:nvPicPr>
          <p:cNvPr id="22" name="صورة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50" y="1251832"/>
            <a:ext cx="1216586" cy="1073763"/>
          </a:xfrm>
          <a:prstGeom prst="rect">
            <a:avLst/>
          </a:prstGeom>
        </p:spPr>
      </p:pic>
      <p:pic>
        <p:nvPicPr>
          <p:cNvPr id="25" name="صورة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61" y="2440002"/>
            <a:ext cx="1165108" cy="1231293"/>
          </a:xfrm>
          <a:prstGeom prst="rect">
            <a:avLst/>
          </a:prstGeom>
        </p:spPr>
      </p:pic>
      <p:pic>
        <p:nvPicPr>
          <p:cNvPr id="26" name="صورة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7999" y="1267496"/>
            <a:ext cx="1380342" cy="1177508"/>
          </a:xfrm>
          <a:prstGeom prst="rect">
            <a:avLst/>
          </a:prstGeom>
        </p:spPr>
      </p:pic>
      <p:pic>
        <p:nvPicPr>
          <p:cNvPr id="75" name="صورة 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0084" y="2490716"/>
            <a:ext cx="1537958" cy="11741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 dirty="0" err="1">
                <a:solidFill>
                  <a:srgbClr val="0D2B55"/>
                </a:solidFill>
                <a:latin typeface="Arial"/>
              </a:rPr>
              <a:t>طريق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طوله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١٠٠٠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متر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وُضعت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علامة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كل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٥٠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متراً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ابتداءً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من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البداية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علامة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١٩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٢٠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د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٢١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٢٢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246120"/>
            <a:ext cx="292608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89320" y="3127248"/>
            <a:ext cx="45720" cy="45720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16168" y="305409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800" b="0" i="0">
                <a:solidFill>
                  <a:srgbClr val="0D2B55"/>
                </a:solidFill>
                <a:latin typeface="Arial"/>
              </a:rPr>
              <a:t>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1383" y="3127248"/>
            <a:ext cx="45720" cy="45720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1" y="305409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800" b="0" i="0">
                <a:solidFill>
                  <a:srgbClr val="0D2B55"/>
                </a:solidFill>
                <a:latin typeface="Arial"/>
              </a:rPr>
              <a:t>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13448" y="3127248"/>
            <a:ext cx="45720" cy="45720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0296" y="305409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800" b="0" i="0">
                <a:solidFill>
                  <a:srgbClr val="0D2B55"/>
                </a:solidFill>
                <a:latin typeface="Arial"/>
              </a:rPr>
              <a:t>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25512" y="3127248"/>
            <a:ext cx="45720" cy="45720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52360" y="305409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800" b="0" i="0">
                <a:solidFill>
                  <a:srgbClr val="0D2B55"/>
                </a:solidFill>
                <a:latin typeface="Arial"/>
              </a:rPr>
              <a:t>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7575" y="3127248"/>
            <a:ext cx="45720" cy="45720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64423" y="305409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800" b="0" i="0">
                <a:solidFill>
                  <a:srgbClr val="0D2B55"/>
                </a:solidFill>
                <a:latin typeface="Arial"/>
              </a:rPr>
              <a:t>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40" y="3127248"/>
            <a:ext cx="45720" cy="45720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76488" y="305409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800" b="0" i="0">
                <a:solidFill>
                  <a:srgbClr val="0D2B55"/>
                </a:solidFill>
                <a:latin typeface="Arial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5478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0" i="0">
                <a:solidFill>
                  <a:srgbClr val="008B8B"/>
                </a:solidFill>
                <a:latin typeface="Arial"/>
              </a:rPr>
              <a:t>← ١٠٠٠ م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749039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0" i="0">
                <a:solidFill>
                  <a:srgbClr val="444444"/>
                </a:solidFill>
                <a:latin typeface="Arial"/>
              </a:rPr>
              <a:t>كل ٥٠م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200400"/>
            <a:ext cx="548640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7472" y="3236976"/>
            <a:ext cx="53400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نحسب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المسافات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البينية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أولاً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١٠٠٠ ÷ ٥٠ = ٢٠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مسافة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7472" y="3639312"/>
            <a:ext cx="53400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لأننا وضعنا علامة في البداية نضيف ١: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4041648"/>
            <a:ext cx="53400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عدد العلامات = ٢٠ + ١ = ٢١ علامة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4443984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تصور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● ● ● ... ●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٢٠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فراغاً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بينها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٢١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علامة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✓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الإجابة د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6888" y="66116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مستطيلاً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في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شكل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مقسم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إلى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٣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أعمدة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و٢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صفوف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٦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 18 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نطبق قانون المستطيلات:  مجموع أفقي × مجموع رأسي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772" y="363931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مجموع أفقي (٣ أعمدة): ١ + ٢ + ٣ = ٦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7772" y="4029825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مجموع رأسي (٢ صفوف): ١ + ٢ = ٣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44398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المستطيلات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الكلي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٦ × ٣ = ١٨  ✓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أ  18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مستطيل 21"/>
          <p:cNvSpPr/>
          <p:nvPr/>
        </p:nvSpPr>
        <p:spPr>
          <a:xfrm>
            <a:off x="2355850" y="800100"/>
            <a:ext cx="1473200" cy="369332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cxnSp>
        <p:nvCxnSpPr>
          <p:cNvPr id="24" name="رابط مستقيم 23"/>
          <p:cNvCxnSpPr/>
          <p:nvPr/>
        </p:nvCxnSpPr>
        <p:spPr>
          <a:xfrm>
            <a:off x="2794000" y="800100"/>
            <a:ext cx="0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رابط مستقيم 26"/>
          <p:cNvCxnSpPr/>
          <p:nvPr/>
        </p:nvCxnSpPr>
        <p:spPr>
          <a:xfrm>
            <a:off x="3422650" y="800100"/>
            <a:ext cx="0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رابط مستقيم 34"/>
          <p:cNvCxnSpPr/>
          <p:nvPr/>
        </p:nvCxnSpPr>
        <p:spPr>
          <a:xfrm flipH="1">
            <a:off x="2355850" y="998744"/>
            <a:ext cx="1473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مستطيل 37"/>
          <p:cNvSpPr/>
          <p:nvPr/>
        </p:nvSpPr>
        <p:spPr>
          <a:xfrm>
            <a:off x="3536950" y="641342"/>
            <a:ext cx="209550" cy="1463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srgbClr val="054040"/>
              </a:solidFill>
            </a:endParaRPr>
          </a:p>
        </p:txBody>
      </p:sp>
      <p:sp>
        <p:nvSpPr>
          <p:cNvPr id="39" name="مستطيل 38"/>
          <p:cNvSpPr/>
          <p:nvPr/>
        </p:nvSpPr>
        <p:spPr>
          <a:xfrm>
            <a:off x="2987675" y="639318"/>
            <a:ext cx="209550" cy="1463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srgbClr val="054040"/>
              </a:solidFill>
            </a:endParaRPr>
          </a:p>
        </p:txBody>
      </p:sp>
      <p:sp>
        <p:nvSpPr>
          <p:cNvPr id="49" name="مستطيل 48"/>
          <p:cNvSpPr/>
          <p:nvPr/>
        </p:nvSpPr>
        <p:spPr>
          <a:xfrm>
            <a:off x="3829049" y="826548"/>
            <a:ext cx="209550" cy="1463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srgbClr val="054040"/>
              </a:solidFill>
            </a:endParaRPr>
          </a:p>
        </p:txBody>
      </p:sp>
      <p:sp>
        <p:nvSpPr>
          <p:cNvPr id="52" name="مستطيل 51"/>
          <p:cNvSpPr/>
          <p:nvPr/>
        </p:nvSpPr>
        <p:spPr>
          <a:xfrm>
            <a:off x="3841750" y="1043956"/>
            <a:ext cx="209550" cy="14630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>
              <a:solidFill>
                <a:srgbClr val="054040"/>
              </a:solidFill>
            </a:endParaRPr>
          </a:p>
        </p:txBody>
      </p:sp>
      <p:pic>
        <p:nvPicPr>
          <p:cNvPr id="53" name="صورة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767" y="3310128"/>
            <a:ext cx="1778090" cy="630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 dirty="0" err="1">
                <a:solidFill>
                  <a:srgbClr val="FFFFFF"/>
                </a:solidFill>
                <a:latin typeface="Arial"/>
              </a:rPr>
              <a:t>زمن</a:t>
            </a:r>
            <a:r>
              <a:rPr sz="25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FFFFFF"/>
                </a:solidFill>
                <a:latin typeface="Arial"/>
              </a:rPr>
              <a:t>العمل</a:t>
            </a:r>
            <a:r>
              <a:rPr sz="25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500" b="1" i="0" dirty="0" err="1" smtClean="0">
                <a:solidFill>
                  <a:srgbClr val="FFFFFF"/>
                </a:solidFill>
                <a:latin typeface="Arial"/>
              </a:rPr>
              <a:t>المشترك</a:t>
            </a:r>
            <a:r>
              <a:rPr lang="ar-SA" sz="2500" b="1" i="0" dirty="0" smtClean="0">
                <a:solidFill>
                  <a:srgbClr val="FFFFFF"/>
                </a:solidFill>
                <a:latin typeface="Arial"/>
              </a:rPr>
              <a:t> والزاوية بين عقربين</a:t>
            </a:r>
            <a:endParaRPr sz="25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130085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٩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إذا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كان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شخص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يُنجز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عملاً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في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زمن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معين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وآخر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في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زمن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ثاني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: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74913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زمن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إنجازهما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معاً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2570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FF0000"/>
                </a:solidFill>
                <a:latin typeface="Arial"/>
              </a:rPr>
              <a:t>لاحظ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ان القانون مقلوب الكسر </a:t>
            </a:r>
            <a:r>
              <a:rPr lang="ar-SA" sz="1300" b="0" i="0" dirty="0" err="1" smtClean="0">
                <a:solidFill>
                  <a:srgbClr val="444444"/>
                </a:solidFill>
                <a:latin typeface="Arial"/>
              </a:rPr>
              <a:t>علشان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في </a:t>
            </a:r>
            <a:r>
              <a:rPr lang="ar-SA" sz="1300" b="0" i="0" dirty="0" err="1" smtClean="0">
                <a:solidFill>
                  <a:srgbClr val="444444"/>
                </a:solidFill>
                <a:latin typeface="Arial"/>
              </a:rPr>
              <a:t>النهايه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err="1" smtClean="0">
                <a:solidFill>
                  <a:srgbClr val="444444"/>
                </a:solidFill>
                <a:latin typeface="Arial"/>
              </a:rPr>
              <a:t>هنعدله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753612"/>
            <a:ext cx="848563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53612"/>
            <a:ext cx="848563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8394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055364"/>
            <a:ext cx="83941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 dirty="0" err="1">
                <a:solidFill>
                  <a:srgbClr val="FFC107"/>
                </a:solidFill>
                <a:latin typeface="Arial"/>
              </a:rPr>
              <a:t>زمن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C107"/>
                </a:solidFill>
                <a:latin typeface="Arial"/>
              </a:rPr>
              <a:t>مشترك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 =
</a:t>
            </a:r>
          </a:p>
        </p:txBody>
      </p:sp>
      <p:sp>
        <p:nvSpPr>
          <p:cNvPr id="17" name="TextBox 8"/>
          <p:cNvSpPr txBox="1"/>
          <p:nvPr/>
        </p:nvSpPr>
        <p:spPr>
          <a:xfrm>
            <a:off x="-1360974" y="1620548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444444"/>
                </a:solidFill>
                <a:latin typeface="Arial"/>
              </a:rPr>
              <a:t>1</a:t>
            </a:r>
            <a:endParaRPr sz="1600" b="0" i="0" dirty="0">
              <a:solidFill>
                <a:srgbClr val="444444"/>
              </a:solidFill>
              <a:latin typeface="Arial"/>
            </a:endParaRPr>
          </a:p>
        </p:txBody>
      </p:sp>
      <p:cxnSp>
        <p:nvCxnSpPr>
          <p:cNvPr id="18" name="رابط مستقيم 17"/>
          <p:cNvCxnSpPr/>
          <p:nvPr/>
        </p:nvCxnSpPr>
        <p:spPr>
          <a:xfrm>
            <a:off x="6580188" y="1888108"/>
            <a:ext cx="7269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مستطيل 18"/>
          <p:cNvSpPr/>
          <p:nvPr/>
        </p:nvSpPr>
        <p:spPr>
          <a:xfrm>
            <a:off x="6129338" y="1930392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54040"/>
                </a:solidFill>
              </a:rPr>
              <a:t>الزمن المطلوب</a:t>
            </a:r>
            <a:endParaRPr lang="ar-SA" sz="1200" dirty="0">
              <a:solidFill>
                <a:srgbClr val="054040"/>
              </a:solidFill>
            </a:endParaRPr>
          </a:p>
        </p:txBody>
      </p:sp>
      <p:sp>
        <p:nvSpPr>
          <p:cNvPr id="22" name="TextBox 8"/>
          <p:cNvSpPr txBox="1"/>
          <p:nvPr/>
        </p:nvSpPr>
        <p:spPr>
          <a:xfrm>
            <a:off x="-1777939" y="173084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27" name="TextBox 8"/>
          <p:cNvSpPr txBox="1"/>
          <p:nvPr/>
        </p:nvSpPr>
        <p:spPr>
          <a:xfrm>
            <a:off x="-3162459" y="1614147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444444"/>
                </a:solidFill>
                <a:latin typeface="Arial"/>
              </a:rPr>
              <a:t>1</a:t>
            </a:r>
            <a:endParaRPr sz="1600" b="0" i="0" dirty="0">
              <a:solidFill>
                <a:srgbClr val="444444"/>
              </a:solidFill>
              <a:latin typeface="Arial"/>
            </a:endParaRPr>
          </a:p>
        </p:txBody>
      </p:sp>
      <p:cxnSp>
        <p:nvCxnSpPr>
          <p:cNvPr id="28" name="رابط مستقيم 27"/>
          <p:cNvCxnSpPr/>
          <p:nvPr/>
        </p:nvCxnSpPr>
        <p:spPr>
          <a:xfrm>
            <a:off x="4718047" y="1895326"/>
            <a:ext cx="7269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مستطيل 28"/>
          <p:cNvSpPr/>
          <p:nvPr/>
        </p:nvSpPr>
        <p:spPr>
          <a:xfrm>
            <a:off x="4297945" y="1926526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54040"/>
                </a:solidFill>
              </a:rPr>
              <a:t>زمن الثاني</a:t>
            </a:r>
            <a:endParaRPr lang="ar-SA" sz="1200" dirty="0">
              <a:solidFill>
                <a:srgbClr val="054040"/>
              </a:solidFill>
            </a:endParaRPr>
          </a:p>
        </p:txBody>
      </p:sp>
      <p:sp>
        <p:nvSpPr>
          <p:cNvPr id="30" name="TextBox 8"/>
          <p:cNvSpPr txBox="1"/>
          <p:nvPr/>
        </p:nvSpPr>
        <p:spPr>
          <a:xfrm>
            <a:off x="5914864" y="1618042"/>
            <a:ext cx="2316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444444"/>
                </a:solidFill>
                <a:latin typeface="Arial"/>
              </a:rPr>
              <a:t>1</a:t>
            </a:r>
            <a:endParaRPr sz="1600" b="0" i="0" dirty="0">
              <a:solidFill>
                <a:srgbClr val="444444"/>
              </a:solidFill>
              <a:latin typeface="Arial"/>
            </a:endParaRPr>
          </a:p>
        </p:txBody>
      </p:sp>
      <p:cxnSp>
        <p:nvCxnSpPr>
          <p:cNvPr id="31" name="رابط مستقيم 30"/>
          <p:cNvCxnSpPr/>
          <p:nvPr/>
        </p:nvCxnSpPr>
        <p:spPr>
          <a:xfrm>
            <a:off x="5658400" y="1900491"/>
            <a:ext cx="7269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مستطيل 31"/>
          <p:cNvSpPr/>
          <p:nvPr/>
        </p:nvSpPr>
        <p:spPr>
          <a:xfrm>
            <a:off x="5235980" y="1938598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54040"/>
                </a:solidFill>
              </a:rPr>
              <a:t>زمن الأول</a:t>
            </a:r>
            <a:endParaRPr lang="ar-SA" sz="1200" dirty="0">
              <a:solidFill>
                <a:srgbClr val="054040"/>
              </a:solidFill>
            </a:endParaRPr>
          </a:p>
        </p:txBody>
      </p:sp>
      <p:sp>
        <p:nvSpPr>
          <p:cNvPr id="40" name="TextBox 8"/>
          <p:cNvSpPr txBox="1"/>
          <p:nvPr/>
        </p:nvSpPr>
        <p:spPr>
          <a:xfrm>
            <a:off x="5469210" y="1739325"/>
            <a:ext cx="2264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+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41" name="TextBox 8"/>
          <p:cNvSpPr txBox="1"/>
          <p:nvPr/>
        </p:nvSpPr>
        <p:spPr>
          <a:xfrm>
            <a:off x="-1071823" y="4116840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EEB60D"/>
                </a:solidFill>
                <a:latin typeface="Arial"/>
              </a:rPr>
              <a:t>1</a:t>
            </a:r>
            <a:endParaRPr sz="1600" b="0" i="0" dirty="0">
              <a:solidFill>
                <a:srgbClr val="EEB60D"/>
              </a:solidFill>
              <a:latin typeface="Arial"/>
            </a:endParaRPr>
          </a:p>
        </p:txBody>
      </p:sp>
      <p:cxnSp>
        <p:nvCxnSpPr>
          <p:cNvPr id="42" name="رابط مستقيم 41"/>
          <p:cNvCxnSpPr/>
          <p:nvPr/>
        </p:nvCxnSpPr>
        <p:spPr>
          <a:xfrm>
            <a:off x="6869339" y="4384400"/>
            <a:ext cx="7269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مستطيل 42"/>
          <p:cNvSpPr/>
          <p:nvPr/>
        </p:nvSpPr>
        <p:spPr>
          <a:xfrm>
            <a:off x="6418489" y="4426684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EEB60D"/>
                </a:solidFill>
              </a:rPr>
              <a:t>الزمن المطلوب</a:t>
            </a:r>
            <a:endParaRPr lang="ar-SA" sz="1200" dirty="0">
              <a:solidFill>
                <a:srgbClr val="EEB60D"/>
              </a:solidFill>
            </a:endParaRPr>
          </a:p>
        </p:txBody>
      </p:sp>
      <p:sp>
        <p:nvSpPr>
          <p:cNvPr id="44" name="TextBox 8"/>
          <p:cNvSpPr txBox="1"/>
          <p:nvPr/>
        </p:nvSpPr>
        <p:spPr>
          <a:xfrm>
            <a:off x="6219511" y="4098515"/>
            <a:ext cx="2316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EEB60D"/>
                </a:solidFill>
                <a:latin typeface="Arial"/>
              </a:rPr>
              <a:t>1</a:t>
            </a:r>
            <a:endParaRPr sz="1600" b="0" i="0" dirty="0">
              <a:solidFill>
                <a:srgbClr val="EEB60D"/>
              </a:solidFill>
              <a:latin typeface="Arial"/>
            </a:endParaRPr>
          </a:p>
        </p:txBody>
      </p:sp>
      <p:cxnSp>
        <p:nvCxnSpPr>
          <p:cNvPr id="45" name="رابط مستقيم 44"/>
          <p:cNvCxnSpPr/>
          <p:nvPr/>
        </p:nvCxnSpPr>
        <p:spPr>
          <a:xfrm>
            <a:off x="5963047" y="4380964"/>
            <a:ext cx="7269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مستطيل 45"/>
          <p:cNvSpPr/>
          <p:nvPr/>
        </p:nvSpPr>
        <p:spPr>
          <a:xfrm>
            <a:off x="5540627" y="4419071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EEB60D"/>
                </a:solidFill>
              </a:rPr>
              <a:t>زمن الأول</a:t>
            </a:r>
            <a:endParaRPr lang="ar-SA" sz="1200" dirty="0">
              <a:solidFill>
                <a:srgbClr val="EEB60D"/>
              </a:solidFill>
            </a:endParaRPr>
          </a:p>
        </p:txBody>
      </p:sp>
      <p:sp>
        <p:nvSpPr>
          <p:cNvPr id="47" name="TextBox 8"/>
          <p:cNvSpPr txBox="1"/>
          <p:nvPr/>
        </p:nvSpPr>
        <p:spPr>
          <a:xfrm>
            <a:off x="5773857" y="4219798"/>
            <a:ext cx="2264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EEB60D"/>
                </a:solidFill>
                <a:latin typeface="Arial"/>
              </a:rPr>
              <a:t>+</a:t>
            </a:r>
            <a:endParaRPr sz="1300" b="0" i="0" dirty="0">
              <a:solidFill>
                <a:srgbClr val="EEB60D"/>
              </a:solidFill>
              <a:latin typeface="Arial"/>
            </a:endParaRPr>
          </a:p>
        </p:txBody>
      </p:sp>
      <p:sp>
        <p:nvSpPr>
          <p:cNvPr id="48" name="TextBox 8"/>
          <p:cNvSpPr txBox="1"/>
          <p:nvPr/>
        </p:nvSpPr>
        <p:spPr>
          <a:xfrm>
            <a:off x="-2895459" y="4074837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EEB60D"/>
                </a:solidFill>
                <a:latin typeface="Arial"/>
              </a:rPr>
              <a:t>1</a:t>
            </a:r>
            <a:endParaRPr sz="1600" b="0" i="0" dirty="0">
              <a:solidFill>
                <a:srgbClr val="EEB60D"/>
              </a:solidFill>
              <a:latin typeface="Arial"/>
            </a:endParaRPr>
          </a:p>
        </p:txBody>
      </p:sp>
      <p:cxnSp>
        <p:nvCxnSpPr>
          <p:cNvPr id="49" name="رابط مستقيم 48"/>
          <p:cNvCxnSpPr/>
          <p:nvPr/>
        </p:nvCxnSpPr>
        <p:spPr>
          <a:xfrm>
            <a:off x="4985047" y="4356016"/>
            <a:ext cx="7269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مستطيل 49"/>
          <p:cNvSpPr/>
          <p:nvPr/>
        </p:nvSpPr>
        <p:spPr>
          <a:xfrm>
            <a:off x="4564945" y="4387216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EEB60D"/>
                </a:solidFill>
              </a:rPr>
              <a:t>زمن الثاني</a:t>
            </a:r>
            <a:endParaRPr lang="ar-SA" sz="1200" dirty="0">
              <a:solidFill>
                <a:srgbClr val="EEB60D"/>
              </a:solidFill>
            </a:endParaRPr>
          </a:p>
        </p:txBody>
      </p:sp>
      <p:sp>
        <p:nvSpPr>
          <p:cNvPr id="51" name="TextBox 8"/>
          <p:cNvSpPr txBox="1"/>
          <p:nvPr/>
        </p:nvSpPr>
        <p:spPr>
          <a:xfrm>
            <a:off x="6690134" y="4231002"/>
            <a:ext cx="2264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smtClean="0">
                <a:solidFill>
                  <a:srgbClr val="EEB60D"/>
                </a:solidFill>
                <a:latin typeface="Arial"/>
              </a:rPr>
              <a:t>=</a:t>
            </a:r>
            <a:endParaRPr sz="1300" b="0" i="0" dirty="0">
              <a:solidFill>
                <a:srgbClr val="EEB60D"/>
              </a:solidFill>
              <a:latin typeface="Arial"/>
            </a:endParaRPr>
          </a:p>
        </p:txBody>
      </p:sp>
      <p:sp>
        <p:nvSpPr>
          <p:cNvPr id="52" name="TextBox 7"/>
          <p:cNvSpPr txBox="1"/>
          <p:nvPr/>
        </p:nvSpPr>
        <p:spPr>
          <a:xfrm>
            <a:off x="365760" y="261656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16263"/>
                </a:solidFill>
              </a:rPr>
              <a:t>إذا تحرك عقرب </a:t>
            </a:r>
            <a:r>
              <a:rPr lang="ar-SA" sz="1300" dirty="0" smtClean="0">
                <a:solidFill>
                  <a:srgbClr val="616263"/>
                </a:solidFill>
              </a:rPr>
              <a:t>الساعات كل </a:t>
            </a:r>
            <a:r>
              <a:rPr lang="ar-SA" sz="1300" dirty="0">
                <a:solidFill>
                  <a:srgbClr val="616263"/>
                </a:solidFill>
              </a:rPr>
              <a:t>ساعة </a:t>
            </a:r>
            <a:r>
              <a:rPr lang="ar-SA" sz="1300" dirty="0" smtClean="0">
                <a:solidFill>
                  <a:srgbClr val="616263"/>
                </a:solidFill>
              </a:rPr>
              <a:t>تمر </a:t>
            </a:r>
            <a:r>
              <a:rPr lang="ar-SA" sz="1300" dirty="0">
                <a:solidFill>
                  <a:srgbClr val="616263"/>
                </a:solidFill>
              </a:rPr>
              <a:t>= ٣٠° بين العقربين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sp>
        <p:nvSpPr>
          <p:cNvPr id="53" name="TextBox 7"/>
          <p:cNvSpPr txBox="1"/>
          <p:nvPr/>
        </p:nvSpPr>
        <p:spPr>
          <a:xfrm>
            <a:off x="365760" y="290896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16263"/>
                </a:solidFill>
              </a:rPr>
              <a:t>إذا تحرك عقرب </a:t>
            </a:r>
            <a:r>
              <a:rPr lang="ar-SA" sz="1300" dirty="0" smtClean="0">
                <a:solidFill>
                  <a:srgbClr val="616263"/>
                </a:solidFill>
              </a:rPr>
              <a:t>الدقائق كل دقيقه تمر </a:t>
            </a:r>
            <a:r>
              <a:rPr lang="ar-SA" sz="1300" dirty="0">
                <a:solidFill>
                  <a:srgbClr val="616263"/>
                </a:solidFill>
              </a:rPr>
              <a:t>= </a:t>
            </a:r>
            <a:r>
              <a:rPr lang="ar-SA" sz="1300" dirty="0" smtClean="0">
                <a:solidFill>
                  <a:srgbClr val="616263"/>
                </a:solidFill>
              </a:rPr>
              <a:t>6° </a:t>
            </a:r>
            <a:r>
              <a:rPr lang="ar-SA" sz="1300" dirty="0">
                <a:solidFill>
                  <a:srgbClr val="616263"/>
                </a:solidFill>
              </a:rPr>
              <a:t>بين العقربين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sp>
        <p:nvSpPr>
          <p:cNvPr id="54" name="TextBox 7"/>
          <p:cNvSpPr txBox="1"/>
          <p:nvPr/>
        </p:nvSpPr>
        <p:spPr>
          <a:xfrm>
            <a:off x="365760" y="319605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616263"/>
                </a:solidFill>
              </a:rPr>
              <a:t>قانون الزاوية بين عقربين = </a:t>
            </a:r>
            <a:r>
              <a:rPr lang="ar-SA" sz="1300" dirty="0">
                <a:solidFill>
                  <a:srgbClr val="616263"/>
                </a:solidFill>
              </a:rPr>
              <a:t>عدد الساعات × ٣٠ - عدد الدقائق ×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sp>
        <p:nvSpPr>
          <p:cNvPr id="55" name="TextBox 8"/>
          <p:cNvSpPr txBox="1"/>
          <p:nvPr/>
        </p:nvSpPr>
        <p:spPr>
          <a:xfrm>
            <a:off x="-3281495" y="3120831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616263"/>
                </a:solidFill>
                <a:latin typeface="Arial"/>
              </a:rPr>
              <a:t>11</a:t>
            </a:r>
            <a:endParaRPr sz="1300" b="0" i="0" dirty="0">
              <a:solidFill>
                <a:srgbClr val="616263"/>
              </a:solidFill>
              <a:latin typeface="Arial"/>
            </a:endParaRPr>
          </a:p>
        </p:txBody>
      </p:sp>
      <p:cxnSp>
        <p:nvCxnSpPr>
          <p:cNvPr id="56" name="رابط مستقيم 55"/>
          <p:cNvCxnSpPr/>
          <p:nvPr/>
        </p:nvCxnSpPr>
        <p:spPr>
          <a:xfrm>
            <a:off x="4718047" y="3355413"/>
            <a:ext cx="4619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مستطيل 56"/>
          <p:cNvSpPr/>
          <p:nvPr/>
        </p:nvSpPr>
        <p:spPr>
          <a:xfrm>
            <a:off x="4165496" y="3381745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300" dirty="0" smtClean="0">
                <a:solidFill>
                  <a:srgbClr val="616263"/>
                </a:solidFill>
              </a:rPr>
              <a:t>2</a:t>
            </a:r>
            <a:endParaRPr lang="ar-SA" sz="1300" dirty="0">
              <a:solidFill>
                <a:srgbClr val="616263"/>
              </a:solidFill>
            </a:endParaRPr>
          </a:p>
        </p:txBody>
      </p:sp>
      <p:sp>
        <p:nvSpPr>
          <p:cNvPr id="59" name="TextBox 14"/>
          <p:cNvSpPr txBox="1"/>
          <p:nvPr/>
        </p:nvSpPr>
        <p:spPr>
          <a:xfrm>
            <a:off x="-4268178" y="4110835"/>
            <a:ext cx="8394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EEB60D"/>
                </a:solidFill>
              </a:rPr>
              <a:t>قانون الزاوية بين عقربين =</a:t>
            </a:r>
            <a:endParaRPr sz="1200" b="1" i="0" dirty="0">
              <a:solidFill>
                <a:srgbClr val="EEB60D"/>
              </a:solidFill>
              <a:latin typeface="Arial"/>
            </a:endParaRPr>
          </a:p>
        </p:txBody>
      </p:sp>
      <p:sp>
        <p:nvSpPr>
          <p:cNvPr id="68" name="TextBox 7"/>
          <p:cNvSpPr txBox="1"/>
          <p:nvPr/>
        </p:nvSpPr>
        <p:spPr>
          <a:xfrm>
            <a:off x="-5498102" y="4327512"/>
            <a:ext cx="8412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EEB60D"/>
                </a:solidFill>
              </a:rPr>
              <a:t>عدد </a:t>
            </a:r>
            <a:r>
              <a:rPr lang="ar-SA" sz="1200" dirty="0">
                <a:solidFill>
                  <a:srgbClr val="EEB60D"/>
                </a:solidFill>
              </a:rPr>
              <a:t>الساعات × ٣٠ - عدد الدقائق ×</a:t>
            </a:r>
            <a:endParaRPr sz="1200" b="0" i="0" dirty="0">
              <a:solidFill>
                <a:srgbClr val="EEB60D"/>
              </a:solidFill>
              <a:latin typeface="Arial"/>
            </a:endParaRPr>
          </a:p>
        </p:txBody>
      </p:sp>
      <p:sp>
        <p:nvSpPr>
          <p:cNvPr id="75" name="TextBox 8"/>
          <p:cNvSpPr txBox="1"/>
          <p:nvPr/>
        </p:nvSpPr>
        <p:spPr>
          <a:xfrm>
            <a:off x="-7449930" y="4230646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EEB60D"/>
                </a:solidFill>
                <a:latin typeface="Arial"/>
              </a:rPr>
              <a:t>11</a:t>
            </a:r>
            <a:endParaRPr sz="1300" b="0" i="0" dirty="0">
              <a:solidFill>
                <a:srgbClr val="EEB60D"/>
              </a:solidFill>
              <a:latin typeface="Arial"/>
            </a:endParaRPr>
          </a:p>
        </p:txBody>
      </p:sp>
      <p:cxnSp>
        <p:nvCxnSpPr>
          <p:cNvPr id="76" name="رابط مستقيم 75"/>
          <p:cNvCxnSpPr/>
          <p:nvPr/>
        </p:nvCxnSpPr>
        <p:spPr>
          <a:xfrm>
            <a:off x="549612" y="4465228"/>
            <a:ext cx="4619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مستطيل 76"/>
          <p:cNvSpPr/>
          <p:nvPr/>
        </p:nvSpPr>
        <p:spPr>
          <a:xfrm>
            <a:off x="-2939" y="4491560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300" dirty="0" smtClean="0">
                <a:solidFill>
                  <a:srgbClr val="EEB60D"/>
                </a:solidFill>
              </a:rPr>
              <a:t>2</a:t>
            </a:r>
            <a:endParaRPr lang="ar-SA" sz="1300" dirty="0">
              <a:solidFill>
                <a:srgbClr val="EEB60D"/>
              </a:solidFill>
            </a:endParaRPr>
          </a:p>
        </p:txBody>
      </p:sp>
      <p:pic>
        <p:nvPicPr>
          <p:cNvPr id="11" name="صورة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29" y="1511788"/>
            <a:ext cx="1798707" cy="1893620"/>
          </a:xfrm>
          <a:prstGeom prst="rect">
            <a:avLst/>
          </a:prstGeom>
        </p:spPr>
      </p:pic>
      <p:pic>
        <p:nvPicPr>
          <p:cNvPr id="16" name="صورة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364" y="1575701"/>
            <a:ext cx="1775782" cy="18211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أحمد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يطلي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غرفة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في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٣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ساعات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وسعد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في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٦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ساعات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ساعة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يستغرقان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معاً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ب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٢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ساعة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١.٥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ساعة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٤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ساعة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٢.٥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ساعة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نطبق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قانون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العمل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المشترك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</a:p>
          <a:p>
            <a:pPr algn="r" rtl="1"/>
            <a:r>
              <a:rPr lang="ar-SA" sz="1200" dirty="0" smtClean="0">
                <a:solidFill>
                  <a:srgbClr val="FF0000"/>
                </a:solidFill>
                <a:latin typeface="Arial"/>
              </a:rPr>
              <a:t>عوض</a:t>
            </a:r>
            <a:endParaRPr sz="1200" b="0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زمن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المشترك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4041648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تلت + سدس = نص =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3" name="TextBox 8"/>
          <p:cNvSpPr txBox="1"/>
          <p:nvPr/>
        </p:nvSpPr>
        <p:spPr>
          <a:xfrm>
            <a:off x="-937894" y="3513975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444444"/>
                </a:solidFill>
                <a:latin typeface="Arial"/>
              </a:rPr>
              <a:t>1</a:t>
            </a:r>
            <a:endParaRPr sz="1600" b="0" i="0" dirty="0">
              <a:solidFill>
                <a:srgbClr val="444444"/>
              </a:solidFill>
              <a:latin typeface="Arial"/>
            </a:endParaRPr>
          </a:p>
        </p:txBody>
      </p:sp>
      <p:cxnSp>
        <p:nvCxnSpPr>
          <p:cNvPr id="24" name="رابط مستقيم 23"/>
          <p:cNvCxnSpPr/>
          <p:nvPr/>
        </p:nvCxnSpPr>
        <p:spPr>
          <a:xfrm>
            <a:off x="7003268" y="3781535"/>
            <a:ext cx="7269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مستطيل 24"/>
          <p:cNvSpPr/>
          <p:nvPr/>
        </p:nvSpPr>
        <p:spPr>
          <a:xfrm>
            <a:off x="6552418" y="3823819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54040"/>
                </a:solidFill>
              </a:rPr>
              <a:t>الزمن المطلوب</a:t>
            </a:r>
            <a:endParaRPr lang="ar-SA" sz="1200" dirty="0">
              <a:solidFill>
                <a:srgbClr val="054040"/>
              </a:solidFill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-1354859" y="3624271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27" name="TextBox 8"/>
          <p:cNvSpPr txBox="1"/>
          <p:nvPr/>
        </p:nvSpPr>
        <p:spPr>
          <a:xfrm>
            <a:off x="-2739379" y="3507574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444444"/>
                </a:solidFill>
                <a:latin typeface="Arial"/>
              </a:rPr>
              <a:t>1</a:t>
            </a:r>
            <a:endParaRPr sz="1600" b="0" i="0" dirty="0">
              <a:solidFill>
                <a:srgbClr val="444444"/>
              </a:solidFill>
              <a:latin typeface="Arial"/>
            </a:endParaRPr>
          </a:p>
        </p:txBody>
      </p:sp>
      <p:cxnSp>
        <p:nvCxnSpPr>
          <p:cNvPr id="28" name="رابط مستقيم 27"/>
          <p:cNvCxnSpPr/>
          <p:nvPr/>
        </p:nvCxnSpPr>
        <p:spPr>
          <a:xfrm>
            <a:off x="5141127" y="3788753"/>
            <a:ext cx="7269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مستطيل 28"/>
          <p:cNvSpPr/>
          <p:nvPr/>
        </p:nvSpPr>
        <p:spPr>
          <a:xfrm>
            <a:off x="4721025" y="3819953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54040"/>
                </a:solidFill>
              </a:rPr>
              <a:t>6</a:t>
            </a:r>
            <a:endParaRPr lang="ar-SA" sz="1200" dirty="0">
              <a:solidFill>
                <a:srgbClr val="054040"/>
              </a:solidFill>
            </a:endParaRPr>
          </a:p>
        </p:txBody>
      </p:sp>
      <p:sp>
        <p:nvSpPr>
          <p:cNvPr id="30" name="TextBox 8"/>
          <p:cNvSpPr txBox="1"/>
          <p:nvPr/>
        </p:nvSpPr>
        <p:spPr>
          <a:xfrm>
            <a:off x="6337944" y="3511469"/>
            <a:ext cx="2316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444444"/>
                </a:solidFill>
                <a:latin typeface="Arial"/>
              </a:rPr>
              <a:t>1</a:t>
            </a:r>
            <a:endParaRPr sz="1600" b="0" i="0" dirty="0">
              <a:solidFill>
                <a:srgbClr val="444444"/>
              </a:solidFill>
              <a:latin typeface="Arial"/>
            </a:endParaRPr>
          </a:p>
        </p:txBody>
      </p:sp>
      <p:cxnSp>
        <p:nvCxnSpPr>
          <p:cNvPr id="31" name="رابط مستقيم 30"/>
          <p:cNvCxnSpPr/>
          <p:nvPr/>
        </p:nvCxnSpPr>
        <p:spPr>
          <a:xfrm>
            <a:off x="6081480" y="3793918"/>
            <a:ext cx="7269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مستطيل 31"/>
          <p:cNvSpPr/>
          <p:nvPr/>
        </p:nvSpPr>
        <p:spPr>
          <a:xfrm>
            <a:off x="5659060" y="3832025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54040"/>
                </a:solidFill>
              </a:rPr>
              <a:t>3</a:t>
            </a:r>
            <a:endParaRPr lang="ar-SA" sz="1200" dirty="0">
              <a:solidFill>
                <a:srgbClr val="054040"/>
              </a:solidFill>
            </a:endParaRPr>
          </a:p>
        </p:txBody>
      </p:sp>
      <p:sp>
        <p:nvSpPr>
          <p:cNvPr id="33" name="TextBox 8"/>
          <p:cNvSpPr txBox="1"/>
          <p:nvPr/>
        </p:nvSpPr>
        <p:spPr>
          <a:xfrm>
            <a:off x="5892290" y="3632752"/>
            <a:ext cx="22646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+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pic>
        <p:nvPicPr>
          <p:cNvPr id="34" name="صورة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082" y="3229723"/>
            <a:ext cx="1901875" cy="428393"/>
          </a:xfrm>
          <a:prstGeom prst="rect">
            <a:avLst/>
          </a:prstGeom>
        </p:spPr>
      </p:pic>
      <p:sp>
        <p:nvSpPr>
          <p:cNvPr id="36" name="TextBox 8"/>
          <p:cNvSpPr txBox="1"/>
          <p:nvPr/>
        </p:nvSpPr>
        <p:spPr>
          <a:xfrm>
            <a:off x="7012113" y="3976503"/>
            <a:ext cx="2316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b="0" i="0" dirty="0" smtClean="0">
                <a:solidFill>
                  <a:srgbClr val="444444"/>
                </a:solidFill>
                <a:latin typeface="Arial"/>
              </a:rPr>
              <a:t>1</a:t>
            </a:r>
            <a:endParaRPr sz="1400" b="0" i="0" dirty="0">
              <a:solidFill>
                <a:srgbClr val="444444"/>
              </a:solidFill>
              <a:latin typeface="Arial"/>
            </a:endParaRPr>
          </a:p>
        </p:txBody>
      </p:sp>
      <p:cxnSp>
        <p:nvCxnSpPr>
          <p:cNvPr id="37" name="رابط مستقيم 36"/>
          <p:cNvCxnSpPr/>
          <p:nvPr/>
        </p:nvCxnSpPr>
        <p:spPr>
          <a:xfrm>
            <a:off x="6755649" y="4211184"/>
            <a:ext cx="72690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مستطيل 37"/>
          <p:cNvSpPr/>
          <p:nvPr/>
        </p:nvSpPr>
        <p:spPr>
          <a:xfrm>
            <a:off x="6333229" y="4249291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54040"/>
                </a:solidFill>
              </a:rPr>
              <a:t>2</a:t>
            </a:r>
            <a:endParaRPr lang="ar-SA" sz="1200" dirty="0">
              <a:solidFill>
                <a:srgbClr val="054040"/>
              </a:solidFill>
            </a:endParaRPr>
          </a:p>
        </p:txBody>
      </p:sp>
      <p:sp>
        <p:nvSpPr>
          <p:cNvPr id="39" name="TextBox 19"/>
          <p:cNvSpPr txBox="1"/>
          <p:nvPr/>
        </p:nvSpPr>
        <p:spPr>
          <a:xfrm>
            <a:off x="-1682496" y="4060615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زي ما قولنا بعدين نعدل الكسر فـــ  = 2 اذن </a:t>
            </a:r>
            <a:r>
              <a:rPr lang="ar-SA" sz="1200" b="0" i="0" dirty="0" err="1" smtClean="0">
                <a:solidFill>
                  <a:srgbClr val="054040"/>
                </a:solidFill>
                <a:latin typeface="Arial"/>
              </a:rPr>
              <a:t>الاجابه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✓ ب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2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40" name="TextBox 17"/>
          <p:cNvSpPr txBox="1"/>
          <p:nvPr/>
        </p:nvSpPr>
        <p:spPr>
          <a:xfrm>
            <a:off x="320040" y="437136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FF0000"/>
                </a:solidFill>
                <a:latin typeface="Arial"/>
              </a:rPr>
              <a:t>ملحوظة!! في جمع الكسور نوحد المقامات</a:t>
            </a:r>
            <a:endParaRPr sz="1200" b="0" i="0" dirty="0">
              <a:solidFill>
                <a:srgbClr val="FF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36592" y="667512"/>
            <a:ext cx="39959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2000" dirty="0">
                <a:solidFill>
                  <a:srgbClr val="0D2B55"/>
                </a:solidFill>
              </a:rPr>
              <a:t>إذا كانت الساعة </a:t>
            </a:r>
            <a:r>
              <a:rPr lang="ar-SA" sz="2000" dirty="0" smtClean="0">
                <a:solidFill>
                  <a:srgbClr val="0D2B55"/>
                </a:solidFill>
              </a:rPr>
              <a:t>20: 9 </a:t>
            </a:r>
            <a:r>
              <a:rPr lang="ar-SA" sz="2000" dirty="0">
                <a:solidFill>
                  <a:srgbClr val="0D2B55"/>
                </a:solidFill>
              </a:rPr>
              <a:t>كم الزاوية بين العقربين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444444"/>
                </a:solidFill>
                <a:latin typeface="Arial"/>
              </a:rPr>
              <a:t>ب </a:t>
            </a:r>
            <a:r>
              <a:rPr lang="ar-SA" sz="1400" dirty="0">
                <a:solidFill>
                  <a:srgbClr val="6C6D6F"/>
                </a:solidFill>
              </a:rPr>
              <a:t>١٥٠°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400" dirty="0" smtClean="0">
                <a:solidFill>
                  <a:schemeClr val="bg1"/>
                </a:solidFill>
              </a:rPr>
              <a:t>160°</a:t>
            </a:r>
            <a:r>
              <a:rPr lang="ar-SA" sz="1400" dirty="0"/>
              <a:t/>
            </a:r>
            <a:br>
              <a:rPr lang="ar-SA" sz="1400" dirty="0"/>
            </a:br>
            <a:r>
              <a:rPr lang="ar-SA" sz="1400" dirty="0"/>
              <a:t/>
            </a:r>
            <a:br>
              <a:rPr lang="ar-SA" sz="1400" dirty="0"/>
            </a:b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400" dirty="0" smtClean="0">
                <a:solidFill>
                  <a:srgbClr val="6C6D6F"/>
                </a:solidFill>
              </a:rPr>
              <a:t>120°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400" dirty="0" smtClean="0">
                <a:solidFill>
                  <a:srgbClr val="444444"/>
                </a:solidFill>
              </a:rPr>
              <a:t>١٤٥</a:t>
            </a:r>
            <a:r>
              <a:rPr lang="ar-SA" sz="1400" dirty="0">
                <a:solidFill>
                  <a:srgbClr val="444444"/>
                </a:solidFill>
              </a:rPr>
              <a:t>°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 dirty="0">
                <a:solidFill>
                  <a:srgbClr val="FFFFFF"/>
                </a:solidFill>
                <a:latin typeface="Arial"/>
              </a:rPr>
              <a:t>✏️ 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خطوات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الحل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054040"/>
                </a:solidFill>
                <a:latin typeface="Arial"/>
              </a:rPr>
              <a:t>نطبق قانون </a:t>
            </a:r>
            <a:r>
              <a:rPr lang="ar-SA" sz="1400" dirty="0" smtClean="0">
                <a:solidFill>
                  <a:srgbClr val="054040"/>
                </a:solidFill>
                <a:latin typeface="Arial"/>
              </a:rPr>
              <a:t>الزاوية بين العقربين  : </a:t>
            </a:r>
          </a:p>
          <a:p>
            <a:pPr algn="r" rtl="1"/>
            <a:r>
              <a:rPr lang="ar-SA" sz="1400" dirty="0" smtClean="0">
                <a:solidFill>
                  <a:srgbClr val="FF0000"/>
                </a:solidFill>
                <a:latin typeface="Arial"/>
              </a:rPr>
              <a:t>عوض </a:t>
            </a:r>
            <a:endParaRPr lang="ar-SA" sz="140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724215"/>
            <a:ext cx="84490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 smtClean="0">
                <a:solidFill>
                  <a:srgbClr val="054040"/>
                </a:solidFill>
                <a:latin typeface="Arial"/>
              </a:rPr>
              <a:t>9 </a:t>
            </a:r>
            <a:r>
              <a:rPr lang="ar-SA" sz="1400" dirty="0" smtClean="0">
                <a:solidFill>
                  <a:srgbClr val="054040"/>
                </a:solidFill>
              </a:rPr>
              <a:t>× 30 – 20 × </a:t>
            </a:r>
            <a:endParaRPr lang="ar-SA" sz="1400" dirty="0">
              <a:solidFill>
                <a:srgbClr val="054040"/>
              </a:solidFill>
              <a:latin typeface="Arial"/>
            </a:endParaRPr>
          </a:p>
          <a:p>
            <a:pPr algn="r" rtl="1"/>
            <a:endParaRPr lang="ar-SA" sz="1400" dirty="0">
              <a:solidFill>
                <a:srgbClr val="616263"/>
              </a:solidFill>
              <a:latin typeface="Arial"/>
            </a:endParaRPr>
          </a:p>
          <a:p>
            <a:pPr algn="r" rtl="1"/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4087365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270 – 110 =  160 اذن الإجابة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الصحيحة أ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✓ 160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pic>
        <p:nvPicPr>
          <p:cNvPr id="22" name="صورة 21"/>
          <p:cNvPicPr>
            <a:picLocks noChangeAspect="1"/>
          </p:cNvPicPr>
          <p:nvPr/>
        </p:nvPicPr>
        <p:blipFill rotWithShape="1">
          <a:blip r:embed="rId2"/>
          <a:srcRect t="2040" b="6705"/>
          <a:stretch/>
        </p:blipFill>
        <p:spPr>
          <a:xfrm>
            <a:off x="2221323" y="3292346"/>
            <a:ext cx="2186085" cy="419375"/>
          </a:xfrm>
          <a:prstGeom prst="rect">
            <a:avLst/>
          </a:prstGeom>
        </p:spPr>
      </p:pic>
      <p:sp>
        <p:nvSpPr>
          <p:cNvPr id="23" name="TextBox 8"/>
          <p:cNvSpPr txBox="1"/>
          <p:nvPr/>
        </p:nvSpPr>
        <p:spPr>
          <a:xfrm>
            <a:off x="7216720" y="3653586"/>
            <a:ext cx="3911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b="0" i="0" dirty="0" smtClean="0">
                <a:solidFill>
                  <a:srgbClr val="444444"/>
                </a:solidFill>
                <a:latin typeface="Arial"/>
              </a:rPr>
              <a:t>11</a:t>
            </a:r>
            <a:endParaRPr sz="1400" b="0" i="0" dirty="0">
              <a:solidFill>
                <a:srgbClr val="444444"/>
              </a:solidFill>
              <a:latin typeface="Arial"/>
            </a:endParaRPr>
          </a:p>
        </p:txBody>
      </p:sp>
      <p:cxnSp>
        <p:nvCxnSpPr>
          <p:cNvPr id="24" name="رابط مستقيم 23"/>
          <p:cNvCxnSpPr/>
          <p:nvPr/>
        </p:nvCxnSpPr>
        <p:spPr>
          <a:xfrm>
            <a:off x="7216720" y="3894384"/>
            <a:ext cx="470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مستطيل 24"/>
          <p:cNvSpPr/>
          <p:nvPr/>
        </p:nvSpPr>
        <p:spPr>
          <a:xfrm>
            <a:off x="6683300" y="3932491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54040"/>
                </a:solidFill>
              </a:rPr>
              <a:t>2</a:t>
            </a:r>
            <a:endParaRPr lang="ar-SA" sz="1200" dirty="0">
              <a:solidFill>
                <a:srgbClr val="05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الأعداد المحصورة والمتتالية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>
                <a:solidFill>
                  <a:srgbClr val="FFC107"/>
                </a:solidFill>
                <a:latin typeface="Arial"/>
              </a:rPr>
              <a:t>الموضوع ١٠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عدد الأعداد الصحيحة بين س </a:t>
            </a:r>
            <a:r>
              <a:rPr lang="ar-SA" sz="1300" dirty="0" smtClean="0">
                <a:solidFill>
                  <a:srgbClr val="6C6D6F"/>
                </a:solidFill>
              </a:rPr>
              <a:t>و ص (غير شامل </a:t>
            </a:r>
            <a:r>
              <a:rPr lang="ar-SA" sz="1300" dirty="0">
                <a:solidFill>
                  <a:srgbClr val="6C6D6F"/>
                </a:solidFill>
              </a:rPr>
              <a:t>الطرفين)</a:t>
            </a:r>
            <a:r>
              <a:rPr lang="ar-SA" sz="1300" dirty="0" smtClean="0">
                <a:solidFill>
                  <a:srgbClr val="6C6D6F"/>
                </a:solidFill>
              </a:rPr>
              <a:t>  = </a:t>
            </a:r>
            <a:r>
              <a:rPr lang="ar-SA" sz="1300" dirty="0">
                <a:solidFill>
                  <a:srgbClr val="6C6D6F"/>
                </a:solidFill>
              </a:rPr>
              <a:t>ص − س − ١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عدد الأعداد من س إلى ص (شامل الطرفين</a:t>
            </a:r>
            <a:r>
              <a:rPr lang="ar-SA" sz="1300" dirty="0" smtClean="0">
                <a:solidFill>
                  <a:srgbClr val="6C6D6F"/>
                </a:solidFill>
              </a:rPr>
              <a:t>) = </a:t>
            </a:r>
            <a:r>
              <a:rPr lang="ar-SA" sz="1300" dirty="0">
                <a:solidFill>
                  <a:srgbClr val="6C6D6F"/>
                </a:solidFill>
              </a:rPr>
              <a:t>ص − س + ١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الأعداد الزوجية = (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آخر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عدد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زوجي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−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أول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عدد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زوجي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÷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٢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) + 1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444444"/>
                </a:solidFill>
                <a:latin typeface="Arial"/>
              </a:rPr>
              <a:t>الأعداد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الفردية =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( آخر عدد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فردي − 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أول عدد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فردي ÷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٢ ) + 1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457200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055364"/>
            <a:ext cx="4096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الأعداد الزوجية أو الفردية = </a:t>
            </a:r>
            <a:endParaRPr sz="1200" b="1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4612035" y="4307249"/>
            <a:ext cx="25953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EEB60D"/>
                </a:solidFill>
                <a:latin typeface="Arial"/>
              </a:rPr>
              <a:t>( آخر عدد </a:t>
            </a:r>
            <a:r>
              <a:rPr lang="ar-SA" sz="1200" dirty="0" smtClean="0">
                <a:solidFill>
                  <a:srgbClr val="EEB60D"/>
                </a:solidFill>
                <a:latin typeface="Arial"/>
              </a:rPr>
              <a:t>−  </a:t>
            </a:r>
            <a:r>
              <a:rPr lang="ar-SA" sz="1200" dirty="0">
                <a:solidFill>
                  <a:srgbClr val="EEB60D"/>
                </a:solidFill>
                <a:latin typeface="Arial"/>
              </a:rPr>
              <a:t>أول </a:t>
            </a:r>
            <a:r>
              <a:rPr lang="ar-SA" sz="1200" dirty="0" smtClean="0">
                <a:solidFill>
                  <a:srgbClr val="EEB60D"/>
                </a:solidFill>
                <a:latin typeface="Arial"/>
              </a:rPr>
              <a:t>عدد )</a:t>
            </a:r>
            <a:endParaRPr sz="1200" b="0" i="0" dirty="0">
              <a:solidFill>
                <a:srgbClr val="EEB60D"/>
              </a:solidFill>
              <a:latin typeface="Arial"/>
            </a:endParaRPr>
          </a:p>
        </p:txBody>
      </p:sp>
      <p:cxnSp>
        <p:nvCxnSpPr>
          <p:cNvPr id="27" name="رابط مستقيم 26"/>
          <p:cNvCxnSpPr/>
          <p:nvPr/>
        </p:nvCxnSpPr>
        <p:spPr>
          <a:xfrm>
            <a:off x="5939072" y="4584248"/>
            <a:ext cx="10958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مستطيل 27"/>
          <p:cNvSpPr/>
          <p:nvPr/>
        </p:nvSpPr>
        <p:spPr>
          <a:xfrm>
            <a:off x="5721882" y="4624741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600" dirty="0" smtClean="0">
                <a:solidFill>
                  <a:srgbClr val="EEB60D"/>
                </a:solidFill>
              </a:rPr>
              <a:t>2</a:t>
            </a:r>
            <a:endParaRPr lang="ar-SA" sz="1600" dirty="0">
              <a:solidFill>
                <a:srgbClr val="EEB60D"/>
              </a:solidFill>
            </a:endParaRPr>
          </a:p>
        </p:txBody>
      </p:sp>
      <p:sp>
        <p:nvSpPr>
          <p:cNvPr id="31" name="TextBox 19"/>
          <p:cNvSpPr txBox="1"/>
          <p:nvPr/>
        </p:nvSpPr>
        <p:spPr>
          <a:xfrm>
            <a:off x="5394636" y="4392562"/>
            <a:ext cx="489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b="1" i="0" dirty="0" smtClean="0">
                <a:solidFill>
                  <a:srgbClr val="FFC107"/>
                </a:solidFill>
                <a:latin typeface="Arial"/>
              </a:rPr>
              <a:t>+ 1</a:t>
            </a:r>
            <a:endParaRPr sz="1400" b="1" i="0" dirty="0">
              <a:solidFill>
                <a:srgbClr val="FFC107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19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عدداً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صحيحاً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محصوراً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بين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٥ و٤٧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٤٢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٤١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٤٣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٤٤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كلمة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"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بين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"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تعني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لا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نشمل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الطرفين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٥ و٤٧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نطبق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القانون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الأعداد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ص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–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س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- 1 </a:t>
            </a:r>
          </a:p>
          <a:p>
            <a:pPr algn="r" rtl="1"/>
            <a:r>
              <a:rPr lang="ar-SA" sz="1200" dirty="0" smtClean="0">
                <a:solidFill>
                  <a:srgbClr val="FF0000"/>
                </a:solidFill>
                <a:latin typeface="Arial"/>
              </a:rPr>
              <a:t>عوض</a:t>
            </a:r>
            <a:endParaRPr sz="1200" b="0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4041648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47 – 5 – 1 = 41 اذن الإجابة </a:t>
            </a:r>
            <a:r>
              <a:rPr lang="ar-SA" sz="1200" b="0" i="0" dirty="0" err="1" smtClean="0">
                <a:solidFill>
                  <a:srgbClr val="054040"/>
                </a:solidFill>
                <a:latin typeface="Arial"/>
              </a:rPr>
              <a:t>الصحيحه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أ ✓ 41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عدداً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زوجياً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من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١٢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إلى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٦٠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24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>
                <a:solidFill>
                  <a:srgbClr val="FFFFFF"/>
                </a:solidFill>
                <a:latin typeface="Arial"/>
              </a:rPr>
              <a:t>✅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أ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٢٥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26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23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أول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زوجي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١٢  ،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آخر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زوجي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٦٠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نطبق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قانون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الأعداد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الزوجية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</a:p>
          <a:p>
            <a:pPr algn="r" rtl="1"/>
            <a:r>
              <a:rPr lang="ar-SA" sz="1200" dirty="0" smtClean="0">
                <a:solidFill>
                  <a:srgbClr val="FF0000"/>
                </a:solidFill>
                <a:latin typeface="Arial"/>
              </a:rPr>
              <a:t>عوض</a:t>
            </a:r>
            <a:endParaRPr sz="1200" b="0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4048" y="4046659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( 60 – 12 </a:t>
            </a:r>
            <a:r>
              <a:rPr lang="ar-SA" sz="1200" dirty="0">
                <a:solidFill>
                  <a:srgbClr val="444444"/>
                </a:solidFill>
                <a:latin typeface="Arial"/>
              </a:rPr>
              <a:t>÷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2 ) + 1 = 25 اذن </a:t>
            </a:r>
            <a:r>
              <a:rPr lang="ar-SA" sz="1200" b="0" i="0" dirty="0" err="1" smtClean="0">
                <a:solidFill>
                  <a:srgbClr val="054040"/>
                </a:solidFill>
                <a:latin typeface="Arial"/>
              </a:rPr>
              <a:t>الاجابه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الصحيحة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أ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✓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25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pic>
        <p:nvPicPr>
          <p:cNvPr id="23" name="صورة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199" y="3289704"/>
            <a:ext cx="1846418" cy="4980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الدوريات والأنماط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١١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444444"/>
                </a:solidFill>
                <a:latin typeface="Arial"/>
              </a:rPr>
              <a:t>كل ما يتكرر له دورة. الطريقة دائماً: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smtClean="0">
                <a:solidFill>
                  <a:srgbClr val="444444"/>
                </a:solidFill>
                <a:latin typeface="Arial"/>
              </a:rPr>
              <a:t>①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حدد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طول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الدورة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 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②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اقسم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الرقم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على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طول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الدورة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smtClean="0">
                <a:solidFill>
                  <a:srgbClr val="444444"/>
                </a:solidFill>
                <a:latin typeface="Arial"/>
              </a:rPr>
              <a:t>③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الباقي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موقع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العنصر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|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باقٍ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صفر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آخر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عنصر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في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الدورة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444444"/>
                </a:solidFill>
                <a:latin typeface="Arial"/>
              </a:rPr>
              <a:t>أيام الأسبوع = ٧  |  ساعات اليوم = ٢٤  |  السنة الهجرية = ٣٥٤ يوماً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53612"/>
            <a:ext cx="848563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53612"/>
            <a:ext cx="848563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8394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055364"/>
            <a:ext cx="83941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 dirty="0" err="1">
                <a:solidFill>
                  <a:srgbClr val="FFC107"/>
                </a:solidFill>
                <a:latin typeface="Arial"/>
              </a:rPr>
              <a:t>العدد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smtClean="0">
                <a:solidFill>
                  <a:srgbClr val="FFC107"/>
                </a:solidFill>
                <a:latin typeface="Arial"/>
              </a:rPr>
              <a:t>÷</a:t>
            </a:r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smtClean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C107"/>
                </a:solidFill>
                <a:latin typeface="Arial"/>
              </a:rPr>
              <a:t>طول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C107"/>
                </a:solidFill>
                <a:latin typeface="Arial"/>
              </a:rPr>
              <a:t>الدورة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
← </a:t>
            </a:r>
            <a:r>
              <a:rPr sz="1200" b="1" i="0" dirty="0" err="1">
                <a:solidFill>
                  <a:srgbClr val="FFC107"/>
                </a:solidFill>
                <a:latin typeface="Arial"/>
              </a:rPr>
              <a:t>خذ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C107"/>
                </a:solidFill>
                <a:latin typeface="Arial"/>
              </a:rPr>
              <a:t>الباقي</a:t>
            </a:r>
            <a:endParaRPr sz="1200" b="1" i="0" dirty="0">
              <a:solidFill>
                <a:srgbClr val="FFC107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اليوم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الأربعاء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بعد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٩٥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يوماً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يكون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يوم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الجمعة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السبت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د  </a:t>
            </a:r>
            <a:r>
              <a:rPr sz="1300" b="1" i="0" dirty="0" err="1" smtClean="0">
                <a:solidFill>
                  <a:srgbClr val="FFFFFF"/>
                </a:solidFill>
                <a:latin typeface="Arial"/>
              </a:rPr>
              <a:t>الأحد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الاثنين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طول دورة الأسبوع = ٧ أيام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نقسم:  ٩٥ ÷ ٧ = ١٣ والباقي 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87705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نعد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٤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أيام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الأربعاء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201015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(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أربعاء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)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(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خميس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(١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)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جمعة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(٢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)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سبت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(٣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)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أحد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(٤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" y="4486505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د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الأحد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تتكرر</a:t>
            </a:r>
            <a:r>
              <a:rPr b="0" i="0" dirty="0">
                <a:solidFill>
                  <a:srgbClr val="0D2B55"/>
                </a:solidFill>
                <a:latin typeface="Arial"/>
              </a:rPr>
              <a:t>: ٣، ٧، ١، ٥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بنفس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الترتيب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العدد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في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الموضع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٩٩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٣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٧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د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الدورة: ٣ ، ٧ ، ١ ، ٥  ← طول الدورة = 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نقسم:  ٩٩ ÷ ٤ = ٢٤ والباقي 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الباقي ٣ يعني العنصر الثالث في الدورة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33425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الأول=٣  ،  الثاني=٧  ،  الثالث=١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636008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د 1 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✓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 dirty="0" err="1">
                <a:solidFill>
                  <a:srgbClr val="FFFFFF"/>
                </a:solidFill>
                <a:latin typeface="Arial"/>
              </a:rPr>
              <a:t>الترتيب</a:t>
            </a:r>
            <a:r>
              <a:rPr sz="25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FFFFFF"/>
                </a:solidFill>
                <a:latin typeface="Arial"/>
              </a:rPr>
              <a:t>في</a:t>
            </a:r>
            <a:r>
              <a:rPr sz="25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FFFFFF"/>
                </a:solidFill>
                <a:latin typeface="Arial"/>
              </a:rPr>
              <a:t>الفصل</a:t>
            </a:r>
            <a:r>
              <a:rPr sz="25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500" b="1" i="0" dirty="0" err="1">
                <a:solidFill>
                  <a:srgbClr val="FFFFFF"/>
                </a:solidFill>
                <a:latin typeface="Arial"/>
              </a:rPr>
              <a:t>وتساوي</a:t>
            </a:r>
            <a:r>
              <a:rPr sz="25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500" b="1" i="0" dirty="0" err="1" smtClean="0">
                <a:solidFill>
                  <a:srgbClr val="FFFFFF"/>
                </a:solidFill>
                <a:latin typeface="Arial"/>
              </a:rPr>
              <a:t>الأجور</a:t>
            </a:r>
            <a:r>
              <a:rPr lang="ar-SA" sz="2500" b="1" i="0" dirty="0" smtClean="0">
                <a:solidFill>
                  <a:srgbClr val="FFFFFF"/>
                </a:solidFill>
                <a:latin typeface="Arial"/>
              </a:rPr>
              <a:t> وذكاة المال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9144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١٢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304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عدد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الطلاب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في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الفصل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ترتيبه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الأمام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+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ترتيبه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الخلف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−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عدد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أمامه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ترتيبه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الأمام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−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عدد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خلفه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ترتيبه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الخلف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−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076" y="233651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تساوي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الأجور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فرق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المبالغ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÷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فرق الزيادات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20" name="TextBox 10"/>
          <p:cNvSpPr txBox="1"/>
          <p:nvPr/>
        </p:nvSpPr>
        <p:spPr>
          <a:xfrm>
            <a:off x="450672" y="2694326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ذكاة المال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المبلغ الكلي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÷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40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ترتيب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نورة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١٥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من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الأمام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و٢٢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من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الخلف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عدد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الطالبات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ب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٣٦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٣٧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٣٨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39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نطبق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القانون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الطالبات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الترتيب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الأمام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+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الترتيب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الخلف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− 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570079"/>
            <a:ext cx="8449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= ١٥ + ٢٢ − ١  =  ٣٦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طالبة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4041648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لماذا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نطرح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١؟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لأن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نورة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تُحسب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مرتين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>
                <a:solidFill>
                  <a:srgbClr val="054040"/>
                </a:solidFill>
              </a:rPr>
              <a:t>(مرة من الأمام ومرة من الخلف)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44398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ب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٣٦ 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 dirty="0" err="1">
                <a:solidFill>
                  <a:srgbClr val="0D2B55"/>
                </a:solidFill>
                <a:latin typeface="Arial"/>
              </a:rPr>
              <a:t>سعد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لديه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smtClean="0">
                <a:solidFill>
                  <a:srgbClr val="0D2B55"/>
                </a:solidFill>
                <a:latin typeface="Arial"/>
              </a:rPr>
              <a:t>٣٠٠</a:t>
            </a:r>
            <a:r>
              <a:rPr lang="ar-SA" sz="16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ريال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يدخر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smtClean="0">
                <a:solidFill>
                  <a:srgbClr val="0D2B55"/>
                </a:solidFill>
                <a:latin typeface="Arial"/>
              </a:rPr>
              <a:t>٨</a:t>
            </a:r>
            <a:r>
              <a:rPr lang="ar-SA" sz="16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 smtClean="0">
                <a:solidFill>
                  <a:srgbClr val="0D2B55"/>
                </a:solidFill>
                <a:latin typeface="Arial"/>
              </a:rPr>
              <a:t>يومياً</a:t>
            </a:r>
            <a:r>
              <a:rPr sz="16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علي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لديه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smtClean="0">
                <a:solidFill>
                  <a:srgbClr val="0D2B55"/>
                </a:solidFill>
                <a:latin typeface="Arial"/>
              </a:rPr>
              <a:t>٨٠</a:t>
            </a:r>
            <a:r>
              <a:rPr lang="ar-SA" sz="16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ريالاً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يدخر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smtClean="0">
                <a:solidFill>
                  <a:srgbClr val="0D2B55"/>
                </a:solidFill>
                <a:latin typeface="Arial"/>
              </a:rPr>
              <a:t>١٥</a:t>
            </a:r>
            <a:r>
              <a:rPr lang="ar-SA" sz="16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يومياً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بعد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يوم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يتساوى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مبلغاهما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31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٣٢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33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٣٤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فرق المبالغ الحالي: ٣٠٠ − ٨٠ = ٢٢٠ ريال (سعد أكثر)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فرق الادخار اليومي: ١٥ − ٨ = ٧ ريال (علي يدخر أكثر يومياً)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زمن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التساوي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فرق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المبالغ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÷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فرق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الادخار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او الزيادات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270248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= ٢٢٠ ÷ ٧ ≈ ٣١.٤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يوم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" y="4543228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بعد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٣٢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يوماً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يتجاوز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علي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سعد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 ✓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أ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٣٢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الأعداد الأولية وشروط القسمة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>
                <a:solidFill>
                  <a:srgbClr val="FFC107"/>
                </a:solidFill>
                <a:latin typeface="Arial"/>
              </a:rPr>
              <a:t>الموضوع ١٣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444444"/>
                </a:solidFill>
                <a:latin typeface="Arial"/>
              </a:rPr>
              <a:t>العدد الأولي: لا يقبل القسمة إلا على ١ ونفسه  |  ٢ هو الوحيد الزوجي الأولي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القسمة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على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٢: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لازم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آخر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رقم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في العدد يكون زوجي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(3</a:t>
            </a:r>
            <a:r>
              <a:rPr lang="ar-SA" sz="1300" dirty="0" smtClean="0">
                <a:solidFill>
                  <a:srgbClr val="FF0000"/>
                </a:solidFill>
                <a:latin typeface="Arial"/>
              </a:rPr>
              <a:t>6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)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|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القسمة على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٣: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إذا كان مجموع الأرقام يقبل القسمة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÷٣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387024"/>
            <a:ext cx="84124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6C6D6F"/>
                </a:solidFill>
                <a:latin typeface="Arial"/>
              </a:rPr>
              <a:t>القسمة </a:t>
            </a:r>
            <a:r>
              <a:rPr lang="ar-SA" sz="1300" dirty="0">
                <a:solidFill>
                  <a:srgbClr val="6C6D6F"/>
                </a:solidFill>
                <a:latin typeface="Arial"/>
              </a:rPr>
              <a:t>على ٦:  يقبل ÷٢ و÷٣ </a:t>
            </a:r>
            <a:r>
              <a:rPr lang="ar-SA" sz="1300" dirty="0" smtClean="0">
                <a:solidFill>
                  <a:srgbClr val="6C6D6F"/>
                </a:solidFill>
                <a:latin typeface="Arial"/>
              </a:rPr>
              <a:t>معاً |</a:t>
            </a:r>
            <a:r>
              <a:rPr sz="1300" b="0" i="0" dirty="0" smtClean="0">
                <a:solidFill>
                  <a:srgbClr val="6C6D6F"/>
                </a:solidFill>
                <a:latin typeface="Arial"/>
              </a:rPr>
              <a:t>  </a:t>
            </a:r>
            <a:r>
              <a:rPr lang="ar-SA" sz="1300" b="0" i="0" dirty="0" smtClean="0">
                <a:solidFill>
                  <a:srgbClr val="6C6D6F"/>
                </a:solidFill>
                <a:latin typeface="Arial"/>
              </a:rPr>
              <a:t>القسمة على 7 </a:t>
            </a:r>
            <a:r>
              <a:rPr sz="1300" b="0" i="0" dirty="0" smtClean="0">
                <a:solidFill>
                  <a:srgbClr val="6C6D6F"/>
                </a:solidFill>
                <a:latin typeface="Arial"/>
              </a:rPr>
              <a:t>:</a:t>
            </a:r>
            <a:r>
              <a:rPr lang="ar-SA" sz="1300" dirty="0" smtClean="0">
                <a:solidFill>
                  <a:srgbClr val="6C6D6F"/>
                </a:solidFill>
                <a:latin typeface="Arial"/>
              </a:rPr>
              <a:t> إذا كان </a:t>
            </a:r>
            <a:r>
              <a:rPr lang="ar-SA" sz="1300" dirty="0">
                <a:solidFill>
                  <a:srgbClr val="6C6D6F"/>
                </a:solidFill>
              </a:rPr>
              <a:t>العدد بدون آحاده − ضعف الآحاد = عدد يقبل القسمة على ٧.</a:t>
            </a:r>
          </a:p>
          <a:p>
            <a:pPr algn="r" rtl="1"/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03018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القسمة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على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٤: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آخر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رقمان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يقبلان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÷٤ 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|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القسمة على ٥ :  آخر رقم ٠ أو ٥ 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6" name="TextBox 10"/>
          <p:cNvSpPr txBox="1"/>
          <p:nvPr/>
        </p:nvSpPr>
        <p:spPr>
          <a:xfrm>
            <a:off x="365760" y="274386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 smtClean="0">
                <a:solidFill>
                  <a:srgbClr val="6C6D6F"/>
                </a:solidFill>
                <a:latin typeface="Arial"/>
              </a:rPr>
              <a:t>القسمة</a:t>
            </a:r>
            <a:r>
              <a:rPr sz="1300" b="0" i="0" dirty="0" smtClean="0">
                <a:solidFill>
                  <a:srgbClr val="6C6D6F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6C6D6F"/>
                </a:solidFill>
                <a:latin typeface="Arial"/>
              </a:rPr>
              <a:t>على</a:t>
            </a:r>
            <a:r>
              <a:rPr sz="1300" b="0" i="0" dirty="0" smtClean="0">
                <a:solidFill>
                  <a:srgbClr val="6C6D6F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6C6D6F"/>
                </a:solidFill>
                <a:latin typeface="Arial"/>
              </a:rPr>
              <a:t>8</a:t>
            </a:r>
            <a:r>
              <a:rPr sz="1300" b="0" i="0" dirty="0" smtClean="0">
                <a:solidFill>
                  <a:srgbClr val="6C6D6F"/>
                </a:solidFill>
                <a:latin typeface="Arial"/>
              </a:rPr>
              <a:t>:</a:t>
            </a:r>
            <a:r>
              <a:rPr lang="ar-SA" sz="1300" b="0" i="0" dirty="0" smtClean="0">
                <a:solidFill>
                  <a:srgbClr val="6C6D6F"/>
                </a:solidFill>
                <a:latin typeface="Arial"/>
              </a:rPr>
              <a:t> </a:t>
            </a:r>
            <a:r>
              <a:rPr lang="ar-SA" sz="1300" dirty="0" smtClean="0">
                <a:solidFill>
                  <a:srgbClr val="6C6D6F"/>
                </a:solidFill>
              </a:rPr>
              <a:t>إذا كان </a:t>
            </a:r>
            <a:r>
              <a:rPr lang="ar-SA" sz="1300" dirty="0">
                <a:solidFill>
                  <a:srgbClr val="6C6D6F"/>
                </a:solidFill>
              </a:rPr>
              <a:t>العدد المكوَّن من آحاد وعشرات ومئات </a:t>
            </a:r>
            <a:r>
              <a:rPr lang="ar-SA" sz="1300" dirty="0" smtClean="0">
                <a:solidFill>
                  <a:srgbClr val="6C6D6F"/>
                </a:solidFill>
              </a:rPr>
              <a:t>العدد يقبل القسمة </a:t>
            </a:r>
            <a:r>
              <a:rPr sz="1300" b="0" i="0" dirty="0" smtClean="0">
                <a:solidFill>
                  <a:srgbClr val="6C6D6F"/>
                </a:solidFill>
                <a:latin typeface="Arial"/>
              </a:rPr>
              <a:t>÷</a:t>
            </a:r>
            <a:r>
              <a:rPr lang="ar-SA" sz="1300" b="0" i="0" dirty="0" smtClean="0">
                <a:solidFill>
                  <a:srgbClr val="6C6D6F"/>
                </a:solidFill>
                <a:latin typeface="Arial"/>
              </a:rPr>
              <a:t>8</a:t>
            </a:r>
            <a:r>
              <a:rPr sz="1300" b="0" i="0" dirty="0" smtClean="0">
                <a:solidFill>
                  <a:srgbClr val="6C6D6F"/>
                </a:solidFill>
                <a:latin typeface="Arial"/>
              </a:rPr>
              <a:t>  </a:t>
            </a:r>
            <a:r>
              <a:rPr lang="ar-SA" sz="1300" b="0" i="0" dirty="0" smtClean="0">
                <a:solidFill>
                  <a:srgbClr val="6C6D6F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6C6D6F"/>
                </a:solidFill>
                <a:latin typeface="Arial"/>
              </a:rPr>
              <a:t>|</a:t>
            </a:r>
            <a:r>
              <a:rPr lang="ar-SA" sz="1300" dirty="0">
                <a:solidFill>
                  <a:srgbClr val="6C6D6F"/>
                </a:solidFill>
                <a:latin typeface="Arial"/>
              </a:rPr>
              <a:t> القسمة على ٩ : إذا كان مجموع الأرقام يقبل القسمة </a:t>
            </a:r>
            <a:r>
              <a:rPr lang="ar-SA" sz="1300" dirty="0" smtClean="0">
                <a:solidFill>
                  <a:srgbClr val="6C6D6F"/>
                </a:solidFill>
                <a:latin typeface="Arial"/>
              </a:rPr>
              <a:t>÷ 9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7" name="TextBox 10"/>
          <p:cNvSpPr txBox="1"/>
          <p:nvPr/>
        </p:nvSpPr>
        <p:spPr>
          <a:xfrm>
            <a:off x="365760" y="3100696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 smtClean="0">
                <a:solidFill>
                  <a:srgbClr val="6C6D6F"/>
                </a:solidFill>
                <a:latin typeface="Arial"/>
              </a:rPr>
              <a:t>القسمة</a:t>
            </a:r>
            <a:r>
              <a:rPr sz="1300" b="0" i="0" dirty="0" smtClean="0">
                <a:solidFill>
                  <a:srgbClr val="6C6D6F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6C6D6F"/>
                </a:solidFill>
                <a:latin typeface="Arial"/>
              </a:rPr>
              <a:t>على</a:t>
            </a:r>
            <a:r>
              <a:rPr sz="1300" b="0" i="0" dirty="0" smtClean="0">
                <a:solidFill>
                  <a:srgbClr val="6C6D6F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6C6D6F"/>
                </a:solidFill>
                <a:latin typeface="Arial"/>
              </a:rPr>
              <a:t>11</a:t>
            </a:r>
            <a:r>
              <a:rPr sz="1300" b="0" i="0" dirty="0" smtClean="0">
                <a:solidFill>
                  <a:srgbClr val="6C6D6F"/>
                </a:solidFill>
                <a:latin typeface="Arial"/>
              </a:rPr>
              <a:t>:</a:t>
            </a:r>
            <a:r>
              <a:rPr lang="ar-SA" sz="1300" b="0" i="0" dirty="0" smtClean="0">
                <a:solidFill>
                  <a:srgbClr val="6C6D6F"/>
                </a:solidFill>
                <a:latin typeface="Arial"/>
              </a:rPr>
              <a:t> </a:t>
            </a:r>
            <a:r>
              <a:rPr lang="ar-SA" sz="1300" dirty="0" smtClean="0">
                <a:solidFill>
                  <a:srgbClr val="6C6D6F"/>
                </a:solidFill>
              </a:rPr>
              <a:t>إذا كان </a:t>
            </a:r>
            <a:r>
              <a:rPr lang="ar-SA" sz="1300" dirty="0">
                <a:solidFill>
                  <a:srgbClr val="6C6D6F"/>
                </a:solidFill>
              </a:rPr>
              <a:t>مجموع أرقامه في الخانات الزوجية </a:t>
            </a:r>
            <a:r>
              <a:rPr lang="ar-SA" sz="1300" dirty="0" smtClean="0">
                <a:solidFill>
                  <a:srgbClr val="6C6D6F"/>
                </a:solidFill>
              </a:rPr>
              <a:t>- مجموع </a:t>
            </a:r>
            <a:r>
              <a:rPr lang="ar-SA" sz="1300" dirty="0">
                <a:solidFill>
                  <a:srgbClr val="6C6D6F"/>
                </a:solidFill>
              </a:rPr>
              <a:t>أرقامه في الخانات الفردية </a:t>
            </a:r>
            <a:r>
              <a:rPr lang="ar-SA" sz="1300" dirty="0" smtClean="0">
                <a:solidFill>
                  <a:srgbClr val="6C6D6F"/>
                </a:solidFill>
              </a:rPr>
              <a:t> = صفرًا </a:t>
            </a:r>
            <a:r>
              <a:rPr lang="ar-SA" sz="1300" dirty="0">
                <a:solidFill>
                  <a:srgbClr val="6C6D6F"/>
                </a:solidFill>
              </a:rPr>
              <a:t>أو مضاعفات </a:t>
            </a:r>
            <a:r>
              <a:rPr lang="ar-SA" sz="1300" dirty="0" smtClean="0">
                <a:solidFill>
                  <a:srgbClr val="6C6D6F"/>
                </a:solidFill>
              </a:rPr>
              <a:t>١١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i="0" dirty="0" err="1">
                <a:solidFill>
                  <a:srgbClr val="0D2B55"/>
                </a:solidFill>
                <a:latin typeface="Arial"/>
              </a:rPr>
              <a:t>أيٌّ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من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التالية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عدد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0D2B55"/>
                </a:solidFill>
                <a:latin typeface="Arial"/>
              </a:rPr>
              <a:t>أولي</a:t>
            </a:r>
            <a:r>
              <a:rPr sz="2000"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51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49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د</a:t>
            </a:r>
            <a:r>
              <a:rPr lang="ar-SA" sz="1300" b="1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43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57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نختبر كل خيار بالقسمة على ٢ و٣ و٥ و٧: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٥١: مجموع أرقامه ٥+١=٦ يقبل ÷٣  ← ليس أولياً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٤٩: يساوي ٧×٧  ← ليس أولياً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33425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٤٣: لا يقبل ÷٢ ولا ÷٣ ولا ÷٥ ولا ÷٧  ← أولي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470001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٥٧: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مجموع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أرقامه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١٢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يقبل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÷٣  ←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د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٤٣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>
                <a:solidFill>
                  <a:srgbClr val="FFFFFF"/>
                </a:solidFill>
                <a:latin typeface="Arial"/>
              </a:rPr>
              <a:t>السؤال رقم  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rgbClr val="0D2B55"/>
                </a:solidFill>
              </a:rPr>
              <a:t>عدد (٣، ك، ٢، ٦) يقبل القسمة على ٩. ما قيمة ك؟</a:t>
            </a:r>
            <a:endParaRPr sz="1600" b="0" i="0" dirty="0">
              <a:solidFill>
                <a:srgbClr val="0D2B55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ب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٧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8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6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5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شرط القسمة على ٩:  مجموع الأرقام يقبل ÷٩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نجمع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الأرقام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المعروفة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٣ + ك + ٢ + ٦ = ١١ + 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نريد ١١ + ك أن يكون مضاعفاً لـ ٩: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33425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إذا ك = ٧ :  ١١ + ٧ = ١٨  ← يقبل ÷٩ 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4617720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ب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ك = ٧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>
                <a:solidFill>
                  <a:srgbClr val="FFFFFF"/>
                </a:solidFill>
                <a:latin typeface="Arial"/>
              </a:rPr>
              <a:t>المربع الكامل والتحليل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dirty="0" err="1" smtClean="0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dirty="0" smtClean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dirty="0" smtClean="0">
                <a:solidFill>
                  <a:srgbClr val="FFC107"/>
                </a:solidFill>
                <a:latin typeface="Arial"/>
              </a:rPr>
              <a:t>14</a:t>
            </a:r>
            <a:endParaRPr sz="1300" b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(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أ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+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ب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)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²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 =  أ²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 +  ٢أب  +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ب²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   ←  </a:t>
            </a:r>
            <a:r>
              <a:rPr sz="1300" b="0" dirty="0" err="1" smtClean="0">
                <a:solidFill>
                  <a:srgbClr val="444444"/>
                </a:solidFill>
                <a:latin typeface="Arial"/>
              </a:rPr>
              <a:t>المربع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 smtClean="0">
                <a:solidFill>
                  <a:srgbClr val="444444"/>
                </a:solidFill>
                <a:latin typeface="Arial"/>
              </a:rPr>
              <a:t>الكامل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 smtClean="0">
                <a:solidFill>
                  <a:srgbClr val="444444"/>
                </a:solidFill>
                <a:latin typeface="Arial"/>
              </a:rPr>
              <a:t>للمجموع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82495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444444"/>
                </a:solidFill>
                <a:latin typeface="Arial"/>
              </a:rPr>
              <a:t>(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أ-ب)²  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=  أ²  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- 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٢أب  + ب²     ←  المربع الكامل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للفرق</a:t>
            </a:r>
            <a:endParaRPr lang="ar-SA" sz="130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29967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444444"/>
                </a:solidFill>
                <a:latin typeface="Arial"/>
              </a:rPr>
              <a:t>أ²   - 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ب² =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(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أ + ب)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( أ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-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ب)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    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← 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الفرق بين </a:t>
            </a:r>
            <a:r>
              <a:rPr lang="ar-SA" sz="1300" dirty="0" err="1" smtClean="0">
                <a:solidFill>
                  <a:srgbClr val="444444"/>
                </a:solidFill>
                <a:latin typeface="Arial"/>
              </a:rPr>
              <a:t>مربيعن</a:t>
            </a:r>
            <a:endParaRPr lang="ar-SA" sz="130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77439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dirty="0" err="1">
                <a:solidFill>
                  <a:srgbClr val="444444"/>
                </a:solidFill>
                <a:latin typeface="Arial"/>
              </a:rPr>
              <a:t>تطبيق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سريع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: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٩٩²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=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(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100 – 1 )²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= ١٠٠٠٠ 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− ٢٠٠ + ١ = ٩٨٠١</a:t>
            </a:r>
          </a:p>
        </p:txBody>
      </p:sp>
    </p:spTree>
    <p:extLst>
      <p:ext uri="{BB962C8B-B14F-4D97-AF65-F5344CB8AC3E}">
        <p14:creationId xmlns:p14="http://schemas.microsoft.com/office/powerpoint/2010/main" val="408409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 </a:t>
            </a:r>
            <a:r>
              <a:rPr sz="1700" b="1" dirty="0" smtClean="0">
                <a:solidFill>
                  <a:srgbClr val="FFFFFF"/>
                </a:solidFill>
                <a:latin typeface="Arial"/>
              </a:rPr>
              <a:t>27</a:t>
            </a:r>
            <a:endParaRPr sz="17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sz="2000" b="0" dirty="0">
                <a:solidFill>
                  <a:srgbClr val="0D2B55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0D2B55"/>
                </a:solidFill>
                <a:latin typeface="Arial"/>
              </a:rPr>
              <a:t>ناتج</a:t>
            </a:r>
            <a:r>
              <a:rPr sz="2000" b="0" dirty="0" smtClean="0">
                <a:solidFill>
                  <a:srgbClr val="0D2B55"/>
                </a:solidFill>
                <a:latin typeface="Arial"/>
              </a:rPr>
              <a:t>:</a:t>
            </a:r>
            <a:r>
              <a:rPr lang="ar-SA" sz="2000" b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2000" b="0" dirty="0" smtClean="0">
                <a:solidFill>
                  <a:srgbClr val="0D2B55"/>
                </a:solidFill>
                <a:latin typeface="Arial"/>
              </a:rPr>
              <a:t> ١٠١²</a:t>
            </a:r>
            <a:r>
              <a:rPr lang="ar-SA" sz="2000" b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2000" b="0" dirty="0" smtClean="0">
                <a:solidFill>
                  <a:srgbClr val="0D2B55"/>
                </a:solidFill>
                <a:latin typeface="Arial"/>
              </a:rPr>
              <a:t>؟</a:t>
            </a:r>
            <a:endParaRPr sz="2000" b="0" dirty="0">
              <a:solidFill>
                <a:srgbClr val="0D2B55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dirty="0">
                <a:solidFill>
                  <a:srgbClr val="FFFFFF"/>
                </a:solidFill>
                <a:latin typeface="Arial"/>
              </a:rPr>
              <a:t>✅ </a:t>
            </a:r>
            <a:r>
              <a:rPr lang="ar-SA" sz="1300" b="1" dirty="0" smtClean="0">
                <a:solidFill>
                  <a:srgbClr val="FFFFFF"/>
                </a:solidFill>
                <a:latin typeface="Arial"/>
              </a:rPr>
              <a:t> ب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dirty="0">
                <a:solidFill>
                  <a:srgbClr val="FFFFFF"/>
                </a:solidFill>
                <a:latin typeface="Arial"/>
              </a:rPr>
              <a:t>١٠٢٠١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أ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١٠١٠١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١٠٠٠١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١٠٣٠١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>
                <a:solidFill>
                  <a:srgbClr val="FFFFFF"/>
                </a:solidFill>
                <a:latin typeface="Arial"/>
              </a:rPr>
              <a:t>✏️  خطوات الحـــل  — اقرأ بتمعن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35761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054040"/>
                </a:solidFill>
                <a:latin typeface="Arial"/>
              </a:rPr>
              <a:t>بدلاً من الضرب الطويل نستخدم قانون المربع الكامل: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357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444444"/>
                </a:solidFill>
                <a:latin typeface="Arial"/>
              </a:rPr>
              <a:t>101 ²  </a:t>
            </a:r>
            <a:r>
              <a:rPr lang="ar-SA" sz="1200" dirty="0">
                <a:solidFill>
                  <a:srgbClr val="444444"/>
                </a:solidFill>
                <a:latin typeface="Arial"/>
              </a:rPr>
              <a:t>= ( 100 </a:t>
            </a:r>
            <a:r>
              <a:rPr lang="ar-SA" sz="1200" dirty="0" smtClean="0">
                <a:solidFill>
                  <a:srgbClr val="444444"/>
                </a:solidFill>
                <a:latin typeface="Arial"/>
              </a:rPr>
              <a:t>+ </a:t>
            </a:r>
            <a:r>
              <a:rPr lang="ar-SA" sz="1200" dirty="0">
                <a:solidFill>
                  <a:srgbClr val="444444"/>
                </a:solidFill>
                <a:latin typeface="Arial"/>
              </a:rPr>
              <a:t>1 )² = </a:t>
            </a:r>
            <a:r>
              <a:rPr lang="ar-SA" sz="1200" dirty="0" smtClean="0">
                <a:solidFill>
                  <a:srgbClr val="444444"/>
                </a:solidFill>
                <a:latin typeface="Arial"/>
              </a:rPr>
              <a:t>100 ² + ٢ </a:t>
            </a:r>
            <a:r>
              <a:rPr lang="ar-SA" sz="1200" dirty="0">
                <a:solidFill>
                  <a:srgbClr val="054040"/>
                </a:solidFill>
              </a:rPr>
              <a:t>×</a:t>
            </a:r>
            <a:r>
              <a:rPr lang="ar-SA" sz="1200" dirty="0" smtClean="0">
                <a:solidFill>
                  <a:srgbClr val="444444"/>
                </a:solidFill>
                <a:latin typeface="Arial"/>
              </a:rPr>
              <a:t> ١00 </a:t>
            </a:r>
            <a:r>
              <a:rPr lang="ar-SA" sz="1200" dirty="0">
                <a:solidFill>
                  <a:srgbClr val="054040"/>
                </a:solidFill>
              </a:rPr>
              <a:t>×</a:t>
            </a:r>
            <a:r>
              <a:rPr lang="ar-SA" sz="1200" dirty="0" smtClean="0">
                <a:solidFill>
                  <a:srgbClr val="444444"/>
                </a:solidFill>
                <a:latin typeface="Arial"/>
              </a:rPr>
              <a:t> 1 + 1 </a:t>
            </a:r>
            <a:r>
              <a:rPr lang="ar-SA" sz="1200" dirty="0">
                <a:solidFill>
                  <a:srgbClr val="444444"/>
                </a:solidFill>
                <a:latin typeface="Arial"/>
              </a:rPr>
              <a:t>²</a:t>
            </a:r>
            <a:r>
              <a:rPr lang="ar-SA" sz="1200" dirty="0" smtClean="0">
                <a:solidFill>
                  <a:srgbClr val="444444"/>
                </a:solidFill>
                <a:latin typeface="Arial"/>
              </a:rPr>
              <a:t> =</a:t>
            </a:r>
            <a:endParaRPr lang="ar-SA" sz="120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3916311"/>
            <a:ext cx="835761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dirty="0">
                <a:solidFill>
                  <a:srgbClr val="054040"/>
                </a:solidFill>
                <a:latin typeface="Arial"/>
              </a:rPr>
              <a:t>         = ١٠٠٠٠  +  ٢٠٠  +  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249281"/>
            <a:ext cx="8357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dirty="0">
                <a:solidFill>
                  <a:srgbClr val="054040"/>
                </a:solidFill>
                <a:latin typeface="Arial"/>
              </a:rPr>
              <a:t>         = ١٠٢٠١  ✓  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ب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١٠٢٠١</a:t>
            </a:r>
          </a:p>
        </p:txBody>
      </p:sp>
    </p:spTree>
    <p:extLst>
      <p:ext uri="{BB962C8B-B14F-4D97-AF65-F5344CB8AC3E}">
        <p14:creationId xmlns:p14="http://schemas.microsoft.com/office/powerpoint/2010/main" val="244052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dirty="0" err="1">
                <a:solidFill>
                  <a:srgbClr val="FFFFFF"/>
                </a:solidFill>
                <a:latin typeface="Arial"/>
              </a:rPr>
              <a:t>الأعداد</a:t>
            </a:r>
            <a:r>
              <a:rPr sz="25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FFFFF"/>
                </a:solidFill>
                <a:latin typeface="Arial"/>
              </a:rPr>
              <a:t>العشرية</a:t>
            </a:r>
            <a:endParaRPr sz="25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b="0" dirty="0" smtClean="0">
                <a:solidFill>
                  <a:srgbClr val="FFC107"/>
                </a:solidFill>
                <a:latin typeface="Arial"/>
              </a:rPr>
              <a:t>15</a:t>
            </a:r>
            <a:endParaRPr sz="1300" b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dirty="0" err="1">
                <a:solidFill>
                  <a:srgbClr val="444444"/>
                </a:solidFill>
                <a:latin typeface="Arial"/>
              </a:rPr>
              <a:t>الأعداد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 smtClean="0">
                <a:solidFill>
                  <a:srgbClr val="444444"/>
                </a:solidFill>
                <a:latin typeface="Arial"/>
              </a:rPr>
              <a:t>العشرية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: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تحتوي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 smtClean="0">
                <a:solidFill>
                  <a:srgbClr val="444444"/>
                </a:solidFill>
                <a:latin typeface="Arial"/>
              </a:rPr>
              <a:t>فاصلة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تفصل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الجزء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الصحيح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عن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العشري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(</a:t>
            </a:r>
            <a:r>
              <a:rPr sz="1300" b="0" dirty="0" err="1" smtClean="0">
                <a:solidFill>
                  <a:srgbClr val="444444"/>
                </a:solidFill>
                <a:latin typeface="Arial"/>
              </a:rPr>
              <a:t>مثل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: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٣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.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٧٥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)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82495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dirty="0" err="1" smtClean="0">
                <a:solidFill>
                  <a:srgbClr val="444444"/>
                </a:solidFill>
                <a:latin typeface="Arial"/>
              </a:rPr>
              <a:t>الجمع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و </a:t>
            </a:r>
            <a:r>
              <a:rPr sz="1300" b="0" dirty="0" err="1" smtClean="0">
                <a:solidFill>
                  <a:srgbClr val="444444"/>
                </a:solidFill>
                <a:latin typeface="Arial"/>
              </a:rPr>
              <a:t>الطرح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: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رتّب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الفواصل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فوق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بعض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ثم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احسب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 smtClean="0">
                <a:solidFill>
                  <a:srgbClr val="444444"/>
                </a:solidFill>
                <a:latin typeface="Arial"/>
              </a:rPr>
              <a:t>عادياً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كأن لا يوجد علامات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29967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dirty="0" err="1">
                <a:solidFill>
                  <a:srgbClr val="444444"/>
                </a:solidFill>
                <a:latin typeface="Arial"/>
              </a:rPr>
              <a:t>الضرب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اضرب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بدون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فاصلة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ثم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ضع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الفاصلة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بعد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عدد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المنازل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العشرية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الإجمالي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77439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444444"/>
                </a:solidFill>
                <a:latin typeface="Arial"/>
              </a:rPr>
              <a:t>القسمة: حوّل المقسوم عليه لعدد صحيح بضرب كلا الطرفين في ١٠ أو ١٠٠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24911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444444"/>
                </a:solidFill>
                <a:latin typeface="Arial"/>
              </a:rPr>
              <a:t>تحويل مهم:  ١/٢=٠.٥  |  ١/٤=٠.٢٥  |  ١/٥=٠.٢  |  ١/٨=٠.١٢٥  |  ٣/٤=٠.٧٥</a:t>
            </a:r>
          </a:p>
        </p:txBody>
      </p:sp>
      <p:pic>
        <p:nvPicPr>
          <p:cNvPr id="21" name="صورة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18" y="1353312"/>
            <a:ext cx="2934562" cy="361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9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700" b="1" dirty="0">
                <a:solidFill>
                  <a:srgbClr val="FFFFFF"/>
                </a:solidFill>
                <a:latin typeface="Arial"/>
              </a:rPr>
              <a:t>السؤال رقم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28</a:t>
            </a:r>
            <a:endParaRPr lang="ar-SA" sz="17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ناتج</a:t>
            </a:r>
            <a:r>
              <a:rPr b="0" dirty="0">
                <a:solidFill>
                  <a:srgbClr val="0D2B55"/>
                </a:solidFill>
                <a:latin typeface="Arial"/>
              </a:rPr>
              <a:t>:  ٣.٧٥ × ٠.٤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١.٠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dirty="0" smtClean="0">
                <a:solidFill>
                  <a:srgbClr val="FFFFFF"/>
                </a:solidFill>
                <a:latin typeface="Arial"/>
              </a:rPr>
              <a:t>أ </a:t>
            </a:r>
            <a:r>
              <a:rPr sz="1300" b="1" dirty="0" smtClean="0">
                <a:solidFill>
                  <a:srgbClr val="FFFFFF"/>
                </a:solidFill>
                <a:latin typeface="Arial"/>
              </a:rPr>
              <a:t>١.٥</a:t>
            </a:r>
            <a:endParaRPr sz="13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د 1.3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١.٢٠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>
                <a:solidFill>
                  <a:srgbClr val="FFFFFF"/>
                </a:solidFill>
                <a:latin typeface="Arial"/>
              </a:rPr>
              <a:t>✏️  خطوات الحـــل  — اقرأ بتمعن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357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١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نضرب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العددين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بدون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الفاصلة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:  ٣٧٥ × ٤ = ١٥٠٠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357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٢ — 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>
                <a:solidFill>
                  <a:srgbClr val="054040"/>
                </a:solidFill>
              </a:rPr>
              <a:t>نحسب عدد المنازل العشرية: ٣.٧٥ (</a:t>
            </a:r>
            <a:r>
              <a:rPr lang="ar-SA" sz="1200" dirty="0" smtClean="0">
                <a:solidFill>
                  <a:srgbClr val="054040"/>
                </a:solidFill>
              </a:rPr>
              <a:t>منزلتان بعد </a:t>
            </a:r>
            <a:r>
              <a:rPr lang="ar-SA" sz="1200" dirty="0" err="1" smtClean="0">
                <a:solidFill>
                  <a:srgbClr val="054040"/>
                </a:solidFill>
              </a:rPr>
              <a:t>العلامه</a:t>
            </a:r>
            <a:r>
              <a:rPr lang="ar-SA" sz="1200" dirty="0" smtClean="0">
                <a:solidFill>
                  <a:srgbClr val="054040"/>
                </a:solidFill>
              </a:rPr>
              <a:t> ) </a:t>
            </a:r>
            <a:r>
              <a:rPr lang="ar-SA" sz="1200" dirty="0">
                <a:solidFill>
                  <a:srgbClr val="054040"/>
                </a:solidFill>
              </a:rPr>
              <a:t>+ ٠.٤ (</a:t>
            </a:r>
            <a:r>
              <a:rPr lang="ar-SA" sz="1200" dirty="0" smtClean="0">
                <a:solidFill>
                  <a:srgbClr val="054040"/>
                </a:solidFill>
              </a:rPr>
              <a:t>منزلة واحدة) = المجموع الكلي = </a:t>
            </a:r>
            <a:r>
              <a:rPr lang="ar-SA" sz="1200" dirty="0">
                <a:solidFill>
                  <a:srgbClr val="054040"/>
                </a:solidFill>
              </a:rPr>
              <a:t>٣</a:t>
            </a:r>
            <a:endParaRPr sz="1200" b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4041648"/>
            <a:ext cx="8357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٣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نضع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الفاصلة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بعد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٣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منازل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من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اليمين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:  ١٥٠٠ → ١.٥٠٠ 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١.٥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374064"/>
            <a:ext cx="8357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أ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١.٥  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293556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29</a:t>
            </a:r>
            <a:endParaRPr sz="17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rgbClr val="0D2B55"/>
                </a:solidFill>
                <a:latin typeface="Arial"/>
              </a:rPr>
              <a:t>ما ناتج:  </a:t>
            </a:r>
            <a:r>
              <a:rPr lang="ar-SA" dirty="0" smtClean="0">
                <a:solidFill>
                  <a:srgbClr val="0D2B55"/>
                </a:solidFill>
                <a:latin typeface="Arial"/>
              </a:rPr>
              <a:t>2.64 + 5.23؟</a:t>
            </a:r>
            <a:endParaRPr lang="ar-SA" dirty="0">
              <a:solidFill>
                <a:srgbClr val="0D2B55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7.50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dirty="0" smtClean="0">
                <a:solidFill>
                  <a:srgbClr val="FFFFFF"/>
                </a:solidFill>
                <a:latin typeface="Arial"/>
              </a:rPr>
              <a:t>أ 7.87</a:t>
            </a:r>
            <a:endParaRPr sz="13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7.80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7.75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dirty="0">
                <a:solidFill>
                  <a:srgbClr val="FFFFFF"/>
                </a:solidFill>
                <a:latin typeface="Arial"/>
              </a:rPr>
              <a:t>✏️ 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خطوات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الح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ـــل  —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اقرأ</a:t>
            </a:r>
            <a:r>
              <a:rPr sz="12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rial"/>
              </a:rPr>
              <a:t>بتمعن</a:t>
            </a:r>
            <a:endParaRPr sz="12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357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  <a:latin typeface="Arial"/>
              </a:rPr>
              <a:t>الخطوة ١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— 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نضع الأرقام فوق بعض ونجمع</a:t>
            </a:r>
            <a:endParaRPr sz="1200" b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357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  <a:latin typeface="Arial"/>
              </a:rPr>
              <a:t>الخطوة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2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—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نجمع كل عدد مع الــ تحته وننزل </a:t>
            </a:r>
            <a:r>
              <a:rPr lang="ar-SA" sz="1200" dirty="0" err="1" smtClean="0">
                <a:solidFill>
                  <a:srgbClr val="054040"/>
                </a:solidFill>
                <a:latin typeface="Arial"/>
              </a:rPr>
              <a:t>العلامه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 في مكانها عادي</a:t>
            </a:r>
            <a:endParaRPr lang="ar-SA" sz="120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8912" y="3928537"/>
            <a:ext cx="8357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dirty="0" smtClean="0">
                <a:solidFill>
                  <a:srgbClr val="054040"/>
                </a:solidFill>
                <a:latin typeface="Arial"/>
              </a:rPr>
              <a:t>: ✓   </a:t>
            </a:r>
            <a:r>
              <a:rPr sz="1200" b="0" dirty="0" err="1" smtClean="0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أ 7.87</a:t>
            </a:r>
            <a:endParaRPr sz="1200" b="0" dirty="0">
              <a:solidFill>
                <a:srgbClr val="054040"/>
              </a:solidFill>
              <a:latin typeface="Arial"/>
            </a:endParaRPr>
          </a:p>
        </p:txBody>
      </p:sp>
      <p:pic>
        <p:nvPicPr>
          <p:cNvPr id="22" name="صورة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398" y="3267388"/>
            <a:ext cx="994323" cy="89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17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الكسور وعملياتها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FFC107"/>
                </a:solidFill>
                <a:latin typeface="Arial"/>
              </a:rPr>
              <a:t>١</a:t>
            </a:r>
            <a:r>
              <a:rPr lang="ar-SA" sz="1300" b="0" i="0" dirty="0" smtClean="0">
                <a:solidFill>
                  <a:srgbClr val="FFC107"/>
                </a:solidFill>
                <a:latin typeface="Arial"/>
              </a:rPr>
              <a:t>6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الضرب: أ/ب × ج/د = (</a:t>
            </a:r>
            <a:r>
              <a:rPr lang="ar-SA" sz="1300" dirty="0" err="1">
                <a:solidFill>
                  <a:srgbClr val="6C6D6F"/>
                </a:solidFill>
              </a:rPr>
              <a:t>أ×ج</a:t>
            </a:r>
            <a:r>
              <a:rPr lang="ar-SA" sz="1300" dirty="0">
                <a:solidFill>
                  <a:srgbClr val="6C6D6F"/>
                </a:solidFill>
              </a:rPr>
              <a:t>)÷(</a:t>
            </a:r>
            <a:r>
              <a:rPr lang="ar-SA" sz="1300" dirty="0" err="1">
                <a:solidFill>
                  <a:srgbClr val="6C6D6F"/>
                </a:solidFill>
              </a:rPr>
              <a:t>ب×د</a:t>
            </a:r>
            <a:r>
              <a:rPr lang="ar-SA" sz="1300" dirty="0">
                <a:solidFill>
                  <a:srgbClr val="6C6D6F"/>
                </a:solidFill>
              </a:rPr>
              <a:t>) (يمكن الاختصار قبل الضرب)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القسمة: أ/ب ÷ ج/د = أ/ب × د/ج (اقلب الثاني ثم اضرب)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الجمع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أو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الطرح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: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وحّد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المقامات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أولاً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المقارنة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بالمقص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: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أ/ب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vs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ج/د →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قارن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أ×د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)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و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(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ج×ب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pic>
        <p:nvPicPr>
          <p:cNvPr id="12" name="صورة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312"/>
            <a:ext cx="3154680" cy="35763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30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ناتج</a:t>
            </a:r>
            <a:r>
              <a:rPr b="0" i="0" dirty="0">
                <a:solidFill>
                  <a:srgbClr val="0D2B55"/>
                </a:solidFill>
                <a:latin typeface="Arial"/>
              </a:rPr>
              <a:t>: 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٣/٤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÷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>
                <a:solidFill>
                  <a:srgbClr val="0D2B55"/>
                </a:solidFill>
                <a:latin typeface="Arial"/>
              </a:rPr>
              <a:t>٩/١٦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٤/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2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 3/4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٣/٢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2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قسمة الكسور:  اقلب الكسر الثاني ثم اضرب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smtClean="0">
                <a:solidFill>
                  <a:srgbClr val="054040"/>
                </a:solidFill>
                <a:latin typeface="Arial"/>
              </a:rPr>
              <a:t>٣/٤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÷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٩/١٦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٣/٤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×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١٦/٩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نختصر قبل الضرب: ٣ و٩ مشترك (÷٣) ، ٤ و١٦ مشترك (÷</a:t>
            </a:r>
            <a:r>
              <a:rPr lang="ar-SA" sz="1200" dirty="0" smtClean="0">
                <a:solidFill>
                  <a:srgbClr val="054040"/>
                </a:solidFill>
              </a:rPr>
              <a:t>٤)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33425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=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١/١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×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٤/٣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٤/٣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-939220" y="4318581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الصحيحة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أ 3/4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 smtClean="0">
                <a:solidFill>
                  <a:srgbClr val="FFFFFF"/>
                </a:solidFill>
                <a:latin typeface="Arial"/>
              </a:rPr>
              <a:t>رقم</a:t>
            </a:r>
            <a:r>
              <a:rPr lang="ar-SA" sz="17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i="0" dirty="0" smtClean="0">
                <a:solidFill>
                  <a:srgbClr val="FFFFFF"/>
                </a:solidFill>
                <a:latin typeface="Arial"/>
              </a:rPr>
              <a:t>31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err="1">
                <a:solidFill>
                  <a:srgbClr val="0D2B55"/>
                </a:solidFill>
                <a:latin typeface="Arial"/>
              </a:rPr>
              <a:t>مقصف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D2B55"/>
                </a:solidFill>
                <a:latin typeface="Arial"/>
              </a:rPr>
              <a:t>ربحه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0D2B55"/>
                </a:solidFill>
                <a:latin typeface="Arial"/>
              </a:rPr>
              <a:t>٤٨٠٠</a:t>
            </a:r>
            <a:r>
              <a:rPr lang="ar-SA" sz="15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D2B55"/>
                </a:solidFill>
                <a:latin typeface="Arial"/>
              </a:rPr>
              <a:t>ريال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sz="1500" b="0" i="0" dirty="0" err="1">
                <a:solidFill>
                  <a:srgbClr val="0D2B55"/>
                </a:solidFill>
                <a:latin typeface="Arial"/>
              </a:rPr>
              <a:t>ربعه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D2B55"/>
                </a:solidFill>
                <a:latin typeface="Arial"/>
              </a:rPr>
              <a:t>للمصاريف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D2B55"/>
                </a:solidFill>
                <a:latin typeface="Arial"/>
              </a:rPr>
              <a:t>وثلث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D2B55"/>
                </a:solidFill>
                <a:latin typeface="Arial"/>
              </a:rPr>
              <a:t>الباقي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D2B55"/>
                </a:solidFill>
                <a:latin typeface="Arial"/>
              </a:rPr>
              <a:t>للإيجار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sz="1500"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D2B55"/>
                </a:solidFill>
                <a:latin typeface="Arial"/>
              </a:rPr>
              <a:t>صافي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D2B55"/>
                </a:solidFill>
                <a:latin typeface="Arial"/>
              </a:rPr>
              <a:t>الربح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ب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٢٤٠٠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٢١٠٠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2200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ج 2300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الخطوة ١ — المصاريف:  ٤٨٠٠ × ١/٤ = ١٢٠٠ ريال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الخطوة ٢ — الباقي بعد المصاريف:  ٤٨٠٠ − ١٢٠٠ = ٣٦٠٠ ريال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041648"/>
            <a:ext cx="8449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الخطوة ٣ — الإيجار:  ٣٦٠٠ × ١/٣ = ١٢٠٠ ريال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44398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٤ —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صافي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الربح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٣٦٠٠ − ١٢٠٠ = ٢٤٠٠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ريال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✓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ب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الجذور التربيعية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dirty="0" smtClean="0">
                <a:solidFill>
                  <a:srgbClr val="FFC107"/>
                </a:solidFill>
                <a:latin typeface="Arial"/>
              </a:rPr>
              <a:t>17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√(</a:t>
            </a:r>
            <a:r>
              <a:rPr lang="ar-SA" sz="1300" dirty="0" err="1">
                <a:solidFill>
                  <a:srgbClr val="6C6D6F"/>
                </a:solidFill>
              </a:rPr>
              <a:t>أ×ب</a:t>
            </a:r>
            <a:r>
              <a:rPr lang="ar-SA" sz="1300" dirty="0">
                <a:solidFill>
                  <a:srgbClr val="6C6D6F"/>
                </a:solidFill>
              </a:rPr>
              <a:t>) = √أ × √ب | √(</a:t>
            </a:r>
            <a:r>
              <a:rPr lang="ar-SA" sz="1300" dirty="0" err="1">
                <a:solidFill>
                  <a:srgbClr val="6C6D6F"/>
                </a:solidFill>
              </a:rPr>
              <a:t>أ÷ب</a:t>
            </a:r>
            <a:r>
              <a:rPr lang="ar-SA" sz="1300" dirty="0">
                <a:solidFill>
                  <a:srgbClr val="6C6D6F"/>
                </a:solidFill>
              </a:rPr>
              <a:t>) = √أ ÷ √ب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(√أ)² = أ | </a:t>
            </a:r>
            <a:r>
              <a:rPr lang="ar-SA" sz="1300" dirty="0" smtClean="0">
                <a:solidFill>
                  <a:srgbClr val="6C6D6F"/>
                </a:solidFill>
              </a:rPr>
              <a:t>لأن التربيع يروح مع </a:t>
            </a:r>
            <a:r>
              <a:rPr lang="ar-SA" sz="1300" dirty="0" err="1" smtClean="0">
                <a:solidFill>
                  <a:srgbClr val="6C6D6F"/>
                </a:solidFill>
              </a:rPr>
              <a:t>االجذر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007108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6C6D6F"/>
                </a:solidFill>
              </a:rPr>
              <a:t>تبسيط الجذر: √٧٢ = √(٣٦×٢) = ٦</a:t>
            </a:r>
            <a:r>
              <a:rPr lang="ar-SA" sz="1400" dirty="0" smtClean="0">
                <a:solidFill>
                  <a:srgbClr val="6C6D6F"/>
                </a:solidFill>
              </a:rPr>
              <a:t>√</a:t>
            </a:r>
            <a:r>
              <a:rPr sz="1300" b="0" i="0" dirty="0" smtClean="0">
                <a:solidFill>
                  <a:srgbClr val="6C6D6F"/>
                </a:solidFill>
                <a:latin typeface="Arial"/>
              </a:rPr>
              <a:t>٢</a:t>
            </a:r>
            <a:r>
              <a:rPr lang="ar-SA" sz="1300" b="0" i="0" dirty="0" smtClean="0">
                <a:solidFill>
                  <a:srgbClr val="6C6D6F"/>
                </a:solidFill>
                <a:latin typeface="Arial"/>
              </a:rPr>
              <a:t> سته واثنين تحت الجذر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1772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pic>
        <p:nvPicPr>
          <p:cNvPr id="20" name="صورة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537" y="3890772"/>
            <a:ext cx="1794615" cy="1177115"/>
          </a:xfrm>
          <a:prstGeom prst="rect">
            <a:avLst/>
          </a:prstGeom>
        </p:spPr>
      </p:pic>
      <p:pic>
        <p:nvPicPr>
          <p:cNvPr id="21" name="صورة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567" y="3924311"/>
            <a:ext cx="1991360" cy="1228909"/>
          </a:xfrm>
          <a:prstGeom prst="rect">
            <a:avLst/>
          </a:prstGeom>
        </p:spPr>
      </p:pic>
      <p:pic>
        <p:nvPicPr>
          <p:cNvPr id="22" name="صورة 21"/>
          <p:cNvPicPr>
            <a:picLocks noChangeAspect="1"/>
          </p:cNvPicPr>
          <p:nvPr/>
        </p:nvPicPr>
        <p:blipFill rotWithShape="1">
          <a:blip r:embed="rId4"/>
          <a:srcRect r="4912"/>
          <a:stretch/>
        </p:blipFill>
        <p:spPr>
          <a:xfrm>
            <a:off x="225200" y="1280967"/>
            <a:ext cx="2093310" cy="3252933"/>
          </a:xfrm>
          <a:prstGeom prst="rect">
            <a:avLst/>
          </a:prstGeom>
        </p:spPr>
      </p:pic>
      <p:pic>
        <p:nvPicPr>
          <p:cNvPr id="23" name="صورة 22"/>
          <p:cNvPicPr>
            <a:picLocks noChangeAspect="1"/>
          </p:cNvPicPr>
          <p:nvPr/>
        </p:nvPicPr>
        <p:blipFill rotWithShape="1">
          <a:blip r:embed="rId5"/>
          <a:srcRect l="4317"/>
          <a:stretch/>
        </p:blipFill>
        <p:spPr>
          <a:xfrm>
            <a:off x="2265279" y="1300132"/>
            <a:ext cx="2101769" cy="3214601"/>
          </a:xfrm>
          <a:prstGeom prst="rect">
            <a:avLst/>
          </a:prstGeom>
        </p:spPr>
      </p:pic>
      <p:pic>
        <p:nvPicPr>
          <p:cNvPr id="24" name="صورة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2316915"/>
            <a:ext cx="2076740" cy="16194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i="0" dirty="0" smtClean="0">
                <a:solidFill>
                  <a:srgbClr val="FFFFFF"/>
                </a:solidFill>
                <a:latin typeface="Arial"/>
              </a:rPr>
              <a:t>32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قيمة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 √٢٠٠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ب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١٠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√٢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أ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٢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√١٠٠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٥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√٨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١٤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نكتب ٢٠٠ كضرب عدد مربع × عدد آخر: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٢٠٠ = ١٠٠ × 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نطبق: √٢٠٠ = √(١٠٠ × ٢) = √١٠٠ × √٢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33425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√١٠٠ = ١٠ ← إذاً √٢٠٠ = ١٠√٢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" y="470001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ب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١٠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√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٢✓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i="0" dirty="0" smtClean="0">
                <a:solidFill>
                  <a:srgbClr val="FFFFFF"/>
                </a:solidFill>
                <a:latin typeface="Arial"/>
              </a:rPr>
              <a:t>33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rgbClr val="0D2B55"/>
                </a:solidFill>
              </a:rPr>
              <a:t>إذا كان √(٢س+١) = ٥ ، فما قيمة س ؟</a:t>
            </a:r>
            <a:endParaRPr sz="1600" b="0" i="0" dirty="0">
              <a:solidFill>
                <a:srgbClr val="0D2B55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١١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١٢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١٣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١٠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لإزالة الجذر نربّع طرفي المعادلة: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(√(٢س+١))² = </a:t>
            </a:r>
            <a:r>
              <a:rPr lang="ar-SA" sz="1200" dirty="0" smtClean="0">
                <a:solidFill>
                  <a:srgbClr val="054040"/>
                </a:solidFill>
              </a:rPr>
              <a:t>٥²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3464" y="4207301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  <a:latin typeface="Arial"/>
              </a:rPr>
              <a:t>2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س +١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= ٢٥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464603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نحل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لل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ـ س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٢س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= ٢٥ − ١ = ٢٤  ←  س = ١٢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2370328" y="4464255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أ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١٢ 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✓</a:t>
            </a:r>
          </a:p>
        </p:txBody>
      </p:sp>
      <p:sp>
        <p:nvSpPr>
          <p:cNvPr id="23" name="TextBox 18"/>
          <p:cNvSpPr txBox="1"/>
          <p:nvPr/>
        </p:nvSpPr>
        <p:spPr>
          <a:xfrm>
            <a:off x="256032" y="391963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</a:rPr>
              <a:t>التربيع للقيمة الأول يطير الجذر ف يفضل 2س+5 وتربيع القيمة الثانية =25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الأسس وقوانينها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FFC107"/>
                </a:solidFill>
                <a:latin typeface="Arial"/>
              </a:rPr>
              <a:t>18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434343"/>
                </a:solidFill>
              </a:rPr>
              <a:t>ضرب (نفس الأساس): </a:t>
            </a:r>
            <a:r>
              <a:rPr lang="ar-SA" sz="1400" dirty="0" err="1">
                <a:solidFill>
                  <a:srgbClr val="0D2B55"/>
                </a:solidFill>
              </a:rPr>
              <a:t>أ</a:t>
            </a:r>
            <a:r>
              <a:rPr lang="ar-SA" sz="1400" dirty="0" err="1">
                <a:solidFill>
                  <a:srgbClr val="434343"/>
                </a:solidFill>
              </a:rPr>
              <a:t>^م</a:t>
            </a:r>
            <a:r>
              <a:rPr lang="ar-SA" sz="1400" dirty="0">
                <a:solidFill>
                  <a:srgbClr val="434343"/>
                </a:solidFill>
              </a:rPr>
              <a:t> × </a:t>
            </a:r>
            <a:r>
              <a:rPr lang="ar-SA" sz="1400" dirty="0" err="1">
                <a:solidFill>
                  <a:srgbClr val="0D2B55"/>
                </a:solidFill>
              </a:rPr>
              <a:t>أ</a:t>
            </a:r>
            <a:r>
              <a:rPr lang="ar-SA" sz="1400" dirty="0" err="1">
                <a:solidFill>
                  <a:srgbClr val="434343"/>
                </a:solidFill>
              </a:rPr>
              <a:t>^ن</a:t>
            </a:r>
            <a:r>
              <a:rPr lang="ar-SA" sz="1400" dirty="0">
                <a:solidFill>
                  <a:srgbClr val="434343"/>
                </a:solidFill>
              </a:rPr>
              <a:t> = أ^(</a:t>
            </a:r>
            <a:r>
              <a:rPr lang="ar-SA" sz="1400" dirty="0" err="1">
                <a:solidFill>
                  <a:srgbClr val="434343"/>
                </a:solidFill>
              </a:rPr>
              <a:t>م+ن</a:t>
            </a:r>
            <a:r>
              <a:rPr lang="ar-SA" sz="1400" dirty="0">
                <a:solidFill>
                  <a:srgbClr val="434343"/>
                </a:solidFill>
              </a:rPr>
              <a:t>) ← اجمع الأسس</a:t>
            </a:r>
            <a:endParaRPr sz="1300" b="0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434343"/>
                </a:solidFill>
              </a:rPr>
              <a:t>قسمة (نفس الأساس): </a:t>
            </a:r>
            <a:r>
              <a:rPr lang="ar-SA" sz="1400" dirty="0" err="1">
                <a:solidFill>
                  <a:srgbClr val="0D2B55"/>
                </a:solidFill>
              </a:rPr>
              <a:t>أ</a:t>
            </a:r>
            <a:r>
              <a:rPr lang="ar-SA" sz="1400" dirty="0" err="1">
                <a:solidFill>
                  <a:srgbClr val="434343"/>
                </a:solidFill>
              </a:rPr>
              <a:t>^م</a:t>
            </a:r>
            <a:r>
              <a:rPr lang="ar-SA" sz="1400" dirty="0">
                <a:solidFill>
                  <a:srgbClr val="434343"/>
                </a:solidFill>
              </a:rPr>
              <a:t> ÷ </a:t>
            </a:r>
            <a:r>
              <a:rPr lang="ar-SA" sz="1400" dirty="0" err="1">
                <a:solidFill>
                  <a:srgbClr val="0D2B55"/>
                </a:solidFill>
              </a:rPr>
              <a:t>أ</a:t>
            </a:r>
            <a:r>
              <a:rPr lang="ar-SA" sz="1400" dirty="0" err="1">
                <a:solidFill>
                  <a:srgbClr val="434343"/>
                </a:solidFill>
              </a:rPr>
              <a:t>^ن</a:t>
            </a:r>
            <a:r>
              <a:rPr lang="ar-SA" sz="1400" dirty="0">
                <a:solidFill>
                  <a:srgbClr val="434343"/>
                </a:solidFill>
              </a:rPr>
              <a:t> = أ^(م−ن) ← اطرح الأسس</a:t>
            </a:r>
            <a:endParaRPr sz="1300" b="0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434343"/>
                </a:solidFill>
              </a:rPr>
              <a:t>أس الأس: </a:t>
            </a:r>
            <a:r>
              <a:rPr lang="ar-SA" sz="1400" dirty="0" smtClean="0">
                <a:solidFill>
                  <a:srgbClr val="434343"/>
                </a:solidFill>
              </a:rPr>
              <a:t>( </a:t>
            </a:r>
            <a:r>
              <a:rPr lang="ar-SA" sz="1200" dirty="0" smtClean="0">
                <a:solidFill>
                  <a:srgbClr val="434343"/>
                </a:solidFill>
              </a:rPr>
              <a:t>أ</a:t>
            </a:r>
            <a:r>
              <a:rPr lang="ar-SA" sz="1400" dirty="0" smtClean="0">
                <a:solidFill>
                  <a:srgbClr val="434343"/>
                </a:solidFill>
              </a:rPr>
              <a:t> )  = أ</a:t>
            </a:r>
            <a:endParaRPr sz="1300" b="0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 smtClean="0">
                <a:solidFill>
                  <a:srgbClr val="434343"/>
                </a:solidFill>
              </a:rPr>
              <a:t>أ  = </a:t>
            </a:r>
            <a:r>
              <a:rPr lang="ar-SA" sz="1400" dirty="0">
                <a:solidFill>
                  <a:srgbClr val="434343"/>
                </a:solidFill>
              </a:rPr>
              <a:t>١ | </a:t>
            </a:r>
            <a:r>
              <a:rPr lang="ar-SA" sz="1400" dirty="0" smtClean="0">
                <a:solidFill>
                  <a:srgbClr val="434343"/>
                </a:solidFill>
              </a:rPr>
              <a:t>أ  = ١  </a:t>
            </a:r>
            <a:r>
              <a:rPr lang="ar-SA" sz="1400" dirty="0">
                <a:solidFill>
                  <a:srgbClr val="434343"/>
                </a:solidFill>
              </a:rPr>
              <a:t>| </a:t>
            </a:r>
            <a:r>
              <a:rPr lang="ar-SA" sz="1400" dirty="0" smtClean="0">
                <a:solidFill>
                  <a:srgbClr val="434343"/>
                </a:solidFill>
              </a:rPr>
              <a:t>أ  =  √أ (جذر أ)</a:t>
            </a:r>
            <a:endParaRPr sz="1300" b="0" i="0" dirty="0">
              <a:solidFill>
                <a:srgbClr val="434343"/>
              </a:solidFill>
              <a:latin typeface="Arial"/>
            </a:endParaRPr>
          </a:p>
        </p:txBody>
      </p:sp>
      <p:pic>
        <p:nvPicPr>
          <p:cNvPr id="21" name="صورة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68730"/>
            <a:ext cx="3472180" cy="3804920"/>
          </a:xfrm>
          <a:prstGeom prst="rect">
            <a:avLst/>
          </a:prstGeom>
        </p:spPr>
      </p:pic>
      <p:sp>
        <p:nvSpPr>
          <p:cNvPr id="13" name="مستطيل 12"/>
          <p:cNvSpPr/>
          <p:nvPr/>
        </p:nvSpPr>
        <p:spPr>
          <a:xfrm>
            <a:off x="8348685" y="2349588"/>
            <a:ext cx="457495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800" dirty="0" smtClean="0">
                <a:solidFill>
                  <a:srgbClr val="434343"/>
                </a:solidFill>
              </a:rPr>
              <a:t>صفر</a:t>
            </a:r>
            <a:endParaRPr lang="ar-SA" sz="1000" dirty="0">
              <a:solidFill>
                <a:srgbClr val="434343"/>
              </a:solidFill>
            </a:endParaRPr>
          </a:p>
        </p:txBody>
      </p:sp>
      <p:sp>
        <p:nvSpPr>
          <p:cNvPr id="14" name="مستطيل 13"/>
          <p:cNvSpPr/>
          <p:nvPr/>
        </p:nvSpPr>
        <p:spPr>
          <a:xfrm>
            <a:off x="7862910" y="2348775"/>
            <a:ext cx="457495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dirty="0" smtClean="0">
                <a:solidFill>
                  <a:srgbClr val="434343"/>
                </a:solidFill>
              </a:rPr>
              <a:t>-م</a:t>
            </a:r>
            <a:endParaRPr lang="ar-SA" sz="1050" dirty="0">
              <a:solidFill>
                <a:srgbClr val="434343"/>
              </a:solidFill>
            </a:endParaRPr>
          </a:p>
        </p:txBody>
      </p:sp>
      <p:cxnSp>
        <p:nvCxnSpPr>
          <p:cNvPr id="15" name="رابط مستقيم 14"/>
          <p:cNvCxnSpPr/>
          <p:nvPr/>
        </p:nvCxnSpPr>
        <p:spPr>
          <a:xfrm>
            <a:off x="7772399" y="2559050"/>
            <a:ext cx="106386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مستطيل 17"/>
          <p:cNvSpPr/>
          <p:nvPr/>
        </p:nvSpPr>
        <p:spPr>
          <a:xfrm>
            <a:off x="7596844" y="2564286"/>
            <a:ext cx="457495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dirty="0" smtClean="0">
                <a:solidFill>
                  <a:srgbClr val="434343"/>
                </a:solidFill>
              </a:rPr>
              <a:t>م</a:t>
            </a:r>
            <a:endParaRPr lang="ar-SA" sz="1100" dirty="0">
              <a:solidFill>
                <a:srgbClr val="434343"/>
              </a:solidFill>
            </a:endParaRPr>
          </a:p>
        </p:txBody>
      </p:sp>
      <p:sp>
        <p:nvSpPr>
          <p:cNvPr id="19" name="مستطيل 18"/>
          <p:cNvSpPr/>
          <p:nvPr/>
        </p:nvSpPr>
        <p:spPr>
          <a:xfrm>
            <a:off x="7692094" y="2033905"/>
            <a:ext cx="457495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800" dirty="0" smtClean="0">
                <a:solidFill>
                  <a:srgbClr val="434343"/>
                </a:solidFill>
              </a:rPr>
              <a:t>م</a:t>
            </a:r>
            <a:endParaRPr lang="ar-SA" sz="1000" dirty="0">
              <a:solidFill>
                <a:srgbClr val="434343"/>
              </a:solidFill>
            </a:endParaRPr>
          </a:p>
        </p:txBody>
      </p:sp>
      <p:sp>
        <p:nvSpPr>
          <p:cNvPr id="20" name="مستطيل 19"/>
          <p:cNvSpPr/>
          <p:nvPr/>
        </p:nvSpPr>
        <p:spPr>
          <a:xfrm>
            <a:off x="7589710" y="2011831"/>
            <a:ext cx="457495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800" dirty="0" smtClean="0">
                <a:solidFill>
                  <a:srgbClr val="434343"/>
                </a:solidFill>
              </a:rPr>
              <a:t>ن</a:t>
            </a:r>
            <a:endParaRPr lang="ar-SA" sz="1000" dirty="0">
              <a:solidFill>
                <a:srgbClr val="434343"/>
              </a:solidFill>
            </a:endParaRPr>
          </a:p>
        </p:txBody>
      </p:sp>
      <p:sp>
        <p:nvSpPr>
          <p:cNvPr id="22" name="مستطيل 21"/>
          <p:cNvSpPr/>
          <p:nvPr/>
        </p:nvSpPr>
        <p:spPr>
          <a:xfrm>
            <a:off x="7183407" y="2023261"/>
            <a:ext cx="457495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ar-SA" sz="800" dirty="0">
                <a:solidFill>
                  <a:srgbClr val="434343"/>
                </a:solidFill>
              </a:rPr>
              <a:t>(</a:t>
            </a:r>
            <a:r>
              <a:rPr lang="ar-SA" sz="800" dirty="0" err="1">
                <a:solidFill>
                  <a:srgbClr val="434343"/>
                </a:solidFill>
              </a:rPr>
              <a:t>م×ن</a:t>
            </a:r>
            <a:r>
              <a:rPr lang="ar-SA" sz="800" dirty="0">
                <a:solidFill>
                  <a:srgbClr val="434343"/>
                </a:solidFill>
              </a:rPr>
              <a:t>)</a:t>
            </a:r>
            <a:endParaRPr lang="ar-SA" sz="80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23" name="مستطيل 22"/>
          <p:cNvSpPr/>
          <p:nvPr/>
        </p:nvSpPr>
        <p:spPr>
          <a:xfrm>
            <a:off x="7176327" y="2343237"/>
            <a:ext cx="457495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r" rtl="1"/>
            <a:r>
              <a:rPr lang="ar-SA" sz="800" dirty="0" smtClean="0">
                <a:solidFill>
                  <a:srgbClr val="434343"/>
                </a:solidFill>
              </a:rPr>
              <a:t>1</a:t>
            </a:r>
            <a:endParaRPr lang="ar-SA" sz="800" dirty="0">
              <a:solidFill>
                <a:srgbClr val="434343"/>
              </a:solidFill>
              <a:latin typeface="Arial"/>
            </a:endParaRPr>
          </a:p>
        </p:txBody>
      </p:sp>
      <p:cxnSp>
        <p:nvCxnSpPr>
          <p:cNvPr id="24" name="رابط مستقيم 23"/>
          <p:cNvCxnSpPr/>
          <p:nvPr/>
        </p:nvCxnSpPr>
        <p:spPr>
          <a:xfrm>
            <a:off x="7490620" y="2400069"/>
            <a:ext cx="492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مستطيل 25"/>
          <p:cNvSpPr/>
          <p:nvPr/>
        </p:nvSpPr>
        <p:spPr>
          <a:xfrm>
            <a:off x="7286489" y="2418977"/>
            <a:ext cx="457495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700" dirty="0" smtClean="0">
                <a:solidFill>
                  <a:srgbClr val="434343"/>
                </a:solidFill>
              </a:rPr>
              <a:t>2</a:t>
            </a:r>
            <a:endParaRPr lang="ar-SA" sz="900" dirty="0">
              <a:solidFill>
                <a:srgbClr val="43434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i="0" dirty="0" smtClean="0">
                <a:solidFill>
                  <a:srgbClr val="FFFFFF"/>
                </a:solidFill>
                <a:latin typeface="Arial"/>
              </a:rPr>
              <a:t>34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بسّط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:</a:t>
            </a:r>
            <a:r>
              <a:rPr lang="ar-SA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٥</a:t>
            </a:r>
            <a:r>
              <a:rPr lang="ar-SA" sz="2000" dirty="0" smtClean="0">
                <a:solidFill>
                  <a:srgbClr val="0D2B55"/>
                </a:solidFill>
                <a:latin typeface="Arial"/>
              </a:rPr>
              <a:t>× 5 ÷ 5</a:t>
            </a:r>
            <a:endParaRPr b="0" i="0" dirty="0">
              <a:solidFill>
                <a:srgbClr val="0D2B55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ب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5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5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5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5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 smtClean="0">
                <a:solidFill>
                  <a:srgbClr val="054040"/>
                </a:solidFill>
              </a:rPr>
              <a:t>نطبق </a:t>
            </a:r>
            <a:r>
              <a:rPr lang="ar-SA" sz="1400" dirty="0">
                <a:solidFill>
                  <a:srgbClr val="054040"/>
                </a:solidFill>
              </a:rPr>
              <a:t>قانون الضرب أولاً (نفس الأساس ٥):</a:t>
            </a:r>
            <a:endParaRPr sz="14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33216"/>
            <a:ext cx="8449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 smtClean="0">
                <a:solidFill>
                  <a:srgbClr val="054040"/>
                </a:solidFill>
                <a:latin typeface="Arial"/>
              </a:rPr>
              <a:t>5 × 5  =  5    </a:t>
            </a:r>
            <a:r>
              <a:rPr lang="ar-SA" sz="1400" dirty="0" smtClean="0">
                <a:solidFill>
                  <a:srgbClr val="054040"/>
                </a:solidFill>
              </a:rPr>
              <a:t>= 5 </a:t>
            </a:r>
            <a:endParaRPr lang="ar-SA" sz="140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3949446"/>
            <a:ext cx="8449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0" i="0" dirty="0" err="1">
                <a:solidFill>
                  <a:srgbClr val="054040"/>
                </a:solidFill>
                <a:latin typeface="Arial"/>
              </a:rPr>
              <a:t>ثم</a:t>
            </a:r>
            <a:r>
              <a:rPr sz="14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54040"/>
                </a:solidFill>
                <a:latin typeface="Arial"/>
              </a:rPr>
              <a:t>نطبق</a:t>
            </a:r>
            <a:r>
              <a:rPr sz="14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54040"/>
                </a:solidFill>
                <a:latin typeface="Arial"/>
              </a:rPr>
              <a:t>قانون</a:t>
            </a:r>
            <a:r>
              <a:rPr sz="14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054040"/>
                </a:solidFill>
                <a:latin typeface="Arial"/>
              </a:rPr>
              <a:t>القسمة</a:t>
            </a:r>
            <a:r>
              <a:rPr sz="1400" b="0" i="0" dirty="0">
                <a:solidFill>
                  <a:srgbClr val="054040"/>
                </a:solidFill>
                <a:latin typeface="Arial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334256"/>
            <a:ext cx="8449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054040"/>
                </a:solidFill>
                <a:latin typeface="Arial"/>
              </a:rPr>
              <a:t>5 </a:t>
            </a:r>
            <a:r>
              <a:rPr lang="ar-SA" sz="1400" dirty="0" smtClean="0">
                <a:solidFill>
                  <a:srgbClr val="054040"/>
                </a:solidFill>
                <a:latin typeface="Arial"/>
              </a:rPr>
              <a:t> ÷ </a:t>
            </a:r>
            <a:r>
              <a:rPr lang="ar-SA" sz="1400" dirty="0">
                <a:solidFill>
                  <a:srgbClr val="054040"/>
                </a:solidFill>
                <a:latin typeface="Arial"/>
              </a:rPr>
              <a:t>5 </a:t>
            </a:r>
            <a:r>
              <a:rPr lang="ar-SA" sz="1400" dirty="0" smtClean="0">
                <a:solidFill>
                  <a:srgbClr val="054040"/>
                </a:solidFill>
              </a:rPr>
              <a:t>=  5    = 5</a:t>
            </a:r>
            <a:endParaRPr sz="14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" y="470001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ب  5 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✓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4" name="مستطيل 23"/>
          <p:cNvSpPr/>
          <p:nvPr/>
        </p:nvSpPr>
        <p:spPr>
          <a:xfrm>
            <a:off x="8069112" y="743707"/>
            <a:ext cx="4572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D2B55"/>
                </a:solidFill>
              </a:rPr>
              <a:t>7</a:t>
            </a:r>
            <a:endParaRPr lang="ar-SA" sz="1200" dirty="0">
              <a:solidFill>
                <a:srgbClr val="0D2B55"/>
              </a:solidFill>
            </a:endParaRPr>
          </a:p>
        </p:txBody>
      </p:sp>
      <p:sp>
        <p:nvSpPr>
          <p:cNvPr id="25" name="مستطيل 24"/>
          <p:cNvSpPr/>
          <p:nvPr/>
        </p:nvSpPr>
        <p:spPr>
          <a:xfrm>
            <a:off x="7650350" y="733846"/>
            <a:ext cx="4572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D2B55"/>
                </a:solidFill>
              </a:rPr>
              <a:t>3</a:t>
            </a:r>
            <a:endParaRPr lang="ar-SA" sz="1200" dirty="0">
              <a:solidFill>
                <a:srgbClr val="0D2B55"/>
              </a:solidFill>
            </a:endParaRPr>
          </a:p>
        </p:txBody>
      </p:sp>
      <p:sp>
        <p:nvSpPr>
          <p:cNvPr id="26" name="مستطيل 25"/>
          <p:cNvSpPr/>
          <p:nvPr/>
        </p:nvSpPr>
        <p:spPr>
          <a:xfrm>
            <a:off x="7242070" y="733903"/>
            <a:ext cx="4572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D2B55"/>
                </a:solidFill>
              </a:rPr>
              <a:t>4</a:t>
            </a:r>
            <a:endParaRPr lang="ar-SA" sz="1200" dirty="0">
              <a:solidFill>
                <a:srgbClr val="0D2B55"/>
              </a:solidFill>
            </a:endParaRPr>
          </a:p>
        </p:txBody>
      </p:sp>
      <p:sp>
        <p:nvSpPr>
          <p:cNvPr id="27" name="مستطيل 26"/>
          <p:cNvSpPr/>
          <p:nvPr/>
        </p:nvSpPr>
        <p:spPr>
          <a:xfrm>
            <a:off x="8502500" y="1720019"/>
            <a:ext cx="4572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dirty="0" smtClean="0">
                <a:solidFill>
                  <a:srgbClr val="434343"/>
                </a:solidFill>
              </a:rPr>
              <a:t>7</a:t>
            </a:r>
            <a:endParaRPr lang="ar-SA" sz="1000" dirty="0">
              <a:solidFill>
                <a:srgbClr val="434343"/>
              </a:solidFill>
            </a:endParaRPr>
          </a:p>
        </p:txBody>
      </p:sp>
      <p:sp>
        <p:nvSpPr>
          <p:cNvPr id="28" name="مستطيل 27"/>
          <p:cNvSpPr/>
          <p:nvPr/>
        </p:nvSpPr>
        <p:spPr>
          <a:xfrm>
            <a:off x="8454867" y="2372493"/>
            <a:ext cx="4572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dirty="0" smtClean="0">
                <a:solidFill>
                  <a:srgbClr val="434343"/>
                </a:solidFill>
              </a:rPr>
              <a:t>5</a:t>
            </a:r>
            <a:endParaRPr lang="ar-SA" sz="1000" dirty="0">
              <a:solidFill>
                <a:srgbClr val="434343"/>
              </a:solidFill>
            </a:endParaRPr>
          </a:p>
        </p:txBody>
      </p:sp>
      <p:sp>
        <p:nvSpPr>
          <p:cNvPr id="29" name="مستطيل 28"/>
          <p:cNvSpPr/>
          <p:nvPr/>
        </p:nvSpPr>
        <p:spPr>
          <a:xfrm>
            <a:off x="3806651" y="1710486"/>
            <a:ext cx="4572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dirty="0" smtClean="0">
                <a:solidFill>
                  <a:schemeClr val="bg1"/>
                </a:solidFill>
              </a:rPr>
              <a:t>6</a:t>
            </a:r>
            <a:endParaRPr lang="ar-SA" sz="1000" dirty="0">
              <a:solidFill>
                <a:schemeClr val="bg1"/>
              </a:solidFill>
            </a:endParaRPr>
          </a:p>
        </p:txBody>
      </p:sp>
      <p:sp>
        <p:nvSpPr>
          <p:cNvPr id="30" name="مستطيل 29"/>
          <p:cNvSpPr/>
          <p:nvPr/>
        </p:nvSpPr>
        <p:spPr>
          <a:xfrm>
            <a:off x="4104300" y="2382009"/>
            <a:ext cx="4572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00" dirty="0" smtClean="0">
                <a:solidFill>
                  <a:srgbClr val="434343"/>
                </a:solidFill>
              </a:rPr>
              <a:t>4</a:t>
            </a:r>
            <a:endParaRPr lang="ar-SA" sz="1000" dirty="0">
              <a:solidFill>
                <a:srgbClr val="434343"/>
              </a:solidFill>
            </a:endParaRPr>
          </a:p>
        </p:txBody>
      </p:sp>
      <p:sp>
        <p:nvSpPr>
          <p:cNvPr id="31" name="مستطيل 30"/>
          <p:cNvSpPr/>
          <p:nvPr/>
        </p:nvSpPr>
        <p:spPr>
          <a:xfrm>
            <a:off x="8582378" y="3673059"/>
            <a:ext cx="4572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54040"/>
                </a:solidFill>
              </a:rPr>
              <a:t>7</a:t>
            </a:r>
            <a:endParaRPr lang="ar-SA" sz="1200" dirty="0">
              <a:solidFill>
                <a:srgbClr val="054040"/>
              </a:solidFill>
            </a:endParaRPr>
          </a:p>
        </p:txBody>
      </p:sp>
      <p:sp>
        <p:nvSpPr>
          <p:cNvPr id="32" name="مستطيل 31"/>
          <p:cNvSpPr/>
          <p:nvPr/>
        </p:nvSpPr>
        <p:spPr>
          <a:xfrm>
            <a:off x="8256134" y="3675739"/>
            <a:ext cx="4572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54040"/>
                </a:solidFill>
              </a:rPr>
              <a:t>3</a:t>
            </a:r>
            <a:endParaRPr lang="ar-SA" sz="1200" dirty="0">
              <a:solidFill>
                <a:srgbClr val="054040"/>
              </a:solidFill>
            </a:endParaRPr>
          </a:p>
        </p:txBody>
      </p:sp>
      <p:sp>
        <p:nvSpPr>
          <p:cNvPr id="33" name="مستطيل 32"/>
          <p:cNvSpPr/>
          <p:nvPr/>
        </p:nvSpPr>
        <p:spPr>
          <a:xfrm>
            <a:off x="7576592" y="3597880"/>
            <a:ext cx="642966" cy="143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800" b="1" dirty="0" smtClean="0">
                <a:solidFill>
                  <a:srgbClr val="054040"/>
                </a:solidFill>
              </a:rPr>
              <a:t>(7+3)</a:t>
            </a:r>
            <a:endParaRPr lang="ar-SA" sz="800" b="1" dirty="0">
              <a:solidFill>
                <a:srgbClr val="054040"/>
              </a:solidFill>
            </a:endParaRPr>
          </a:p>
        </p:txBody>
      </p:sp>
      <p:sp>
        <p:nvSpPr>
          <p:cNvPr id="34" name="مستطيل 33"/>
          <p:cNvSpPr/>
          <p:nvPr/>
        </p:nvSpPr>
        <p:spPr>
          <a:xfrm>
            <a:off x="7277100" y="3655260"/>
            <a:ext cx="35969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dirty="0" smtClean="0">
                <a:solidFill>
                  <a:srgbClr val="054040"/>
                </a:solidFill>
              </a:rPr>
              <a:t>10</a:t>
            </a:r>
            <a:endParaRPr lang="ar-SA" sz="1200" dirty="0">
              <a:solidFill>
                <a:srgbClr val="054040"/>
              </a:solidFill>
            </a:endParaRPr>
          </a:p>
        </p:txBody>
      </p:sp>
      <p:sp>
        <p:nvSpPr>
          <p:cNvPr id="35" name="مستطيل 34"/>
          <p:cNvSpPr/>
          <p:nvPr/>
        </p:nvSpPr>
        <p:spPr>
          <a:xfrm>
            <a:off x="8413063" y="4369178"/>
            <a:ext cx="371964" cy="483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dirty="0" smtClean="0">
                <a:solidFill>
                  <a:srgbClr val="054040"/>
                </a:solidFill>
              </a:rPr>
              <a:t>10</a:t>
            </a:r>
            <a:endParaRPr lang="ar-SA" sz="1200" dirty="0">
              <a:solidFill>
                <a:srgbClr val="054040"/>
              </a:solidFill>
            </a:endParaRPr>
          </a:p>
        </p:txBody>
      </p:sp>
      <p:sp>
        <p:nvSpPr>
          <p:cNvPr id="36" name="مستطيل 35"/>
          <p:cNvSpPr/>
          <p:nvPr/>
        </p:nvSpPr>
        <p:spPr>
          <a:xfrm>
            <a:off x="8262486" y="4367096"/>
            <a:ext cx="4572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54040"/>
                </a:solidFill>
              </a:rPr>
              <a:t>4</a:t>
            </a:r>
            <a:endParaRPr lang="ar-SA" sz="1200" dirty="0">
              <a:solidFill>
                <a:srgbClr val="054040"/>
              </a:solidFill>
            </a:endParaRPr>
          </a:p>
        </p:txBody>
      </p:sp>
      <p:sp>
        <p:nvSpPr>
          <p:cNvPr id="37" name="مستطيل 36"/>
          <p:cNvSpPr/>
          <p:nvPr/>
        </p:nvSpPr>
        <p:spPr>
          <a:xfrm>
            <a:off x="7578178" y="4286860"/>
            <a:ext cx="642966" cy="143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b="1" dirty="0" smtClean="0">
                <a:solidFill>
                  <a:srgbClr val="054040"/>
                </a:solidFill>
              </a:rPr>
              <a:t>(10-4)</a:t>
            </a:r>
            <a:endParaRPr lang="ar-SA" sz="900" b="1" dirty="0">
              <a:solidFill>
                <a:srgbClr val="054040"/>
              </a:solidFill>
            </a:endParaRPr>
          </a:p>
        </p:txBody>
      </p:sp>
      <p:sp>
        <p:nvSpPr>
          <p:cNvPr id="38" name="مستطيل 37"/>
          <p:cNvSpPr/>
          <p:nvPr/>
        </p:nvSpPr>
        <p:spPr>
          <a:xfrm>
            <a:off x="7300199" y="4364756"/>
            <a:ext cx="35969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dirty="0" smtClean="0">
                <a:solidFill>
                  <a:srgbClr val="054040"/>
                </a:solidFill>
              </a:rPr>
              <a:t>6</a:t>
            </a:r>
            <a:endParaRPr lang="ar-SA" sz="1200" dirty="0">
              <a:solidFill>
                <a:srgbClr val="054040"/>
              </a:solidFill>
            </a:endParaRPr>
          </a:p>
        </p:txBody>
      </p:sp>
      <p:sp>
        <p:nvSpPr>
          <p:cNvPr id="39" name="مستطيل 38"/>
          <p:cNvSpPr/>
          <p:nvPr/>
        </p:nvSpPr>
        <p:spPr>
          <a:xfrm>
            <a:off x="7261128" y="4717771"/>
            <a:ext cx="35969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dirty="0" smtClean="0">
                <a:solidFill>
                  <a:srgbClr val="054040"/>
                </a:solidFill>
              </a:rPr>
              <a:t>6</a:t>
            </a:r>
            <a:endParaRPr lang="ar-SA" sz="1200" dirty="0">
              <a:solidFill>
                <a:srgbClr val="05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sz="1700" b="1" i="0" dirty="0" smtClean="0">
                <a:solidFill>
                  <a:srgbClr val="FFFFFF"/>
                </a:solidFill>
                <a:latin typeface="Arial"/>
              </a:rPr>
              <a:t>35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إذا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كان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lang="ar-SA" sz="2000" dirty="0" smtClean="0">
                <a:solidFill>
                  <a:srgbClr val="0D2B55"/>
                </a:solidFill>
                <a:latin typeface="Arial"/>
              </a:rPr>
              <a:t>7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×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lang="ar-SA" sz="2000" dirty="0" smtClean="0">
                <a:solidFill>
                  <a:srgbClr val="0D2B55"/>
                </a:solidFill>
                <a:latin typeface="Arial"/>
              </a:rPr>
              <a:t>7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=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lang="ar-SA" sz="2000" dirty="0" smtClean="0">
                <a:solidFill>
                  <a:srgbClr val="0D2B55"/>
                </a:solidFill>
                <a:latin typeface="Arial"/>
              </a:rPr>
              <a:t>7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،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فما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قيمة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س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7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8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>
                <a:solidFill>
                  <a:srgbClr val="FFFFFF"/>
                </a:solidFill>
                <a:latin typeface="Arial"/>
              </a:rPr>
              <a:t>✅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د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6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</a:rPr>
              <a:t>نطبق </a:t>
            </a:r>
            <a:r>
              <a:rPr lang="ar-SA" sz="1200" dirty="0">
                <a:solidFill>
                  <a:srgbClr val="054040"/>
                </a:solidFill>
              </a:rPr>
              <a:t>قانون ضرب الأسس (نفس الأساس):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 smtClean="0">
                <a:solidFill>
                  <a:srgbClr val="054040"/>
                </a:solidFill>
                <a:latin typeface="Arial"/>
              </a:rPr>
              <a:t>7 </a:t>
            </a:r>
            <a:r>
              <a:rPr lang="ar-SA" sz="1400" dirty="0">
                <a:solidFill>
                  <a:srgbClr val="054040"/>
                </a:solidFill>
                <a:latin typeface="Arial"/>
              </a:rPr>
              <a:t>×  </a:t>
            </a:r>
            <a:r>
              <a:rPr lang="ar-SA" sz="1400" dirty="0" smtClean="0">
                <a:solidFill>
                  <a:srgbClr val="054040"/>
                </a:solidFill>
                <a:latin typeface="Arial"/>
              </a:rPr>
              <a:t>7 =  7    </a:t>
            </a:r>
            <a:r>
              <a:rPr lang="ar-SA" sz="1400" dirty="0" smtClean="0">
                <a:solidFill>
                  <a:srgbClr val="054040"/>
                </a:solidFill>
              </a:rPr>
              <a:t>=    ٧ </a:t>
            </a:r>
            <a:endParaRPr sz="14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054040"/>
                </a:solidFill>
              </a:rPr>
              <a:t>ت</a:t>
            </a:r>
            <a:r>
              <a:rPr lang="ar-SA" sz="1400" dirty="0" smtClean="0">
                <a:solidFill>
                  <a:srgbClr val="054040"/>
                </a:solidFill>
              </a:rPr>
              <a:t>ساوي الأسس:  </a:t>
            </a:r>
            <a:r>
              <a:rPr lang="ar-SA" sz="1400" dirty="0">
                <a:solidFill>
                  <a:srgbClr val="054040"/>
                </a:solidFill>
              </a:rPr>
              <a:t>٧ </a:t>
            </a:r>
            <a:r>
              <a:rPr lang="ar-SA" sz="1400" dirty="0" smtClean="0">
                <a:solidFill>
                  <a:srgbClr val="054040"/>
                </a:solidFill>
              </a:rPr>
              <a:t>    = 7</a:t>
            </a:r>
            <a:endParaRPr sz="14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287197"/>
            <a:ext cx="84490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smtClean="0">
                <a:solidFill>
                  <a:srgbClr val="054040"/>
                </a:solidFill>
                <a:latin typeface="Arial"/>
              </a:rPr>
              <a:t>٢س </a:t>
            </a:r>
            <a:r>
              <a:rPr sz="1300" b="0" i="0" dirty="0">
                <a:solidFill>
                  <a:srgbClr val="054040"/>
                </a:solidFill>
                <a:latin typeface="Arial"/>
              </a:rPr>
              <a:t>= ١٨  </a:t>
            </a:r>
            <a:r>
              <a:rPr lang="ar-SA" sz="13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054040"/>
                </a:solidFill>
                <a:latin typeface="Arial"/>
              </a:rPr>
              <a:t>←</a:t>
            </a:r>
            <a:r>
              <a:rPr lang="ar-SA" sz="1300" dirty="0">
                <a:solidFill>
                  <a:srgbClr val="054040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054040"/>
                </a:solidFill>
                <a:latin typeface="Arial"/>
              </a:rPr>
              <a:t>س = ١٨ ÷ ٢ </a:t>
            </a:r>
            <a:r>
              <a:rPr sz="13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054040"/>
                </a:solidFill>
                <a:latin typeface="Arial"/>
              </a:rPr>
              <a:t>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114" y="4579528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د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٩ 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✓</a:t>
            </a:r>
          </a:p>
        </p:txBody>
      </p:sp>
      <p:sp>
        <p:nvSpPr>
          <p:cNvPr id="23" name="مستطيل 22"/>
          <p:cNvSpPr/>
          <p:nvPr/>
        </p:nvSpPr>
        <p:spPr>
          <a:xfrm>
            <a:off x="7909565" y="667512"/>
            <a:ext cx="4572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D2B55"/>
                </a:solidFill>
              </a:rPr>
              <a:t>س</a:t>
            </a:r>
            <a:endParaRPr lang="ar-SA" sz="1200" dirty="0">
              <a:solidFill>
                <a:srgbClr val="0D2B55"/>
              </a:solidFill>
            </a:endParaRPr>
          </a:p>
        </p:txBody>
      </p:sp>
      <p:sp>
        <p:nvSpPr>
          <p:cNvPr id="24" name="مستطيل 23"/>
          <p:cNvSpPr/>
          <p:nvPr/>
        </p:nvSpPr>
        <p:spPr>
          <a:xfrm>
            <a:off x="7474137" y="683840"/>
            <a:ext cx="4572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D2B55"/>
                </a:solidFill>
              </a:rPr>
              <a:t>س</a:t>
            </a:r>
            <a:endParaRPr lang="ar-SA" sz="1200" dirty="0">
              <a:solidFill>
                <a:srgbClr val="0D2B55"/>
              </a:solidFill>
            </a:endParaRPr>
          </a:p>
        </p:txBody>
      </p:sp>
      <p:sp>
        <p:nvSpPr>
          <p:cNvPr id="25" name="مستطيل 24"/>
          <p:cNvSpPr/>
          <p:nvPr/>
        </p:nvSpPr>
        <p:spPr>
          <a:xfrm>
            <a:off x="6827044" y="702780"/>
            <a:ext cx="328611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dirty="0" smtClean="0">
                <a:solidFill>
                  <a:srgbClr val="0D2B55"/>
                </a:solidFill>
              </a:rPr>
              <a:t>18</a:t>
            </a:r>
            <a:endParaRPr lang="ar-SA" sz="1200" dirty="0">
              <a:solidFill>
                <a:srgbClr val="0D2B55"/>
              </a:solidFill>
            </a:endParaRPr>
          </a:p>
        </p:txBody>
      </p:sp>
      <p:sp>
        <p:nvSpPr>
          <p:cNvPr id="26" name="مستطيل 25"/>
          <p:cNvSpPr/>
          <p:nvPr/>
        </p:nvSpPr>
        <p:spPr>
          <a:xfrm>
            <a:off x="8577616" y="3570665"/>
            <a:ext cx="4572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D2B55"/>
                </a:solidFill>
              </a:rPr>
              <a:t>س</a:t>
            </a:r>
            <a:endParaRPr lang="ar-SA" sz="1200" dirty="0">
              <a:solidFill>
                <a:srgbClr val="0D2B55"/>
              </a:solidFill>
            </a:endParaRPr>
          </a:p>
        </p:txBody>
      </p:sp>
      <p:sp>
        <p:nvSpPr>
          <p:cNvPr id="27" name="مستطيل 26"/>
          <p:cNvSpPr/>
          <p:nvPr/>
        </p:nvSpPr>
        <p:spPr>
          <a:xfrm>
            <a:off x="8251372" y="3573345"/>
            <a:ext cx="45720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200" dirty="0" smtClean="0">
                <a:solidFill>
                  <a:srgbClr val="0D2B55"/>
                </a:solidFill>
              </a:rPr>
              <a:t>س</a:t>
            </a:r>
            <a:endParaRPr lang="ar-SA" sz="1200" dirty="0">
              <a:solidFill>
                <a:srgbClr val="0D2B55"/>
              </a:solidFill>
            </a:endParaRPr>
          </a:p>
        </p:txBody>
      </p:sp>
      <p:sp>
        <p:nvSpPr>
          <p:cNvPr id="28" name="مستطيل 27"/>
          <p:cNvSpPr/>
          <p:nvPr/>
        </p:nvSpPr>
        <p:spPr>
          <a:xfrm>
            <a:off x="7601806" y="3527849"/>
            <a:ext cx="642966" cy="1433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900" b="1" dirty="0">
                <a:solidFill>
                  <a:srgbClr val="054040"/>
                </a:solidFill>
              </a:rPr>
              <a:t>(</a:t>
            </a:r>
            <a:r>
              <a:rPr lang="ar-SA" sz="900" b="1" dirty="0" err="1">
                <a:solidFill>
                  <a:srgbClr val="054040"/>
                </a:solidFill>
              </a:rPr>
              <a:t>س+س</a:t>
            </a:r>
            <a:r>
              <a:rPr lang="ar-SA" sz="900" b="1" dirty="0">
                <a:solidFill>
                  <a:srgbClr val="054040"/>
                </a:solidFill>
              </a:rPr>
              <a:t>)</a:t>
            </a:r>
          </a:p>
        </p:txBody>
      </p:sp>
      <p:sp>
        <p:nvSpPr>
          <p:cNvPr id="29" name="مستطيل 28"/>
          <p:cNvSpPr/>
          <p:nvPr/>
        </p:nvSpPr>
        <p:spPr>
          <a:xfrm>
            <a:off x="7006834" y="3575618"/>
            <a:ext cx="514603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dirty="0" smtClean="0">
                <a:solidFill>
                  <a:srgbClr val="054040"/>
                </a:solidFill>
              </a:rPr>
              <a:t>(2س)</a:t>
            </a:r>
            <a:endParaRPr lang="ar-SA" sz="1050" dirty="0">
              <a:solidFill>
                <a:srgbClr val="054040"/>
              </a:solidFill>
            </a:endParaRPr>
          </a:p>
        </p:txBody>
      </p:sp>
      <p:sp>
        <p:nvSpPr>
          <p:cNvPr id="31" name="مستطيل 30"/>
          <p:cNvSpPr/>
          <p:nvPr/>
        </p:nvSpPr>
        <p:spPr>
          <a:xfrm>
            <a:off x="7363951" y="3939562"/>
            <a:ext cx="514603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050" dirty="0" smtClean="0">
                <a:solidFill>
                  <a:srgbClr val="054040"/>
                </a:solidFill>
              </a:rPr>
              <a:t>(2س)</a:t>
            </a:r>
            <a:endParaRPr lang="ar-SA" sz="1050" dirty="0">
              <a:solidFill>
                <a:srgbClr val="054040"/>
              </a:solidFill>
            </a:endParaRPr>
          </a:p>
        </p:txBody>
      </p:sp>
      <p:sp>
        <p:nvSpPr>
          <p:cNvPr id="32" name="مستطيل 31"/>
          <p:cNvSpPr/>
          <p:nvPr/>
        </p:nvSpPr>
        <p:spPr>
          <a:xfrm>
            <a:off x="6977172" y="3957760"/>
            <a:ext cx="346384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 smtClean="0">
                <a:solidFill>
                  <a:srgbClr val="054040"/>
                </a:solidFill>
              </a:rPr>
              <a:t>18</a:t>
            </a:r>
            <a:endParaRPr lang="ar-SA" sz="1200" dirty="0">
              <a:solidFill>
                <a:srgbClr val="05404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المسافة والزمن والسرعة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FFC107"/>
                </a:solidFill>
                <a:latin typeface="Arial"/>
              </a:rPr>
              <a:t>19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>
                <a:solidFill>
                  <a:srgbClr val="FFFFFF"/>
                </a:solidFill>
                <a:latin typeface="Arial"/>
              </a:rPr>
              <a:t>📌 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الشرح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والقواعد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>
                <a:solidFill>
                  <a:srgbClr val="444444"/>
                </a:solidFill>
                <a:latin typeface="Arial"/>
              </a:rPr>
              <a:t>م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ع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×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ز    |   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ع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م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÷ ز   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|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ز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م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÷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ع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228914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054040"/>
                </a:solidFill>
              </a:rPr>
              <a:t>اجتماع متعاكس: ز = المسافة الكلية ÷ </a:t>
            </a:r>
            <a:r>
              <a:rPr lang="ar-SA" sz="1300" dirty="0" smtClean="0">
                <a:solidFill>
                  <a:srgbClr val="054040"/>
                </a:solidFill>
              </a:rPr>
              <a:t>(ع١+ع٢</a:t>
            </a:r>
            <a:r>
              <a:rPr lang="ar-SA" sz="1300" dirty="0">
                <a:solidFill>
                  <a:srgbClr val="054040"/>
                </a:solidFill>
              </a:rPr>
              <a:t>)</a:t>
            </a:r>
            <a:endParaRPr sz="13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8180" y="25998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054040"/>
                </a:solidFill>
              </a:rPr>
              <a:t>لحاق (نفس الاتجاه): ز = فرق المسافة ÷ فرق السرعة</a:t>
            </a:r>
            <a:endParaRPr sz="13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86069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054040"/>
                </a:solidFill>
              </a:rPr>
              <a:t>متوسط سرعة الذهاب والإياب = </a:t>
            </a:r>
            <a:r>
              <a:rPr lang="ar-SA" sz="1300" dirty="0" smtClean="0">
                <a:solidFill>
                  <a:srgbClr val="054040"/>
                </a:solidFill>
              </a:rPr>
              <a:t>٢×ع١×ع٢ </a:t>
            </a:r>
            <a:r>
              <a:rPr lang="ar-SA" sz="1300" dirty="0">
                <a:solidFill>
                  <a:srgbClr val="054040"/>
                </a:solidFill>
              </a:rPr>
              <a:t>÷ </a:t>
            </a:r>
            <a:r>
              <a:rPr lang="ar-SA" sz="1300" dirty="0" smtClean="0">
                <a:solidFill>
                  <a:srgbClr val="054040"/>
                </a:solidFill>
              </a:rPr>
              <a:t>(ع١+ع٢</a:t>
            </a:r>
            <a:r>
              <a:rPr lang="ar-SA" sz="1300" dirty="0">
                <a:solidFill>
                  <a:srgbClr val="054040"/>
                </a:solidFill>
              </a:rPr>
              <a:t>) ← ليس المتوسط </a:t>
            </a:r>
            <a:r>
              <a:rPr lang="ar-SA" sz="1300" dirty="0" smtClean="0">
                <a:solidFill>
                  <a:srgbClr val="054040"/>
                </a:solidFill>
              </a:rPr>
              <a:t>الحسابي ! </a:t>
            </a:r>
            <a:endParaRPr sz="13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 dirty="0">
                <a:solidFill>
                  <a:srgbClr val="FFFFFF"/>
                </a:solidFill>
                <a:latin typeface="Arial"/>
              </a:rPr>
              <a:t>⚡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قانون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17720" y="4055364"/>
            <a:ext cx="409651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 dirty="0" err="1">
                <a:solidFill>
                  <a:srgbClr val="FFC107"/>
                </a:solidFill>
                <a:latin typeface="Arial"/>
              </a:rPr>
              <a:t>متوسط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C107"/>
                </a:solidFill>
                <a:latin typeface="Arial"/>
              </a:rPr>
              <a:t>السرعة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:
</a:t>
            </a:r>
            <a:r>
              <a:rPr lang="ar-SA" sz="1400" dirty="0">
                <a:solidFill>
                  <a:srgbClr val="EEB60D"/>
                </a:solidFill>
              </a:rPr>
              <a:t> ٢×ع١×ع٢ ÷ (ع١+ع٢)</a:t>
            </a:r>
            <a:endParaRPr sz="1400" b="1" i="0" dirty="0">
              <a:solidFill>
                <a:srgbClr val="EEB60D"/>
              </a:solidFill>
              <a:latin typeface="Arial"/>
            </a:endParaRPr>
          </a:p>
        </p:txBody>
      </p:sp>
      <p:sp>
        <p:nvSpPr>
          <p:cNvPr id="20" name="مثلث متساوي الساقين 19"/>
          <p:cNvSpPr/>
          <p:nvPr/>
        </p:nvSpPr>
        <p:spPr>
          <a:xfrm>
            <a:off x="3964578" y="1265790"/>
            <a:ext cx="1521169" cy="911786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cxnSp>
        <p:nvCxnSpPr>
          <p:cNvPr id="22" name="رابط مستقيم 21"/>
          <p:cNvCxnSpPr/>
          <p:nvPr/>
        </p:nvCxnSpPr>
        <p:spPr>
          <a:xfrm>
            <a:off x="4344870" y="1737739"/>
            <a:ext cx="760585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رابط مستقيم 25"/>
          <p:cNvCxnSpPr>
            <a:endCxn id="20" idx="3"/>
          </p:cNvCxnSpPr>
          <p:nvPr/>
        </p:nvCxnSpPr>
        <p:spPr>
          <a:xfrm>
            <a:off x="4725162" y="1721683"/>
            <a:ext cx="1" cy="455893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8" name="مستطيل 27"/>
          <p:cNvSpPr/>
          <p:nvPr/>
        </p:nvSpPr>
        <p:spPr>
          <a:xfrm>
            <a:off x="4512932" y="1386281"/>
            <a:ext cx="424461" cy="1881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solidFill>
                  <a:srgbClr val="0D2B55"/>
                </a:solidFill>
              </a:rPr>
              <a:t>م</a:t>
            </a:r>
            <a:endParaRPr lang="ar-SA" sz="2400" dirty="0">
              <a:solidFill>
                <a:srgbClr val="0D2B55"/>
              </a:solidFill>
            </a:endParaRPr>
          </a:p>
        </p:txBody>
      </p:sp>
      <p:sp>
        <p:nvSpPr>
          <p:cNvPr id="29" name="مستطيل 28"/>
          <p:cNvSpPr/>
          <p:nvPr/>
        </p:nvSpPr>
        <p:spPr>
          <a:xfrm>
            <a:off x="4786885" y="1816716"/>
            <a:ext cx="424461" cy="1881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solidFill>
                  <a:srgbClr val="0D2B55"/>
                </a:solidFill>
              </a:rPr>
              <a:t>ز</a:t>
            </a:r>
            <a:endParaRPr lang="ar-SA" sz="2400" dirty="0">
              <a:solidFill>
                <a:srgbClr val="0D2B55"/>
              </a:solidFill>
            </a:endParaRPr>
          </a:p>
        </p:txBody>
      </p:sp>
      <p:sp>
        <p:nvSpPr>
          <p:cNvPr id="30" name="مستطيل 29"/>
          <p:cNvSpPr/>
          <p:nvPr/>
        </p:nvSpPr>
        <p:spPr>
          <a:xfrm>
            <a:off x="4238979" y="1818565"/>
            <a:ext cx="424461" cy="1881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2400" dirty="0" smtClean="0">
                <a:solidFill>
                  <a:srgbClr val="0D2B55"/>
                </a:solidFill>
              </a:rPr>
              <a:t>ع</a:t>
            </a:r>
            <a:endParaRPr lang="ar-SA" sz="2400" dirty="0">
              <a:solidFill>
                <a:srgbClr val="0D2B55"/>
              </a:solidFill>
            </a:endParaRPr>
          </a:p>
        </p:txBody>
      </p:sp>
      <p:sp>
        <p:nvSpPr>
          <p:cNvPr id="31" name="مستطيل 30"/>
          <p:cNvSpPr/>
          <p:nvPr/>
        </p:nvSpPr>
        <p:spPr>
          <a:xfrm>
            <a:off x="4703065" y="1914881"/>
            <a:ext cx="45719" cy="823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400" dirty="0">
                <a:solidFill>
                  <a:srgbClr val="FF0000"/>
                </a:solidFill>
                <a:latin typeface="Arial"/>
              </a:rPr>
              <a:t>×</a:t>
            </a:r>
            <a:endParaRPr lang="ar-SA" dirty="0">
              <a:solidFill>
                <a:srgbClr val="FF0000"/>
              </a:solidFill>
            </a:endParaRPr>
          </a:p>
        </p:txBody>
      </p:sp>
      <p:sp>
        <p:nvSpPr>
          <p:cNvPr id="32" name="مستطيل 31"/>
          <p:cNvSpPr/>
          <p:nvPr/>
        </p:nvSpPr>
        <p:spPr>
          <a:xfrm>
            <a:off x="4703065" y="1680908"/>
            <a:ext cx="45719" cy="823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>
                <a:solidFill>
                  <a:srgbClr val="FF0000"/>
                </a:solidFill>
                <a:latin typeface="Arial"/>
              </a:rPr>
              <a:t>÷</a:t>
            </a:r>
            <a:endParaRPr lang="ar-SA" dirty="0">
              <a:solidFill>
                <a:srgbClr val="FF0000"/>
              </a:solidFill>
            </a:endParaRPr>
          </a:p>
        </p:txBody>
      </p:sp>
      <p:sp>
        <p:nvSpPr>
          <p:cNvPr id="34" name="مستطيل 33"/>
          <p:cNvSpPr/>
          <p:nvPr/>
        </p:nvSpPr>
        <p:spPr>
          <a:xfrm>
            <a:off x="4094369" y="1417787"/>
            <a:ext cx="501002" cy="186360"/>
          </a:xfrm>
          <a:prstGeom prst="rect">
            <a:avLst/>
          </a:prstGeom>
          <a:solidFill>
            <a:srgbClr val="0070C0"/>
          </a:solidFill>
          <a:ln>
            <a:noFill/>
          </a:ln>
          <a:scene3d>
            <a:camera prst="isometricRightUp"/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700" b="1" dirty="0" smtClean="0">
                <a:solidFill>
                  <a:schemeClr val="bg1"/>
                </a:solidFill>
              </a:rPr>
              <a:t>المسافة</a:t>
            </a:r>
            <a:endParaRPr lang="ar-SA" sz="500" b="1" dirty="0">
              <a:solidFill>
                <a:schemeClr val="bg1"/>
              </a:solidFill>
            </a:endParaRPr>
          </a:p>
        </p:txBody>
      </p:sp>
      <p:sp>
        <p:nvSpPr>
          <p:cNvPr id="35" name="مستطيل 34"/>
          <p:cNvSpPr/>
          <p:nvPr/>
        </p:nvSpPr>
        <p:spPr>
          <a:xfrm>
            <a:off x="3726929" y="1859936"/>
            <a:ext cx="501002" cy="186360"/>
          </a:xfrm>
          <a:prstGeom prst="rect">
            <a:avLst/>
          </a:prstGeom>
          <a:solidFill>
            <a:srgbClr val="0070C0"/>
          </a:solidFill>
          <a:ln>
            <a:noFill/>
          </a:ln>
          <a:scene3d>
            <a:camera prst="isometricRightUp"/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700" b="1" dirty="0" smtClean="0">
                <a:solidFill>
                  <a:schemeClr val="bg1"/>
                </a:solidFill>
              </a:rPr>
              <a:t>السرعة</a:t>
            </a:r>
            <a:endParaRPr lang="ar-SA" sz="500" b="1" dirty="0">
              <a:solidFill>
                <a:schemeClr val="bg1"/>
              </a:solidFill>
            </a:endParaRPr>
          </a:p>
        </p:txBody>
      </p:sp>
      <p:sp>
        <p:nvSpPr>
          <p:cNvPr id="36" name="مستطيل 35"/>
          <p:cNvSpPr/>
          <p:nvPr/>
        </p:nvSpPr>
        <p:spPr>
          <a:xfrm>
            <a:off x="5198771" y="1836528"/>
            <a:ext cx="501002" cy="186360"/>
          </a:xfrm>
          <a:prstGeom prst="rect">
            <a:avLst/>
          </a:prstGeom>
          <a:solidFill>
            <a:srgbClr val="0070C0"/>
          </a:solidFill>
          <a:ln>
            <a:noFill/>
          </a:ln>
          <a:scene3d>
            <a:camera prst="isometricLeftDown"/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700" b="1" dirty="0" smtClean="0">
                <a:solidFill>
                  <a:schemeClr val="bg1"/>
                </a:solidFill>
              </a:rPr>
              <a:t>الزمن</a:t>
            </a:r>
            <a:endParaRPr lang="ar-SA" sz="500" b="1" dirty="0">
              <a:solidFill>
                <a:schemeClr val="bg1"/>
              </a:solidFill>
            </a:endParaRPr>
          </a:p>
        </p:txBody>
      </p:sp>
      <p:sp>
        <p:nvSpPr>
          <p:cNvPr id="37" name="TextBox 8"/>
          <p:cNvSpPr txBox="1"/>
          <p:nvPr/>
        </p:nvSpPr>
        <p:spPr>
          <a:xfrm>
            <a:off x="-1125020" y="1737126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054040"/>
                </a:solidFill>
              </a:rPr>
              <a:t>تذكر القانون بكلمة   ( فزع )</a:t>
            </a:r>
            <a:endParaRPr sz="13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38" name="TextBox 10"/>
          <p:cNvSpPr txBox="1"/>
          <p:nvPr/>
        </p:nvSpPr>
        <p:spPr>
          <a:xfrm>
            <a:off x="496825" y="3153086"/>
            <a:ext cx="841248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054040"/>
                </a:solidFill>
              </a:rPr>
              <a:t>إذا تحرك جسمين في اتجاهين </a:t>
            </a:r>
            <a:r>
              <a:rPr lang="ar-SA" sz="1300" dirty="0" smtClean="0">
                <a:solidFill>
                  <a:srgbClr val="054040"/>
                </a:solidFill>
              </a:rPr>
              <a:t>متعاكسين </a:t>
            </a:r>
            <a:r>
              <a:rPr lang="ar-SA" sz="1300" dirty="0">
                <a:solidFill>
                  <a:srgbClr val="054040"/>
                </a:solidFill>
              </a:rPr>
              <a:t>← نجمع السرعات ونجمع المسافات</a:t>
            </a:r>
          </a:p>
          <a:p>
            <a:pPr algn="r" rtl="1"/>
            <a:r>
              <a:rPr lang="ar-SA" sz="1400" dirty="0"/>
              <a:t/>
            </a:r>
            <a:br>
              <a:rPr lang="ar-SA" sz="1400" dirty="0"/>
            </a:br>
            <a:endParaRPr sz="13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39" name="TextBox 10"/>
          <p:cNvSpPr txBox="1"/>
          <p:nvPr/>
        </p:nvSpPr>
        <p:spPr>
          <a:xfrm>
            <a:off x="518922" y="3379298"/>
            <a:ext cx="841248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054040"/>
                </a:solidFill>
              </a:rPr>
              <a:t>إذا تحرك جسمين في </a:t>
            </a:r>
            <a:r>
              <a:rPr lang="ar-SA" sz="1300" dirty="0" smtClean="0">
                <a:solidFill>
                  <a:srgbClr val="054040"/>
                </a:solidFill>
              </a:rPr>
              <a:t>نفس الاتجاه ← نطرح السرعات و نطرح المسافات</a:t>
            </a:r>
            <a:endParaRPr lang="ar-SA" sz="1300" dirty="0">
              <a:solidFill>
                <a:srgbClr val="054040"/>
              </a:solidFill>
            </a:endParaRPr>
          </a:p>
          <a:p>
            <a:pPr algn="r" rtl="1"/>
            <a:r>
              <a:rPr lang="ar-SA" sz="1400" dirty="0"/>
              <a:t/>
            </a:r>
            <a:br>
              <a:rPr lang="ar-SA" sz="1400" dirty="0"/>
            </a:br>
            <a:endParaRPr sz="13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40" name="TextBox 8"/>
          <p:cNvSpPr txBox="1"/>
          <p:nvPr/>
        </p:nvSpPr>
        <p:spPr>
          <a:xfrm>
            <a:off x="-2273909" y="4149013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1" dirty="0">
                <a:solidFill>
                  <a:srgbClr val="EEB60D"/>
                </a:solidFill>
              </a:rPr>
              <a:t>٢×ع١×ع٢</a:t>
            </a:r>
            <a:endParaRPr sz="1600" b="1" i="0" dirty="0">
              <a:solidFill>
                <a:srgbClr val="EEB60D"/>
              </a:solidFill>
              <a:latin typeface="Arial"/>
            </a:endParaRPr>
          </a:p>
        </p:txBody>
      </p:sp>
      <p:cxnSp>
        <p:nvCxnSpPr>
          <p:cNvPr id="41" name="رابط مستقيم 40"/>
          <p:cNvCxnSpPr/>
          <p:nvPr/>
        </p:nvCxnSpPr>
        <p:spPr>
          <a:xfrm flipV="1">
            <a:off x="5302250" y="4484191"/>
            <a:ext cx="817894" cy="33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مستطيل 41"/>
          <p:cNvSpPr/>
          <p:nvPr/>
        </p:nvSpPr>
        <p:spPr>
          <a:xfrm>
            <a:off x="4946107" y="4547807"/>
            <a:ext cx="1530179" cy="19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600" dirty="0">
                <a:solidFill>
                  <a:srgbClr val="EEB60D"/>
                </a:solidFill>
              </a:rPr>
              <a:t>(ع١+ع٢)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sz="1700" b="1" i="0" dirty="0" smtClean="0">
                <a:solidFill>
                  <a:srgbClr val="FFFFFF"/>
                </a:solidFill>
                <a:latin typeface="Arial"/>
              </a:rPr>
              <a:t>36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 dirty="0" err="1">
                <a:solidFill>
                  <a:srgbClr val="0D2B55"/>
                </a:solidFill>
                <a:latin typeface="Arial"/>
              </a:rPr>
              <a:t>مسافة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بين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مدينتين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٣٦٠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سيارة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بـ٨٠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/س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وأخرى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بـ١٠٠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تتحركان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نحو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بعضهما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بعد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ساعة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يلتقيان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ب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٢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ساعة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١.٨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ساعة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٢.٥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ساعة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١.٥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ساعة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291840"/>
            <a:ext cx="731520" cy="3657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32461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 dirty="0">
                <a:solidFill>
                  <a:srgbClr val="FFFFFF"/>
                </a:solidFill>
                <a:latin typeface="Arial"/>
              </a:rPr>
              <a:t>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3703320"/>
            <a:ext cx="8961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900" dirty="0">
                <a:solidFill>
                  <a:srgbClr val="0D2B55"/>
                </a:solidFill>
                <a:latin typeface="Arial"/>
              </a:rPr>
              <a:t>→</a:t>
            </a:r>
            <a:r>
              <a:rPr sz="900" b="0" i="0" dirty="0" smtClean="0">
                <a:solidFill>
                  <a:srgbClr val="008B8B"/>
                </a:solidFill>
                <a:latin typeface="Arial"/>
              </a:rPr>
              <a:t>٨٠ </a:t>
            </a:r>
            <a:r>
              <a:rPr sz="900" b="0" i="0" dirty="0" err="1" smtClean="0">
                <a:solidFill>
                  <a:srgbClr val="008B8B"/>
                </a:solidFill>
                <a:latin typeface="Arial"/>
              </a:rPr>
              <a:t>كم</a:t>
            </a:r>
            <a:r>
              <a:rPr sz="900" b="0" i="0" dirty="0" smtClean="0">
                <a:solidFill>
                  <a:srgbClr val="008B8B"/>
                </a:solidFill>
                <a:latin typeface="Arial"/>
              </a:rPr>
              <a:t>/س</a:t>
            </a:r>
            <a:endParaRPr sz="900" b="0" i="0" dirty="0">
              <a:solidFill>
                <a:srgbClr val="008B8B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72400" y="3291840"/>
            <a:ext cx="731520" cy="36576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0" y="32461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FFFFFF"/>
                </a:solidFill>
                <a:latin typeface="Arial"/>
              </a:rPr>
              <a:t>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703320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0" i="0" dirty="0">
                <a:solidFill>
                  <a:srgbClr val="F47E20"/>
                </a:solidFill>
                <a:latin typeface="Arial"/>
              </a:rPr>
              <a:t>١٠٠ </a:t>
            </a:r>
            <a:r>
              <a:rPr sz="900" b="0" i="0" dirty="0" err="1" smtClean="0">
                <a:solidFill>
                  <a:srgbClr val="F47E20"/>
                </a:solidFill>
                <a:latin typeface="Arial"/>
              </a:rPr>
              <a:t>كم</a:t>
            </a:r>
            <a:r>
              <a:rPr sz="900" b="0" i="0" dirty="0" smtClean="0">
                <a:solidFill>
                  <a:srgbClr val="F47E20"/>
                </a:solidFill>
                <a:latin typeface="Arial"/>
              </a:rPr>
              <a:t>/س</a:t>
            </a:r>
            <a:r>
              <a:rPr lang="ar-SA" sz="900" b="0" i="0" dirty="0" smtClean="0">
                <a:solidFill>
                  <a:srgbClr val="F47E20"/>
                </a:solidFill>
                <a:latin typeface="Arial"/>
              </a:rPr>
              <a:t> </a:t>
            </a:r>
            <a:r>
              <a:rPr lang="ar-SA" sz="900" dirty="0">
                <a:solidFill>
                  <a:srgbClr val="0D2B55"/>
                </a:solidFill>
                <a:latin typeface="Arial"/>
              </a:rPr>
              <a:t>← </a:t>
            </a:r>
            <a:endParaRPr sz="900" b="0" i="0" dirty="0">
              <a:solidFill>
                <a:srgbClr val="F47E20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0" y="397763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0" i="0" dirty="0">
                <a:solidFill>
                  <a:srgbClr val="0D2B55"/>
                </a:solidFill>
                <a:latin typeface="Arial"/>
              </a:rPr>
              <a:t>← ٣٦٠ </a:t>
            </a:r>
            <a:r>
              <a:rPr sz="1000"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sz="1000" b="0" i="0" dirty="0">
                <a:solidFill>
                  <a:srgbClr val="0D2B55"/>
                </a:solidFill>
                <a:latin typeface="Arial"/>
              </a:rPr>
              <a:t> 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00400"/>
            <a:ext cx="548640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7472" y="3236976"/>
            <a:ext cx="53400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عند التحرك باتجاهين متعاكسين نجمع السرعتين: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3639312"/>
            <a:ext cx="53400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مجموع السرعتين = ٨٠ + ١٠٠ = ١٨٠ كم/س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4041648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نحسب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الزمن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ز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المسافة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÷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مجموع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السرعتين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7472" y="4443984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= ٣٦٠ ÷ ١٨٠ = ٢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ساعة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 ✓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ب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٢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ساعة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pic>
        <p:nvPicPr>
          <p:cNvPr id="29" name="صورة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251" y="3280309"/>
            <a:ext cx="1246400" cy="5899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sz="1700" b="1" i="0" dirty="0" smtClean="0">
                <a:solidFill>
                  <a:srgbClr val="FFFFFF"/>
                </a:solidFill>
                <a:latin typeface="Arial"/>
              </a:rPr>
              <a:t>37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ذهب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أحمد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بسرعة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٦٠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/س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وعاد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بسرعة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٤٠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/س.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متوسط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سرعته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٥٠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كم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/س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٤٨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كم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/س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٤٥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كم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/س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٥٢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كم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/س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تنبيه مهم: متوسط سرعة الذهاب والإياب ليس (٦٠+٤٠)÷٢ = ٥٠ (خطأ شائع!)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لقانون الصحيح: متوسط السرعة = ٢ × </a:t>
            </a:r>
            <a:r>
              <a:rPr lang="ar-SA" sz="1200" dirty="0" smtClean="0">
                <a:solidFill>
                  <a:srgbClr val="054040"/>
                </a:solidFill>
              </a:rPr>
              <a:t>ع١ </a:t>
            </a:r>
            <a:r>
              <a:rPr lang="ar-SA" sz="1200" dirty="0">
                <a:solidFill>
                  <a:srgbClr val="054040"/>
                </a:solidFill>
              </a:rPr>
              <a:t>× </a:t>
            </a:r>
            <a:r>
              <a:rPr lang="ar-SA" sz="1200" dirty="0" smtClean="0">
                <a:solidFill>
                  <a:srgbClr val="054040"/>
                </a:solidFill>
              </a:rPr>
              <a:t>ع٢ </a:t>
            </a:r>
            <a:r>
              <a:rPr lang="ar-SA" sz="1200" dirty="0">
                <a:solidFill>
                  <a:srgbClr val="054040"/>
                </a:solidFill>
              </a:rPr>
              <a:t>÷ </a:t>
            </a:r>
            <a:r>
              <a:rPr lang="ar-SA" sz="1200" dirty="0" smtClean="0">
                <a:solidFill>
                  <a:srgbClr val="054040"/>
                </a:solidFill>
              </a:rPr>
              <a:t>(ع١ </a:t>
            </a:r>
            <a:r>
              <a:rPr lang="ar-SA" sz="1200" dirty="0">
                <a:solidFill>
                  <a:srgbClr val="054040"/>
                </a:solidFill>
              </a:rPr>
              <a:t>+ </a:t>
            </a:r>
            <a:r>
              <a:rPr lang="ar-SA" sz="1200" dirty="0" smtClean="0">
                <a:solidFill>
                  <a:srgbClr val="054040"/>
                </a:solidFill>
              </a:rPr>
              <a:t>ع٢</a:t>
            </a:r>
            <a:r>
              <a:rPr lang="ar-SA" sz="1200" dirty="0">
                <a:solidFill>
                  <a:srgbClr val="054040"/>
                </a:solidFill>
              </a:rPr>
              <a:t>)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4041648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= ٢ × ٦٠ × ٤٠ ÷ (٦٠ + </a:t>
            </a:r>
            <a:r>
              <a:rPr lang="ar-SA" sz="1200" dirty="0" smtClean="0">
                <a:solidFill>
                  <a:srgbClr val="054040"/>
                </a:solidFill>
              </a:rPr>
              <a:t>٤٠)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44398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= ٤٨٠٠ ÷ ١٠٠ = ٤٨ </a:t>
            </a:r>
            <a:r>
              <a:rPr lang="ar-SA" sz="1200" dirty="0" smtClean="0">
                <a:solidFill>
                  <a:srgbClr val="054040"/>
                </a:solidFill>
              </a:rPr>
              <a:t>كم/س   </a:t>
            </a:r>
            <a:r>
              <a:rPr lang="ar-SA" sz="1200" dirty="0">
                <a:solidFill>
                  <a:srgbClr val="054040"/>
                </a:solidFill>
              </a:rPr>
              <a:t>✓ الإجابة: </a:t>
            </a:r>
            <a:r>
              <a:rPr lang="ar-SA" sz="1200" dirty="0" smtClean="0">
                <a:solidFill>
                  <a:srgbClr val="054040"/>
                </a:solidFill>
              </a:rPr>
              <a:t>أ ٤8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pic>
        <p:nvPicPr>
          <p:cNvPr id="22" name="صورة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899" y="3269462"/>
            <a:ext cx="939901" cy="6492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B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700" b="0" i="0">
                <a:solidFill>
                  <a:srgbClr val="CCFFFF"/>
                </a:solidFill>
                <a:latin typeface="Arial"/>
              </a:rPr>
              <a:t>الباب الثاني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600" b="1" i="0">
                <a:solidFill>
                  <a:srgbClr val="FFFFFF"/>
                </a:solidFill>
                <a:latin typeface="Arial"/>
              </a:rPr>
              <a:t>النسب والمتوسطات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500" b="0" i="0">
                <a:solidFill>
                  <a:srgbClr val="DDFFFF"/>
                </a:solidFill>
                <a:latin typeface="Arial"/>
              </a:rPr>
              <a:t>النسبة المئوية – الربح والخسارة – التخفيض – التناسب – الوسط الحسابي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606040"/>
            <a:ext cx="54864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FFFFFF"/>
                </a:solidFill>
                <a:latin typeface="Arial"/>
              </a:rPr>
              <a:t>• النسبة المئوية والمسكب والخسارة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FFFFFF"/>
                </a:solidFill>
                <a:latin typeface="Arial"/>
              </a:rPr>
              <a:t>• السعر الأصلي والربح والتخفيض المركب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FFFFFF"/>
                </a:solidFill>
                <a:latin typeface="Arial"/>
              </a:rPr>
              <a:t>• التناسب الطردي والعكسي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FFFFFF"/>
                </a:solidFill>
                <a:latin typeface="Arial"/>
              </a:rPr>
              <a:t>• الوسط الحسابي والمتوسطات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النسبة المئوية والمسكب والخسارة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FFC107"/>
                </a:solidFill>
                <a:latin typeface="Arial"/>
              </a:rPr>
              <a:t>20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النسبة المئوية = (الجزء ÷ الكل) × ١٠٠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6C6D6F"/>
                </a:solidFill>
                <a:latin typeface="Arial"/>
              </a:rPr>
              <a:t>الربح</a:t>
            </a:r>
            <a:r>
              <a:rPr sz="1300" b="0" i="0" dirty="0">
                <a:solidFill>
                  <a:srgbClr val="6C6D6F"/>
                </a:solidFill>
                <a:latin typeface="Arial"/>
              </a:rPr>
              <a:t> = </a:t>
            </a:r>
            <a:r>
              <a:rPr lang="ar-SA" sz="1300" dirty="0" smtClean="0">
                <a:solidFill>
                  <a:srgbClr val="6C6D6F"/>
                </a:solidFill>
              </a:rPr>
              <a:t>سعر </a:t>
            </a:r>
            <a:r>
              <a:rPr lang="ar-SA" sz="1300" dirty="0">
                <a:solidFill>
                  <a:srgbClr val="6C6D6F"/>
                </a:solidFill>
              </a:rPr>
              <a:t>البيع − سعر الشراء (إذا بِيع بأكثر)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الخسارة = سعر الشراء − سعر البيع (إذا بِيع بأقل)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6C6D6F"/>
                </a:solidFill>
              </a:rPr>
              <a:t>نسبة </a:t>
            </a:r>
            <a:r>
              <a:rPr lang="ar-SA" sz="1300" dirty="0">
                <a:solidFill>
                  <a:srgbClr val="6C6D6F"/>
                </a:solidFill>
              </a:rPr>
              <a:t>الربح% = (الربح ÷ سعر الشراء) × </a:t>
            </a:r>
            <a:r>
              <a:rPr lang="ar-SA" sz="1300" dirty="0" smtClean="0">
                <a:solidFill>
                  <a:srgbClr val="6C6D6F"/>
                </a:solidFill>
              </a:rPr>
              <a:t>١٠0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365760" y="2688336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err="1" smtClean="0">
                <a:solidFill>
                  <a:srgbClr val="6C6D6F"/>
                </a:solidFill>
              </a:rPr>
              <a:t>عاوزك</a:t>
            </a:r>
            <a:r>
              <a:rPr lang="ar-SA" sz="1300" dirty="0" smtClean="0">
                <a:solidFill>
                  <a:srgbClr val="6C6D6F"/>
                </a:solidFill>
              </a:rPr>
              <a:t> في هذا الباب تتعامل كأنك تبيع وتشتري في الواقع 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pic>
        <p:nvPicPr>
          <p:cNvPr id="13" name="صورة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12803"/>
            <a:ext cx="3713805" cy="34159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i="0" dirty="0" smtClean="0">
                <a:solidFill>
                  <a:srgbClr val="FFFFFF"/>
                </a:solidFill>
                <a:latin typeface="Arial"/>
              </a:rPr>
              <a:t>38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اشترى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تاجر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بضاعة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بـ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٢٤٠٠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وباعها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بـ ٣٠٠٠.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نسبة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ربحه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20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٪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٢٥٪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٣٠٪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١٥٪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١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نحسب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الربح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٣٠٠٠ − ٢٤٠٠ = ٦٠٠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ريال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٢ —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>
                <a:solidFill>
                  <a:srgbClr val="054040"/>
                </a:solidFill>
              </a:rPr>
              <a:t>نحسب نسبة الربح (على سعر الشراء)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4041648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نسبة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الربح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الربح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÷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سعر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الشراء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× ١٠٠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44398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= ٦٠٠ ÷ ٢٤٠٠ × ١٠٠ = ٢٥٪  ✓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أ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٢٥٪</a:t>
            </a:r>
          </a:p>
        </p:txBody>
      </p:sp>
      <p:sp>
        <p:nvSpPr>
          <p:cNvPr id="22" name="TextBox 19"/>
          <p:cNvSpPr txBox="1"/>
          <p:nvPr/>
        </p:nvSpPr>
        <p:spPr>
          <a:xfrm>
            <a:off x="1926026" y="3404262"/>
            <a:ext cx="21519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السعر              النسبة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3" name="TextBox 19"/>
          <p:cNvSpPr txBox="1"/>
          <p:nvPr/>
        </p:nvSpPr>
        <p:spPr>
          <a:xfrm>
            <a:off x="2013556" y="3652203"/>
            <a:ext cx="21519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2400                100%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4" name="TextBox 19"/>
          <p:cNvSpPr txBox="1"/>
          <p:nvPr/>
        </p:nvSpPr>
        <p:spPr>
          <a:xfrm>
            <a:off x="-4283534" y="3983070"/>
            <a:ext cx="8449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600" dirty="0">
                <a:solidFill>
                  <a:srgbClr val="054040"/>
                </a:solidFill>
                <a:latin typeface="Arial"/>
              </a:rPr>
              <a:t>3000             </a:t>
            </a:r>
            <a:r>
              <a:rPr lang="ar-SA" sz="1600" dirty="0" smtClean="0">
                <a:solidFill>
                  <a:srgbClr val="054040"/>
                </a:solidFill>
                <a:latin typeface="Arial"/>
              </a:rPr>
              <a:t>     ؟ </a:t>
            </a:r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%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cxnSp>
        <p:nvCxnSpPr>
          <p:cNvPr id="25" name="رابط كسهم مستقيم 24"/>
          <p:cNvCxnSpPr/>
          <p:nvPr/>
        </p:nvCxnSpPr>
        <p:spPr>
          <a:xfrm flipH="1" flipV="1">
            <a:off x="2773611" y="3843897"/>
            <a:ext cx="747511" cy="314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0"/>
          <p:cNvSpPr txBox="1"/>
          <p:nvPr/>
        </p:nvSpPr>
        <p:spPr>
          <a:xfrm>
            <a:off x="3002009" y="3767674"/>
            <a:ext cx="373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FF0000"/>
                </a:solidFill>
                <a:latin typeface="Arial"/>
              </a:rPr>
              <a:t>×</a:t>
            </a:r>
            <a:endParaRPr sz="1400" b="0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7" name="TextBox 20"/>
          <p:cNvSpPr txBox="1"/>
          <p:nvPr/>
        </p:nvSpPr>
        <p:spPr>
          <a:xfrm rot="1177344">
            <a:off x="2415693" y="3949055"/>
            <a:ext cx="1145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900" b="0" i="0" dirty="0" smtClean="0">
                <a:solidFill>
                  <a:srgbClr val="054040"/>
                </a:solidFill>
                <a:latin typeface="Arial"/>
              </a:rPr>
              <a:t>نضرب ثم نقسم على 2400</a:t>
            </a:r>
            <a:endParaRPr sz="9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8" name="TextBox 20"/>
          <p:cNvSpPr txBox="1"/>
          <p:nvPr/>
        </p:nvSpPr>
        <p:spPr>
          <a:xfrm>
            <a:off x="3440229" y="3755707"/>
            <a:ext cx="139191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50" b="0" i="0" dirty="0" err="1">
                <a:solidFill>
                  <a:srgbClr val="054040"/>
                </a:solidFill>
                <a:latin typeface="Arial"/>
              </a:rPr>
              <a:t>أو</a:t>
            </a:r>
            <a:r>
              <a:rPr sz="105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050" b="0" i="0" dirty="0" err="1" smtClean="0">
                <a:solidFill>
                  <a:srgbClr val="054040"/>
                </a:solidFill>
                <a:latin typeface="Arial"/>
              </a:rPr>
              <a:t>بالتناسب</a:t>
            </a:r>
            <a:endParaRPr lang="ar-SA" sz="1050" b="0" i="0" dirty="0" smtClean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31" name="TextBox 20"/>
          <p:cNvSpPr txBox="1"/>
          <p:nvPr/>
        </p:nvSpPr>
        <p:spPr>
          <a:xfrm>
            <a:off x="1524070" y="4445065"/>
            <a:ext cx="139191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050" b="0" i="0" dirty="0" err="1" smtClean="0">
                <a:solidFill>
                  <a:srgbClr val="054040"/>
                </a:solidFill>
                <a:latin typeface="Arial"/>
              </a:rPr>
              <a:t>هيساوي</a:t>
            </a:r>
            <a:r>
              <a:rPr lang="ar-SA" sz="1050" b="0" i="0" dirty="0" smtClean="0">
                <a:solidFill>
                  <a:srgbClr val="054040"/>
                </a:solidFill>
                <a:latin typeface="Arial"/>
              </a:rPr>
              <a:t> 125 اذن نطرح 125 – 100 = 25%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sz="1700" b="1" i="0" dirty="0" smtClean="0">
                <a:solidFill>
                  <a:srgbClr val="FFFFFF"/>
                </a:solidFill>
                <a:latin typeface="Arial"/>
              </a:rPr>
              <a:t>39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مدرسة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فيها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٦٠٠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طالب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نجح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منهم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٤٥٠.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نسبة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الراسبين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٢٠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٪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>
                <a:solidFill>
                  <a:srgbClr val="FFFFFF"/>
                </a:solidFill>
                <a:latin typeface="Arial"/>
              </a:rPr>
              <a:t>✅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أ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٢٥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٣٠٪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٧٥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١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نحسب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الراسبين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٦٠٠ − ٤٥٠ = ١٥٠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طالباً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٢ —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نحسب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نسبة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الراسبين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الكل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6849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نسبة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الراسبين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150 ×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100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4904" y="448185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=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15000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>
                <a:solidFill>
                  <a:srgbClr val="444444"/>
                </a:solidFill>
                <a:latin typeface="Arial"/>
              </a:rPr>
              <a:t>÷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6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٠٠=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٢٥٪  ✓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أ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٢٥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٪</a:t>
            </a:r>
          </a:p>
        </p:txBody>
      </p:sp>
      <p:sp>
        <p:nvSpPr>
          <p:cNvPr id="22" name="TextBox 19"/>
          <p:cNvSpPr txBox="1"/>
          <p:nvPr/>
        </p:nvSpPr>
        <p:spPr>
          <a:xfrm>
            <a:off x="1926026" y="3404262"/>
            <a:ext cx="21519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الكل              النسبة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3" name="TextBox 19"/>
          <p:cNvSpPr txBox="1"/>
          <p:nvPr/>
        </p:nvSpPr>
        <p:spPr>
          <a:xfrm>
            <a:off x="2013556" y="3652203"/>
            <a:ext cx="21519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600                100%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4" name="TextBox 19"/>
          <p:cNvSpPr txBox="1"/>
          <p:nvPr/>
        </p:nvSpPr>
        <p:spPr>
          <a:xfrm>
            <a:off x="-4283534" y="3983070"/>
            <a:ext cx="8449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 150                    ؟ %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cxnSp>
        <p:nvCxnSpPr>
          <p:cNvPr id="25" name="رابط كسهم مستقيم 24"/>
          <p:cNvCxnSpPr/>
          <p:nvPr/>
        </p:nvCxnSpPr>
        <p:spPr>
          <a:xfrm flipH="1" flipV="1">
            <a:off x="2891617" y="3824935"/>
            <a:ext cx="750628" cy="3365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0"/>
          <p:cNvSpPr txBox="1"/>
          <p:nvPr/>
        </p:nvSpPr>
        <p:spPr>
          <a:xfrm>
            <a:off x="3080006" y="3770915"/>
            <a:ext cx="373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FF0000"/>
                </a:solidFill>
                <a:latin typeface="Arial"/>
              </a:rPr>
              <a:t>×</a:t>
            </a:r>
            <a:endParaRPr sz="1400" b="0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7" name="TextBox 20"/>
          <p:cNvSpPr txBox="1"/>
          <p:nvPr/>
        </p:nvSpPr>
        <p:spPr>
          <a:xfrm rot="1485442">
            <a:off x="2662719" y="4035571"/>
            <a:ext cx="114570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900" b="0" i="0" dirty="0" smtClean="0">
                <a:solidFill>
                  <a:srgbClr val="054040"/>
                </a:solidFill>
                <a:latin typeface="Arial"/>
              </a:rPr>
              <a:t>نضرب ثم نقسم على 600</a:t>
            </a:r>
            <a:endParaRPr sz="9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8" name="TextBox 20"/>
          <p:cNvSpPr txBox="1"/>
          <p:nvPr/>
        </p:nvSpPr>
        <p:spPr>
          <a:xfrm>
            <a:off x="4187719" y="3629459"/>
            <a:ext cx="73930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50" b="0" i="0" dirty="0" err="1">
                <a:solidFill>
                  <a:srgbClr val="054040"/>
                </a:solidFill>
                <a:latin typeface="Arial"/>
              </a:rPr>
              <a:t>أو</a:t>
            </a:r>
            <a:r>
              <a:rPr sz="105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050" b="0" i="0" dirty="0" err="1" smtClean="0">
                <a:solidFill>
                  <a:srgbClr val="054040"/>
                </a:solidFill>
                <a:latin typeface="Arial"/>
              </a:rPr>
              <a:t>بالتناسب</a:t>
            </a:r>
            <a:endParaRPr lang="ar-SA" sz="1050" b="0" i="0" dirty="0" smtClean="0">
              <a:solidFill>
                <a:srgbClr val="054040"/>
              </a:solidFill>
              <a:latin typeface="Arial"/>
            </a:endParaRPr>
          </a:p>
          <a:p>
            <a:pPr algn="r" rtl="1"/>
            <a:r>
              <a:rPr lang="ar-SA" sz="1050" b="0" i="0" dirty="0" smtClean="0">
                <a:solidFill>
                  <a:srgbClr val="054040"/>
                </a:solidFill>
                <a:latin typeface="Arial"/>
              </a:rPr>
              <a:t> </a:t>
            </a:r>
            <a:endParaRPr sz="1050" b="0" i="0" dirty="0">
              <a:solidFill>
                <a:srgbClr val="054040"/>
              </a:solidFill>
              <a:latin typeface="Arial"/>
            </a:endParaRPr>
          </a:p>
        </p:txBody>
      </p:sp>
      <p:cxnSp>
        <p:nvCxnSpPr>
          <p:cNvPr id="32" name="رابط مستقيم 31"/>
          <p:cNvCxnSpPr/>
          <p:nvPr/>
        </p:nvCxnSpPr>
        <p:spPr>
          <a:xfrm>
            <a:off x="7171899" y="4183185"/>
            <a:ext cx="600501" cy="58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9"/>
          <p:cNvSpPr txBox="1"/>
          <p:nvPr/>
        </p:nvSpPr>
        <p:spPr>
          <a:xfrm>
            <a:off x="7233313" y="4206195"/>
            <a:ext cx="477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600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السعر الأصلي والتخفيض المركب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FFC107"/>
                </a:solidFill>
                <a:latin typeface="Arial"/>
              </a:rPr>
              <a:t>21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pic>
        <p:nvPicPr>
          <p:cNvPr id="20" name="صورة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77" y="1499616"/>
            <a:ext cx="3280066" cy="3071508"/>
          </a:xfrm>
          <a:prstGeom prst="rect">
            <a:avLst/>
          </a:prstGeom>
        </p:spPr>
      </p:pic>
      <p:pic>
        <p:nvPicPr>
          <p:cNvPr id="21" name="صورة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725" y="1499616"/>
            <a:ext cx="3375962" cy="28816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i="0" dirty="0" smtClean="0">
                <a:solidFill>
                  <a:srgbClr val="FFFFFF"/>
                </a:solidFill>
                <a:latin typeface="Arial"/>
              </a:rPr>
              <a:t>40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سعر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جهاز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٢٠٠٠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ريال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خُفِّض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١٥٪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ثم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١٠٪.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السعر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النهائي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ب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١٥٣٠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1400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1470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1500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3255663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١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نطبق القانون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4904" y="360273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(مجموع النسبتين ) -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6344" y="405057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( 15 + 10 ) -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" y="4362508"/>
            <a:ext cx="8449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اذن نسبة التخفيض 23.5% اذن نطرح </a:t>
            </a:r>
            <a:r>
              <a:rPr lang="ar-SA" sz="1200" b="0" i="0" dirty="0" err="1" smtClean="0">
                <a:solidFill>
                  <a:srgbClr val="054040"/>
                </a:solidFill>
                <a:latin typeface="Arial"/>
              </a:rPr>
              <a:t>النسبه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دي من </a:t>
            </a:r>
            <a:r>
              <a:rPr lang="ar-SA" sz="1200" b="0" i="0" dirty="0" err="1" smtClean="0">
                <a:solidFill>
                  <a:srgbClr val="054040"/>
                </a:solidFill>
                <a:latin typeface="Arial"/>
              </a:rPr>
              <a:t>النسبه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الكلية 100% تصبح </a:t>
            </a:r>
            <a:r>
              <a:rPr lang="ar-SA" sz="1200" b="0" i="0" dirty="0" err="1" smtClean="0">
                <a:solidFill>
                  <a:srgbClr val="054040"/>
                </a:solidFill>
                <a:latin typeface="Arial"/>
              </a:rPr>
              <a:t>النسبه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= 76.5%</a:t>
            </a:r>
          </a:p>
          <a:p>
            <a:pPr algn="r" rtl="1"/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endParaRPr lang="ar-SA" sz="1200" b="0" i="0" dirty="0" smtClean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3" name="مستطيل 22"/>
          <p:cNvSpPr/>
          <p:nvPr/>
        </p:nvSpPr>
        <p:spPr>
          <a:xfrm>
            <a:off x="7158133" y="3736618"/>
            <a:ext cx="409669" cy="3365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 smtClean="0">
                <a:solidFill>
                  <a:srgbClr val="054040"/>
                </a:solidFill>
              </a:rPr>
              <a:t>100</a:t>
            </a:r>
            <a:endParaRPr lang="ar-SA" dirty="0">
              <a:solidFill>
                <a:srgbClr val="054040"/>
              </a:solidFill>
            </a:endParaRPr>
          </a:p>
        </p:txBody>
      </p:sp>
      <p:sp>
        <p:nvSpPr>
          <p:cNvPr id="24" name="مستطيل 23"/>
          <p:cNvSpPr/>
          <p:nvPr/>
        </p:nvSpPr>
        <p:spPr>
          <a:xfrm>
            <a:off x="6695460" y="3483349"/>
            <a:ext cx="1335016" cy="3365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 smtClean="0">
                <a:solidFill>
                  <a:srgbClr val="054040"/>
                </a:solidFill>
              </a:rPr>
              <a:t>ضربهم</a:t>
            </a:r>
            <a:endParaRPr lang="ar-SA" sz="1400" dirty="0">
              <a:solidFill>
                <a:srgbClr val="054040"/>
              </a:solidFill>
            </a:endParaRPr>
          </a:p>
        </p:txBody>
      </p:sp>
      <p:cxnSp>
        <p:nvCxnSpPr>
          <p:cNvPr id="25" name="رابط مستقيم 24"/>
          <p:cNvCxnSpPr/>
          <p:nvPr/>
        </p:nvCxnSpPr>
        <p:spPr>
          <a:xfrm>
            <a:off x="7083190" y="3758250"/>
            <a:ext cx="5595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مستطيل 29"/>
          <p:cNvSpPr/>
          <p:nvPr/>
        </p:nvSpPr>
        <p:spPr>
          <a:xfrm>
            <a:off x="6911297" y="3570983"/>
            <a:ext cx="160906" cy="3365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 smtClean="0">
                <a:solidFill>
                  <a:srgbClr val="054040"/>
                </a:solidFill>
              </a:rPr>
              <a:t>%</a:t>
            </a:r>
            <a:endParaRPr lang="ar-SA" sz="1400" dirty="0">
              <a:solidFill>
                <a:srgbClr val="054040"/>
              </a:solidFill>
            </a:endParaRPr>
          </a:p>
        </p:txBody>
      </p:sp>
      <p:sp>
        <p:nvSpPr>
          <p:cNvPr id="31" name="مستطيل 30"/>
          <p:cNvSpPr/>
          <p:nvPr/>
        </p:nvSpPr>
        <p:spPr>
          <a:xfrm>
            <a:off x="7503852" y="4167623"/>
            <a:ext cx="409669" cy="3365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 smtClean="0">
                <a:solidFill>
                  <a:srgbClr val="054040"/>
                </a:solidFill>
              </a:rPr>
              <a:t>100</a:t>
            </a:r>
            <a:endParaRPr lang="ar-SA" dirty="0">
              <a:solidFill>
                <a:srgbClr val="054040"/>
              </a:solidFill>
            </a:endParaRPr>
          </a:p>
        </p:txBody>
      </p:sp>
      <p:sp>
        <p:nvSpPr>
          <p:cNvPr id="32" name="مستطيل 31"/>
          <p:cNvSpPr/>
          <p:nvPr/>
        </p:nvSpPr>
        <p:spPr>
          <a:xfrm>
            <a:off x="7041179" y="3914354"/>
            <a:ext cx="1335016" cy="3365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 smtClean="0">
                <a:solidFill>
                  <a:srgbClr val="054040"/>
                </a:solidFill>
              </a:rPr>
              <a:t>150</a:t>
            </a:r>
            <a:endParaRPr lang="ar-SA" sz="1400" dirty="0">
              <a:solidFill>
                <a:srgbClr val="054040"/>
              </a:solidFill>
            </a:endParaRPr>
          </a:p>
        </p:txBody>
      </p:sp>
      <p:cxnSp>
        <p:nvCxnSpPr>
          <p:cNvPr id="33" name="رابط مستقيم 32"/>
          <p:cNvCxnSpPr/>
          <p:nvPr/>
        </p:nvCxnSpPr>
        <p:spPr>
          <a:xfrm>
            <a:off x="7428909" y="4189255"/>
            <a:ext cx="5595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مستطيل 33"/>
          <p:cNvSpPr/>
          <p:nvPr/>
        </p:nvSpPr>
        <p:spPr>
          <a:xfrm>
            <a:off x="7257016" y="4001988"/>
            <a:ext cx="160906" cy="33653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 smtClean="0">
                <a:solidFill>
                  <a:srgbClr val="054040"/>
                </a:solidFill>
              </a:rPr>
              <a:t>%</a:t>
            </a:r>
            <a:endParaRPr lang="ar-SA" sz="1400" dirty="0">
              <a:solidFill>
                <a:srgbClr val="054040"/>
              </a:solidFill>
            </a:endParaRPr>
          </a:p>
        </p:txBody>
      </p:sp>
      <p:sp>
        <p:nvSpPr>
          <p:cNvPr id="35" name="TextBox 21"/>
          <p:cNvSpPr txBox="1"/>
          <p:nvPr/>
        </p:nvSpPr>
        <p:spPr>
          <a:xfrm>
            <a:off x="4129224" y="4062188"/>
            <a:ext cx="30363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  <a:latin typeface="Arial"/>
              </a:rPr>
              <a:t>= 25 – 1.5% = 23.5%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36" name="TextBox 21"/>
          <p:cNvSpPr txBox="1"/>
          <p:nvPr/>
        </p:nvSpPr>
        <p:spPr>
          <a:xfrm>
            <a:off x="438912" y="4637914"/>
            <a:ext cx="84490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ثم نضرب 2000 + 76.5% بعده نقسم على 100 ليساوي 1530 اذن الإجابة الصحيحة ب 1530</a:t>
            </a:r>
          </a:p>
          <a:p>
            <a:pPr algn="r" rtl="1"/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endParaRPr lang="ar-SA" sz="1200" b="0" i="0" dirty="0" smtClean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37" name="TextBox 19"/>
          <p:cNvSpPr txBox="1"/>
          <p:nvPr/>
        </p:nvSpPr>
        <p:spPr>
          <a:xfrm>
            <a:off x="1926026" y="3404262"/>
            <a:ext cx="21519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السعر              النسبة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38" name="TextBox 19"/>
          <p:cNvSpPr txBox="1"/>
          <p:nvPr/>
        </p:nvSpPr>
        <p:spPr>
          <a:xfrm>
            <a:off x="2013556" y="3652203"/>
            <a:ext cx="21519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2000                100%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39" name="TextBox 19"/>
          <p:cNvSpPr txBox="1"/>
          <p:nvPr/>
        </p:nvSpPr>
        <p:spPr>
          <a:xfrm>
            <a:off x="-4283534" y="3983070"/>
            <a:ext cx="8449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 ؟                    76.5%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cxnSp>
        <p:nvCxnSpPr>
          <p:cNvPr id="40" name="رابط كسهم مستقيم 39"/>
          <p:cNvCxnSpPr/>
          <p:nvPr/>
        </p:nvCxnSpPr>
        <p:spPr>
          <a:xfrm flipH="1">
            <a:off x="2853577" y="3819887"/>
            <a:ext cx="750627" cy="344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20"/>
          <p:cNvSpPr txBox="1"/>
          <p:nvPr/>
        </p:nvSpPr>
        <p:spPr>
          <a:xfrm>
            <a:off x="3017636" y="3728710"/>
            <a:ext cx="373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FF0000"/>
                </a:solidFill>
                <a:latin typeface="Arial"/>
              </a:rPr>
              <a:t>×</a:t>
            </a:r>
            <a:endParaRPr sz="1400" b="0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42" name="TextBox 20"/>
          <p:cNvSpPr txBox="1"/>
          <p:nvPr/>
        </p:nvSpPr>
        <p:spPr>
          <a:xfrm rot="19965862">
            <a:off x="2689808" y="4050505"/>
            <a:ext cx="114570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900" b="0" i="0" dirty="0" smtClean="0">
                <a:solidFill>
                  <a:srgbClr val="054040"/>
                </a:solidFill>
                <a:latin typeface="Arial"/>
              </a:rPr>
              <a:t>نضرب ثم نقسم على 100</a:t>
            </a:r>
            <a:endParaRPr sz="9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43" name="TextBox 20"/>
          <p:cNvSpPr txBox="1"/>
          <p:nvPr/>
        </p:nvSpPr>
        <p:spPr>
          <a:xfrm>
            <a:off x="3912756" y="3585689"/>
            <a:ext cx="13919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50" b="0" i="0" dirty="0" err="1">
                <a:solidFill>
                  <a:srgbClr val="054040"/>
                </a:solidFill>
                <a:latin typeface="Arial"/>
              </a:rPr>
              <a:t>أو</a:t>
            </a:r>
            <a:r>
              <a:rPr sz="105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050" b="0" i="0" dirty="0" err="1" smtClean="0">
                <a:solidFill>
                  <a:srgbClr val="054040"/>
                </a:solidFill>
                <a:latin typeface="Arial"/>
              </a:rPr>
              <a:t>بالتناسب</a:t>
            </a:r>
            <a:r>
              <a:rPr lang="ar-SA" sz="1050" b="0" i="0" dirty="0" smtClean="0">
                <a:solidFill>
                  <a:srgbClr val="054040"/>
                </a:solidFill>
                <a:latin typeface="Arial"/>
              </a:rPr>
              <a:t> بعد معرفة</a:t>
            </a:r>
          </a:p>
          <a:p>
            <a:pPr algn="r" rtl="1"/>
            <a:r>
              <a:rPr lang="ar-SA" sz="1050" b="0" i="0" dirty="0" smtClean="0">
                <a:solidFill>
                  <a:srgbClr val="054040"/>
                </a:solidFill>
                <a:latin typeface="Arial"/>
              </a:rPr>
              <a:t> نسبة التخفيض</a:t>
            </a:r>
            <a:r>
              <a:rPr sz="1050" b="0" i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050" b="0" i="0" dirty="0" smtClean="0">
                <a:solidFill>
                  <a:srgbClr val="054040"/>
                </a:solidFill>
                <a:latin typeface="Arial"/>
              </a:rPr>
              <a:t> </a:t>
            </a:r>
            <a:endParaRPr sz="105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41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باع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تاجر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بـ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٨٥٠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ريال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ونسبة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ربحه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٢٥٪.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سعر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الشراء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620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640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>
                <a:solidFill>
                  <a:srgbClr val="FFFFFF"/>
                </a:solidFill>
                <a:latin typeface="Arial"/>
              </a:rPr>
              <a:t>✅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د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٦٨٠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700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054040"/>
                </a:solidFill>
              </a:rPr>
              <a:t>سعر البيع = سعر الشراء × (١ + نسبة الربح)</a:t>
            </a:r>
            <a:endParaRPr sz="13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٨٥٠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سعر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الشراء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× ١.٢٥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نقسم لإيجاد سعر الشراء: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33425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سعر الشراء = ٨٥٠ ÷ ١.٢٥ = ٦٨٠ ريال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470001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د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٦٨٠  ✓</a:t>
            </a:r>
          </a:p>
        </p:txBody>
      </p:sp>
      <p:sp>
        <p:nvSpPr>
          <p:cNvPr id="24" name="TextBox 19"/>
          <p:cNvSpPr txBox="1"/>
          <p:nvPr/>
        </p:nvSpPr>
        <p:spPr>
          <a:xfrm>
            <a:off x="2148840" y="3372683"/>
            <a:ext cx="21519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السعر              النسبة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5" name="TextBox 19"/>
          <p:cNvSpPr txBox="1"/>
          <p:nvPr/>
        </p:nvSpPr>
        <p:spPr>
          <a:xfrm>
            <a:off x="2148840" y="3641759"/>
            <a:ext cx="21519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850                125%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6" name="TextBox 19"/>
          <p:cNvSpPr txBox="1"/>
          <p:nvPr/>
        </p:nvSpPr>
        <p:spPr>
          <a:xfrm>
            <a:off x="-4148250" y="3972626"/>
            <a:ext cx="8449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 ؟                    100%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cxnSp>
        <p:nvCxnSpPr>
          <p:cNvPr id="27" name="رابط كسهم مستقيم 26"/>
          <p:cNvCxnSpPr/>
          <p:nvPr/>
        </p:nvCxnSpPr>
        <p:spPr>
          <a:xfrm flipH="1">
            <a:off x="2988860" y="3789526"/>
            <a:ext cx="814227" cy="3645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0"/>
          <p:cNvSpPr txBox="1"/>
          <p:nvPr/>
        </p:nvSpPr>
        <p:spPr>
          <a:xfrm>
            <a:off x="3152920" y="3718266"/>
            <a:ext cx="373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FF0000"/>
                </a:solidFill>
                <a:latin typeface="Arial"/>
              </a:rPr>
              <a:t>×</a:t>
            </a:r>
            <a:endParaRPr sz="1400" b="0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9" name="TextBox 20"/>
          <p:cNvSpPr txBox="1"/>
          <p:nvPr/>
        </p:nvSpPr>
        <p:spPr>
          <a:xfrm rot="19965862">
            <a:off x="2825092" y="4040061"/>
            <a:ext cx="114570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900" b="0" i="0" dirty="0" smtClean="0">
                <a:solidFill>
                  <a:srgbClr val="054040"/>
                </a:solidFill>
                <a:latin typeface="Arial"/>
              </a:rPr>
              <a:t>نضرب ثم نقسم على 125</a:t>
            </a:r>
            <a:endParaRPr sz="9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30" name="TextBox 20"/>
          <p:cNvSpPr txBox="1"/>
          <p:nvPr/>
        </p:nvSpPr>
        <p:spPr>
          <a:xfrm>
            <a:off x="4480559" y="3684468"/>
            <a:ext cx="7826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أو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بالتناسب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التناسب الطردي والعكسي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FFC107"/>
                </a:solidFill>
                <a:latin typeface="Arial"/>
              </a:rPr>
              <a:t>22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التناسب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الطردي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كلما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زاد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أحدهما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زاد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الآخر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→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أ/ب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= ج/د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التناسب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العكسي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: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كلما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زاد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أحدهما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نقص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الآخر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→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أ×ب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ج×د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قاعدة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: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التناسب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الطردي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في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(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عمال-إنتاج-مسافة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)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قاعدة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التناسب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العكسي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في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(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عمال-أيام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الإنجاز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)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055364"/>
            <a:ext cx="4096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C107"/>
                </a:solidFill>
                <a:latin typeface="Arial"/>
              </a:rPr>
              <a:t>طردي: أ/ب=ج/د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55364"/>
            <a:ext cx="4096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C107"/>
                </a:solidFill>
                <a:latin typeface="Arial"/>
              </a:rPr>
              <a:t>عكسي: أ×ب=ج×د</a:t>
            </a:r>
          </a:p>
        </p:txBody>
      </p:sp>
      <p:pic>
        <p:nvPicPr>
          <p:cNvPr id="20" name="صورة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874" y="1276172"/>
            <a:ext cx="1807126" cy="1977303"/>
          </a:xfrm>
          <a:prstGeom prst="rect">
            <a:avLst/>
          </a:prstGeom>
        </p:spPr>
      </p:pic>
      <p:pic>
        <p:nvPicPr>
          <p:cNvPr id="21" name="صورة 20"/>
          <p:cNvPicPr>
            <a:picLocks noChangeAspect="1"/>
          </p:cNvPicPr>
          <p:nvPr/>
        </p:nvPicPr>
        <p:blipFill rotWithShape="1">
          <a:blip r:embed="rId3"/>
          <a:srcRect l="4960" t="1008" r="6193" b="-1008"/>
          <a:stretch/>
        </p:blipFill>
        <p:spPr>
          <a:xfrm>
            <a:off x="549434" y="1385645"/>
            <a:ext cx="2091408" cy="19284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42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>
                <a:solidFill>
                  <a:srgbClr val="0D2B55"/>
                </a:solidFill>
                <a:latin typeface="Arial"/>
              </a:rPr>
              <a:t>٦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عمال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ينجزون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عملاً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في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١٢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يوماً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يوماً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يحتاج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٩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عمال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6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7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د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9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كلما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زاد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العمال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قلّت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الأيام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→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هذا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تناسب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عكسي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356485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smtClean="0">
                <a:solidFill>
                  <a:srgbClr val="054040"/>
                </a:solidFill>
                <a:latin typeface="Arial"/>
              </a:rPr>
              <a:t>٦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× ١٢ = ٩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×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؟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3847057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٧٢ =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٩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×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؟  ←  ؟ = ٧٢ ÷ ٩ = ٨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أيام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" y="416200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الصحيحة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د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٨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أيام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 ✓</a:t>
            </a:r>
          </a:p>
        </p:txBody>
      </p:sp>
      <p:sp>
        <p:nvSpPr>
          <p:cNvPr id="23" name="TextBox 19"/>
          <p:cNvSpPr txBox="1"/>
          <p:nvPr/>
        </p:nvSpPr>
        <p:spPr>
          <a:xfrm>
            <a:off x="2148840" y="3372683"/>
            <a:ext cx="21519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عمال              الأيام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4" name="TextBox 19"/>
          <p:cNvSpPr txBox="1"/>
          <p:nvPr/>
        </p:nvSpPr>
        <p:spPr>
          <a:xfrm>
            <a:off x="2148840" y="3641759"/>
            <a:ext cx="21519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6                    12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7" name="TextBox 19"/>
          <p:cNvSpPr txBox="1"/>
          <p:nvPr/>
        </p:nvSpPr>
        <p:spPr>
          <a:xfrm>
            <a:off x="-4148250" y="3972626"/>
            <a:ext cx="8449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 ؟                    9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cxnSp>
        <p:nvCxnSpPr>
          <p:cNvPr id="28" name="رابط كسهم مستقيم 27"/>
          <p:cNvCxnSpPr/>
          <p:nvPr/>
        </p:nvCxnSpPr>
        <p:spPr>
          <a:xfrm flipH="1">
            <a:off x="3102937" y="3789526"/>
            <a:ext cx="700149" cy="19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0"/>
          <p:cNvSpPr txBox="1"/>
          <p:nvPr/>
        </p:nvSpPr>
        <p:spPr>
          <a:xfrm>
            <a:off x="3257958" y="3550551"/>
            <a:ext cx="373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FF0000"/>
                </a:solidFill>
                <a:latin typeface="Arial"/>
              </a:rPr>
              <a:t>×</a:t>
            </a:r>
            <a:endParaRPr sz="1400" b="0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30" name="TextBox 20"/>
          <p:cNvSpPr txBox="1"/>
          <p:nvPr/>
        </p:nvSpPr>
        <p:spPr>
          <a:xfrm>
            <a:off x="2816765" y="3851190"/>
            <a:ext cx="114570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900" b="0" i="0" dirty="0" smtClean="0">
                <a:solidFill>
                  <a:srgbClr val="054040"/>
                </a:solidFill>
                <a:latin typeface="Arial"/>
              </a:rPr>
              <a:t>نضرب ثم نقسم على 9</a:t>
            </a:r>
            <a:endParaRPr sz="9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35" name="TextBox 20"/>
          <p:cNvSpPr txBox="1"/>
          <p:nvPr/>
        </p:nvSpPr>
        <p:spPr>
          <a:xfrm>
            <a:off x="-3185863" y="3684468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أو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بالتناسب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43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سيارة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تقطع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٢٤٠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في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٣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ساعات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كم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تقطع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في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٧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ساعات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500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520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540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ج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٥٦٠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كلما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زاد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الوقت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زادت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المسافة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→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هذا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تناسب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طردي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0273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نحسب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السرعة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أولاً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٢٤٠ ÷ ٣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٨٠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كم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/س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968496"/>
            <a:ext cx="84490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ثم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نضرب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في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الزمن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الجديد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٨٠ × ٧ = ٥٦٠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كم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-2865823" y="3753121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أو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بالتناسب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" y="4347633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ج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٥٦٠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كم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 ✓</a:t>
            </a:r>
          </a:p>
        </p:txBody>
      </p:sp>
      <p:sp>
        <p:nvSpPr>
          <p:cNvPr id="24" name="TextBox 19"/>
          <p:cNvSpPr txBox="1"/>
          <p:nvPr/>
        </p:nvSpPr>
        <p:spPr>
          <a:xfrm>
            <a:off x="-4148250" y="3323505"/>
            <a:ext cx="8449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المسافة            السرعة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6" name="TextBox 19"/>
          <p:cNvSpPr txBox="1"/>
          <p:nvPr/>
        </p:nvSpPr>
        <p:spPr>
          <a:xfrm>
            <a:off x="-4148250" y="3684021"/>
            <a:ext cx="8449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240                 3  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9" name="TextBox 19"/>
          <p:cNvSpPr txBox="1"/>
          <p:nvPr/>
        </p:nvSpPr>
        <p:spPr>
          <a:xfrm>
            <a:off x="-4148250" y="3965006"/>
            <a:ext cx="8449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600" b="0" i="0" dirty="0" smtClean="0">
                <a:solidFill>
                  <a:srgbClr val="054040"/>
                </a:solidFill>
                <a:latin typeface="Arial"/>
              </a:rPr>
              <a:t>  ؟                   7</a:t>
            </a:r>
            <a:endParaRPr sz="1600" b="0" i="0" dirty="0">
              <a:solidFill>
                <a:srgbClr val="054040"/>
              </a:solidFill>
              <a:latin typeface="Arial"/>
            </a:endParaRPr>
          </a:p>
        </p:txBody>
      </p:sp>
      <p:cxnSp>
        <p:nvCxnSpPr>
          <p:cNvPr id="33" name="رابط كسهم مستقيم 32"/>
          <p:cNvCxnSpPr/>
          <p:nvPr/>
        </p:nvCxnSpPr>
        <p:spPr>
          <a:xfrm flipH="1">
            <a:off x="3141786" y="3880332"/>
            <a:ext cx="640862" cy="203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20"/>
          <p:cNvSpPr txBox="1"/>
          <p:nvPr/>
        </p:nvSpPr>
        <p:spPr>
          <a:xfrm>
            <a:off x="2486817" y="3702573"/>
            <a:ext cx="11636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FF0000"/>
                </a:solidFill>
                <a:latin typeface="Arial"/>
              </a:rPr>
              <a:t>×</a:t>
            </a:r>
            <a:endParaRPr sz="1400" b="0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39" name="TextBox 20"/>
          <p:cNvSpPr txBox="1"/>
          <p:nvPr/>
        </p:nvSpPr>
        <p:spPr>
          <a:xfrm rot="20343778">
            <a:off x="2900585" y="4020081"/>
            <a:ext cx="114570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900" b="0" i="0" dirty="0" smtClean="0">
                <a:solidFill>
                  <a:srgbClr val="054040"/>
                </a:solidFill>
                <a:latin typeface="Arial"/>
              </a:rPr>
              <a:t>نضرب ثم نقسم على 3</a:t>
            </a:r>
            <a:endParaRPr sz="9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الوسط الحسابي والمتوسطات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FFC107"/>
                </a:solidFill>
                <a:latin typeface="Arial"/>
              </a:rPr>
              <a:t>23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الوسط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الحسابي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مجموع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القيم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÷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عددها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المجموع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الوسط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×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عدد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القيم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(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لإيجاد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القيمة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المجهولة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)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إذا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أُضيف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عنصر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جديد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: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المجموع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الجديد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مجموع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القديم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+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العنصر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إذا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حُذف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عنصر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: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القيمة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المحذوفة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مجموع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الكل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−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مجموع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الباقي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055364"/>
            <a:ext cx="4096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C107"/>
                </a:solidFill>
                <a:latin typeface="Arial"/>
              </a:rPr>
              <a:t>الوسط = مجموع÷عدد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55364"/>
            <a:ext cx="4096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C107"/>
                </a:solidFill>
                <a:latin typeface="Arial"/>
              </a:rPr>
              <a:t>المجموع = وسط × عدد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sz="1700" b="1" i="0" dirty="0" smtClean="0">
                <a:solidFill>
                  <a:srgbClr val="FFFFFF"/>
                </a:solidFill>
                <a:latin typeface="Arial"/>
              </a:rPr>
              <a:t>44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متوسط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درجات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٥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طلاب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٧٢.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انضم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طالب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سادس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نتيجته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٩٠.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المتوسط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الجديد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73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74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د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٧٥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76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١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نجد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المجموع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الأصلي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٧٢ × ٥ = ٣٦٠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٢ —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نضيف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درجة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الطالب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السادس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٣٦٠ + ٩٠ = ٤٥٠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041648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٣ —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نقسم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على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العدد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الجديد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٤٥٠ ÷ ٦ = ٧٥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44398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د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٧٥  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i="0" dirty="0" smtClean="0">
                <a:solidFill>
                  <a:srgbClr val="FFFFFF"/>
                </a:solidFill>
                <a:latin typeface="Arial"/>
              </a:rPr>
              <a:t>45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متوسط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٦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أعداد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١٥.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حُذف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عدد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فأصبح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المتوسط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١٣.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العدد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المحذوف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21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23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د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٢٥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27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١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مجموع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الأعداد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الكلي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١٥ × ٦ = ٩٠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٢ —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مجموع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الأعداد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الباقية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(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٥أعداد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)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 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١٣ × ٥ = ٦٥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041648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٣ —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العدد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المحذوف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٩٠ − ٦٥ = ٢٥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44398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د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٢٥  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>
                <a:solidFill>
                  <a:srgbClr val="FFFFFF"/>
                </a:solidFill>
                <a:latin typeface="Arial"/>
              </a:rPr>
              <a:t>الاحتمالات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dirty="0" smtClean="0">
                <a:solidFill>
                  <a:srgbClr val="FFC107"/>
                </a:solidFill>
                <a:latin typeface="Arial"/>
              </a:rPr>
              <a:t>24</a:t>
            </a:r>
            <a:endParaRPr sz="1300" b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dirty="0" err="1">
                <a:solidFill>
                  <a:srgbClr val="444444"/>
                </a:solidFill>
                <a:latin typeface="Arial"/>
              </a:rPr>
              <a:t>الاحتمال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عدد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النتائج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 smtClean="0">
                <a:solidFill>
                  <a:srgbClr val="444444"/>
                </a:solidFill>
                <a:latin typeface="Arial"/>
              </a:rPr>
              <a:t>المرغوبة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÷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عدد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النتائج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الكلية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الممكنة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82495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dirty="0" err="1">
                <a:solidFill>
                  <a:srgbClr val="444444"/>
                </a:solidFill>
                <a:latin typeface="Arial"/>
              </a:rPr>
              <a:t>الاحتمال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دائماً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بين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 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(  مستحيل = 0 ) و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) 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مؤكد = 1 )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29967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dirty="0" err="1">
                <a:solidFill>
                  <a:srgbClr val="444444"/>
                </a:solidFill>
                <a:latin typeface="Arial"/>
              </a:rPr>
              <a:t>احتمال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عدم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الحدوث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= ١ 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−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احتمال</a:t>
            </a:r>
            <a:r>
              <a:rPr sz="1300" b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444444"/>
                </a:solidFill>
                <a:latin typeface="Arial"/>
              </a:rPr>
              <a:t>الحدوث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1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 </a:t>
            </a:r>
            <a:r>
              <a:rPr sz="1700" b="1" dirty="0" smtClean="0">
                <a:solidFill>
                  <a:srgbClr val="FFFFFF"/>
                </a:solidFill>
                <a:latin typeface="Arial"/>
              </a:rPr>
              <a:t>46</a:t>
            </a:r>
            <a:endParaRPr sz="17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dirty="0" err="1">
                <a:solidFill>
                  <a:srgbClr val="0D2B55"/>
                </a:solidFill>
                <a:latin typeface="Arial"/>
              </a:rPr>
              <a:t>كيس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فيه</a:t>
            </a:r>
            <a:r>
              <a:rPr b="0" dirty="0">
                <a:solidFill>
                  <a:srgbClr val="0D2B55"/>
                </a:solidFill>
                <a:latin typeface="Arial"/>
              </a:rPr>
              <a:t> ٥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كرات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حمراء</a:t>
            </a:r>
            <a:r>
              <a:rPr b="0" dirty="0">
                <a:solidFill>
                  <a:srgbClr val="0D2B55"/>
                </a:solidFill>
                <a:latin typeface="Arial"/>
              </a:rPr>
              <a:t> و٣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خضراء</a:t>
            </a:r>
            <a:r>
              <a:rPr b="0" dirty="0">
                <a:solidFill>
                  <a:srgbClr val="0D2B55"/>
                </a:solidFill>
                <a:latin typeface="Arial"/>
              </a:rPr>
              <a:t> و٢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صفراء</a:t>
            </a:r>
            <a:r>
              <a:rPr b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احتمال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سحب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كرة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خضراء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عشوائياً</a:t>
            </a:r>
            <a:r>
              <a:rPr b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١/٥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dirty="0" smtClean="0">
                <a:solidFill>
                  <a:srgbClr val="FFFFFF"/>
                </a:solidFill>
                <a:latin typeface="Arial"/>
              </a:rPr>
              <a:t>أ </a:t>
            </a:r>
            <a:r>
              <a:rPr sz="1300" b="1" dirty="0" smtClean="0">
                <a:solidFill>
                  <a:srgbClr val="FFFFFF"/>
                </a:solidFill>
                <a:latin typeface="Arial"/>
              </a:rPr>
              <a:t>٣/١٠</a:t>
            </a:r>
            <a:endParaRPr sz="13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٣/٨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 ١/٣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>
                <a:solidFill>
                  <a:srgbClr val="FFFFFF"/>
                </a:solidFill>
                <a:latin typeface="Arial"/>
              </a:rPr>
              <a:t>✏️  خطوات الحـــل  — اقرأ بتمعن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35761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054040"/>
                </a:solidFill>
                <a:latin typeface="Arial"/>
              </a:rPr>
              <a:t>نحدد المعطيات أولاً: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357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dirty="0">
                <a:solidFill>
                  <a:srgbClr val="054040"/>
                </a:solidFill>
                <a:latin typeface="Arial"/>
              </a:rPr>
              <a:t>   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( </a:t>
            </a:r>
            <a:r>
              <a:rPr sz="1200" b="0" dirty="0" err="1" smtClean="0">
                <a:solidFill>
                  <a:srgbClr val="054040"/>
                </a:solidFill>
                <a:latin typeface="Arial"/>
              </a:rPr>
              <a:t>الكرات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الخضراء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(</a:t>
            </a:r>
            <a:r>
              <a:rPr sz="1200" b="0" dirty="0" err="1" smtClean="0">
                <a:solidFill>
                  <a:srgbClr val="054040"/>
                </a:solidFill>
                <a:latin typeface="Arial"/>
              </a:rPr>
              <a:t>المرغوبة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= ٣ 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←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 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هذا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هو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بسط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الكسر</a:t>
            </a:r>
            <a:endParaRPr sz="1200" b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4904" y="3965263"/>
            <a:ext cx="835761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الكرات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الكلية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= ٥ + ٣ + ٢ = ١٠  ← 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هذا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هو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المقام</a:t>
            </a:r>
            <a:endParaRPr sz="1200" b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318647"/>
            <a:ext cx="8357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dirty="0" err="1">
                <a:solidFill>
                  <a:srgbClr val="054040"/>
                </a:solidFill>
                <a:latin typeface="Arial"/>
              </a:rPr>
              <a:t>الاحتمال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= ٣ ÷ ١٠ 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 ٣/١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0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  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✓  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أ 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٣/١٠</a:t>
            </a:r>
            <a:endParaRPr sz="1200" b="0" dirty="0">
              <a:solidFill>
                <a:srgbClr val="05404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37738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47</a:t>
            </a:r>
            <a:endParaRPr sz="17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dirty="0" err="1">
                <a:solidFill>
                  <a:srgbClr val="0D2B55"/>
                </a:solidFill>
                <a:latin typeface="Arial"/>
              </a:rPr>
              <a:t>عند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رمي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حجر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نرد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مرة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واحدة</a:t>
            </a:r>
            <a:r>
              <a:rPr b="0" dirty="0">
                <a:solidFill>
                  <a:srgbClr val="0D2B55"/>
                </a:solidFill>
                <a:latin typeface="Arial"/>
              </a:rPr>
              <a:t>،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احتمال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ظهور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عدد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أكبر</a:t>
            </a:r>
            <a:r>
              <a:rPr b="0" dirty="0">
                <a:solidFill>
                  <a:srgbClr val="0D2B55"/>
                </a:solidFill>
                <a:latin typeface="Arial"/>
              </a:rPr>
              <a:t> </a:t>
            </a:r>
            <a:r>
              <a:rPr b="0" dirty="0" err="1">
                <a:solidFill>
                  <a:srgbClr val="0D2B55"/>
                </a:solidFill>
                <a:latin typeface="Arial"/>
              </a:rPr>
              <a:t>من</a:t>
            </a:r>
            <a:r>
              <a:rPr b="0" dirty="0">
                <a:solidFill>
                  <a:srgbClr val="0D2B55"/>
                </a:solidFill>
                <a:latin typeface="Arial"/>
              </a:rPr>
              <a:t> ٤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dirty="0" smtClean="0">
                <a:solidFill>
                  <a:srgbClr val="FFFFFF"/>
                </a:solidFill>
                <a:latin typeface="Arial"/>
              </a:rPr>
              <a:t>ب </a:t>
            </a:r>
            <a:r>
              <a:rPr sz="1300" b="1" dirty="0" smtClean="0">
                <a:solidFill>
                  <a:srgbClr val="FFFFFF"/>
                </a:solidFill>
                <a:latin typeface="Arial"/>
              </a:rPr>
              <a:t>١/٣</a:t>
            </a:r>
            <a:r>
              <a:rPr lang="ar-SA" sz="1300" b="1" dirty="0" smtClean="0">
                <a:solidFill>
                  <a:srgbClr val="FFFFFF"/>
                </a:solidFill>
                <a:latin typeface="Arial"/>
              </a:rPr>
              <a:t> ثلث</a:t>
            </a:r>
            <a:endParaRPr sz="13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أ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١/٢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نصف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٢/٣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ثلثين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dirty="0" smtClean="0">
                <a:solidFill>
                  <a:srgbClr val="444444"/>
                </a:solidFill>
                <a:latin typeface="Arial"/>
              </a:rPr>
              <a:t>١/٦</a:t>
            </a:r>
            <a:r>
              <a:rPr lang="ar-SA" sz="1300" b="0" dirty="0" smtClean="0">
                <a:solidFill>
                  <a:srgbClr val="444444"/>
                </a:solidFill>
                <a:latin typeface="Arial"/>
              </a:rPr>
              <a:t> سدس</a:t>
            </a:r>
            <a:endParaRPr sz="1300" b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>
                <a:solidFill>
                  <a:srgbClr val="FFFFFF"/>
                </a:solidFill>
                <a:latin typeface="Arial"/>
              </a:rPr>
              <a:t>✏️  خطوات الحـــل  — اقرأ بتمعن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357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dirty="0" err="1">
                <a:solidFill>
                  <a:srgbClr val="054040"/>
                </a:solidFill>
                <a:latin typeface="Arial"/>
              </a:rPr>
              <a:t>وجوه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النرد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الكلية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= ٦  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( </a:t>
            </a:r>
            <a:r>
              <a:rPr sz="1200" b="0" dirty="0" err="1" smtClean="0">
                <a:solidFill>
                  <a:srgbClr val="054040"/>
                </a:solidFill>
                <a:latin typeface="Arial"/>
              </a:rPr>
              <a:t>الأعداد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من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١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إلى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٦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)</a:t>
            </a:r>
            <a:endParaRPr sz="1200" b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573411"/>
            <a:ext cx="835761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dirty="0" err="1">
                <a:solidFill>
                  <a:srgbClr val="054040"/>
                </a:solidFill>
                <a:latin typeface="Arial"/>
              </a:rPr>
              <a:t>الأعداد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الأكبر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من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٤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هي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:  ٥ ، ٦  → 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عددها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= ٢  ← 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هذا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هو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البسط</a:t>
            </a:r>
            <a:endParaRPr sz="1200" b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3877056"/>
            <a:ext cx="835761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dirty="0" err="1">
                <a:solidFill>
                  <a:srgbClr val="054040"/>
                </a:solidFill>
                <a:latin typeface="Arial"/>
              </a:rPr>
              <a:t>الاحتمال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= ٢ ÷ ٦ = ١/٣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172962"/>
            <a:ext cx="83576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: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dirty="0" smtClean="0">
                <a:solidFill>
                  <a:srgbClr val="054040"/>
                </a:solidFill>
                <a:latin typeface="Arial"/>
              </a:rPr>
              <a:t> ب </a:t>
            </a:r>
            <a:r>
              <a:rPr sz="1200" b="0" dirty="0" smtClean="0">
                <a:solidFill>
                  <a:srgbClr val="054040"/>
                </a:solidFill>
                <a:latin typeface="Arial"/>
              </a:rPr>
              <a:t>١/٣  </a:t>
            </a:r>
            <a:r>
              <a:rPr sz="1200" b="0" dirty="0">
                <a:solidFill>
                  <a:srgbClr val="054040"/>
                </a:solidFill>
                <a:latin typeface="Arial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315402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B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700" b="0" i="0">
                <a:solidFill>
                  <a:srgbClr val="CCFFFF"/>
                </a:solidFill>
                <a:latin typeface="Arial"/>
              </a:rPr>
              <a:t>الباب الثالث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600" b="1" i="0">
                <a:solidFill>
                  <a:srgbClr val="FFFFFF"/>
                </a:solidFill>
                <a:latin typeface="Arial"/>
              </a:rPr>
              <a:t>الهندسة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500" b="0" i="0">
                <a:solidFill>
                  <a:srgbClr val="DDFFFF"/>
                </a:solidFill>
                <a:latin typeface="Arial"/>
              </a:rPr>
              <a:t>الزوايا – المثلث – الأشكال الرباعية – الدائرة – الأشكال ثلاثية الأبعاد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606040"/>
            <a:ext cx="548640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FFFFFF"/>
                </a:solidFill>
                <a:latin typeface="Arial"/>
              </a:rPr>
              <a:t>• الزوايا والمضلعات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468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FFFFFF"/>
                </a:solidFill>
                <a:latin typeface="Arial"/>
              </a:rPr>
              <a:t>• المثلث وجميع معلوماته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FFFFFF"/>
                </a:solidFill>
                <a:latin typeface="Arial"/>
              </a:rPr>
              <a:t>• المستطيل والمربع والمعين والمتوازي وشبه المنحرف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39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400" b="0" i="0">
                <a:solidFill>
                  <a:srgbClr val="FFFFFF"/>
                </a:solidFill>
                <a:latin typeface="Arial"/>
              </a:rPr>
              <a:t>• الدائرة ومعلوماتها  |  التوازي  |  الأشكال ثلاثية الأبعاد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الزوايا والمضلعات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FFC107"/>
                </a:solidFill>
                <a:latin typeface="Arial"/>
              </a:rPr>
              <a:t>25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مجموع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زوايا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أي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مثلث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١٨٠°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6C6D6F"/>
                </a:solidFill>
              </a:rPr>
              <a:t>مجموع </a:t>
            </a:r>
            <a:r>
              <a:rPr lang="ar-SA" sz="1300" dirty="0">
                <a:solidFill>
                  <a:srgbClr val="6C6D6F"/>
                </a:solidFill>
              </a:rPr>
              <a:t>زوايا أي مضلع = (عدد الأضلاع − ٢) × ١٨٠°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زاوية المضلع المنتظم الواحدة = مجموع الزوايا ÷ عدد الأضلاع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الزاوية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المستقيمة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=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١٨٠ 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°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|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القائمة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=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٩٠  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°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|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المستوية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= ٣٦٠°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sz="1700" b="1" i="0" dirty="0" smtClean="0">
                <a:solidFill>
                  <a:srgbClr val="FFFFFF"/>
                </a:solidFill>
                <a:latin typeface="Arial"/>
              </a:rPr>
              <a:t>48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مجموع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زوايا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مضلع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سداسي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= 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ب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٧٢٠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°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٦٦٠°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٥٤٠°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٩٠٠°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Hexagon 16"/>
          <p:cNvSpPr/>
          <p:nvPr/>
        </p:nvSpPr>
        <p:spPr>
          <a:xfrm>
            <a:off x="6857999" y="3291839"/>
            <a:ext cx="1280160" cy="1280160"/>
          </a:xfrm>
          <a:prstGeom prst="hexagon">
            <a:avLst/>
          </a:prstGeom>
          <a:solidFill>
            <a:srgbClr val="E0F5F5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19" y="3657600"/>
            <a:ext cx="11887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>
                <a:solidFill>
                  <a:srgbClr val="008B8B"/>
                </a:solidFill>
                <a:latin typeface="Arial"/>
              </a:rPr>
              <a:t>٦ أضلاع
٧٢٠°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00400"/>
            <a:ext cx="548640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3236976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</a:rPr>
              <a:t>نطبق </a:t>
            </a:r>
            <a:r>
              <a:rPr lang="ar-SA" sz="1200" dirty="0">
                <a:solidFill>
                  <a:srgbClr val="054040"/>
                </a:solidFill>
              </a:rPr>
              <a:t>قانون مجموع زوايا المضلع </a:t>
            </a:r>
            <a:r>
              <a:rPr lang="ar-SA" sz="1200" dirty="0" smtClean="0">
                <a:solidFill>
                  <a:srgbClr val="054040"/>
                </a:solidFill>
              </a:rPr>
              <a:t>: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 smtClean="0">
                <a:solidFill>
                  <a:srgbClr val="054040"/>
                </a:solidFill>
              </a:rPr>
              <a:t>(</a:t>
            </a:r>
            <a:r>
              <a:rPr lang="ar-SA" sz="1200" dirty="0">
                <a:solidFill>
                  <a:srgbClr val="054040"/>
                </a:solidFill>
              </a:rPr>
              <a:t>عدد الأضلاع = ٦</a:t>
            </a:r>
            <a:r>
              <a:rPr lang="ar-SA" sz="1200" dirty="0" smtClean="0">
                <a:solidFill>
                  <a:srgbClr val="054040"/>
                </a:solidFill>
              </a:rPr>
              <a:t>)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3639312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</a:rPr>
              <a:t>مجموع </a:t>
            </a:r>
            <a:r>
              <a:rPr lang="ar-SA" sz="1200" dirty="0">
                <a:solidFill>
                  <a:srgbClr val="054040"/>
                </a:solidFill>
              </a:rPr>
              <a:t>الزوايا = (ن − ٢) × ١٨٠°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" y="4041648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= (٦ − ٢) × ١٨٠° = ٤ × ١٨٠° = ٧٢٠°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" y="4443984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</a:rPr>
              <a:t>للتذكر</a:t>
            </a:r>
            <a:r>
              <a:rPr lang="ar-SA" sz="1200" dirty="0">
                <a:solidFill>
                  <a:srgbClr val="054040"/>
                </a:solidFill>
              </a:rPr>
              <a:t>: مثلث=١٨٠° ، رباعي=٣٦٠° ، خماسي=٥٤٠° ، سداسي=٧٢٠° ✓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sz="1700" b="1" i="0" dirty="0" smtClean="0">
                <a:solidFill>
                  <a:srgbClr val="FFFFFF"/>
                </a:solidFill>
                <a:latin typeface="Arial"/>
              </a:rPr>
              <a:t>49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في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مثلث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زاويتان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٧٥°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و٥٥°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الزاوية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الثالثة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ب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٥٠°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٤٥°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٤٠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٦٠°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00400"/>
            <a:ext cx="548640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3236976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مجموع زوايا أي مثلث = ١٨٠° دائماً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" y="3639312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</a:rPr>
              <a:t>نجمع </a:t>
            </a:r>
            <a:r>
              <a:rPr lang="ar-SA" sz="1200" dirty="0">
                <a:solidFill>
                  <a:srgbClr val="054040"/>
                </a:solidFill>
              </a:rPr>
              <a:t>الزاويتين المعروفتين: ٧٥° + ٥٥° = ١٣٠°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7472" y="4041648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الزاوية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الثالثة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١٨٠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° −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١٣٠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= ٥٠°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443984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✓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ب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٥٠°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6" name="مثلث متساوي الساقين 25"/>
          <p:cNvSpPr/>
          <p:nvPr/>
        </p:nvSpPr>
        <p:spPr>
          <a:xfrm>
            <a:off x="6190488" y="3300764"/>
            <a:ext cx="2122714" cy="1410855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9" name="TextBox 18"/>
          <p:cNvSpPr txBox="1"/>
          <p:nvPr/>
        </p:nvSpPr>
        <p:spPr>
          <a:xfrm>
            <a:off x="7673122" y="4450595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 dirty="0">
                <a:solidFill>
                  <a:srgbClr val="CC2222"/>
                </a:solidFill>
                <a:latin typeface="Arial"/>
              </a:rPr>
              <a:t>٥٥°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443729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1" i="0">
                <a:solidFill>
                  <a:srgbClr val="6A0DAD"/>
                </a:solidFill>
                <a:latin typeface="Arial"/>
              </a:rPr>
              <a:t>؟°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805" y="34838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 dirty="0">
                <a:solidFill>
                  <a:srgbClr val="CC2222"/>
                </a:solidFill>
                <a:latin typeface="Arial"/>
              </a:rPr>
              <a:t>٧٥°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المثلث وجميع معلوماته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FFC107"/>
                </a:solidFill>
                <a:latin typeface="Arial"/>
              </a:rPr>
              <a:t>26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مساحة المثلث = ½ × القاعدة × الارتفاع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6C6D6F"/>
                </a:solidFill>
              </a:rPr>
              <a:t>نظرية فيثاغورس (القائم): وتر² = ضلع₁² + ضلع</a:t>
            </a:r>
            <a:r>
              <a:rPr lang="en-AE" sz="700" dirty="0" smtClean="0">
                <a:solidFill>
                  <a:srgbClr val="6C6D6F"/>
                </a:solidFill>
              </a:rPr>
              <a:t>2</a:t>
            </a:r>
            <a:r>
              <a:rPr lang="ar-SA" sz="1300" dirty="0" smtClean="0">
                <a:solidFill>
                  <a:srgbClr val="6C6D6F"/>
                </a:solidFill>
              </a:rPr>
              <a:t>²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المثلث متساوي الأضلاع: جميع زواياه ٦٠° | المتساوي الساقين: زاويتان متساويتان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الضلع الأكبر في المثلث يقابل الزاوية الأكبر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50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مثلث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قائم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ضلعاه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٦ و٨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طول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الوتر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١٢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١٠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سم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١٤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٩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904488"/>
            <a:ext cx="548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1" i="0" dirty="0">
                <a:solidFill>
                  <a:srgbClr val="198754"/>
                </a:solidFill>
                <a:latin typeface="Arial"/>
              </a:rPr>
              <a:t>٦ </a:t>
            </a:r>
            <a:r>
              <a:rPr sz="1100" b="1" i="0" dirty="0" err="1">
                <a:solidFill>
                  <a:srgbClr val="198754"/>
                </a:solidFill>
                <a:latin typeface="Arial"/>
              </a:rPr>
              <a:t>سم</a:t>
            </a:r>
            <a:endParaRPr sz="1100" b="1" i="0" dirty="0">
              <a:solidFill>
                <a:srgbClr val="198754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0880" y="4837810"/>
            <a:ext cx="731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1" i="0" dirty="0">
                <a:solidFill>
                  <a:srgbClr val="198754"/>
                </a:solidFill>
                <a:latin typeface="Arial"/>
              </a:rPr>
              <a:t>٨ </a:t>
            </a:r>
            <a:r>
              <a:rPr sz="1100" b="1" i="0" dirty="0" err="1">
                <a:solidFill>
                  <a:srgbClr val="198754"/>
                </a:solidFill>
                <a:latin typeface="Arial"/>
              </a:rPr>
              <a:t>سم</a:t>
            </a:r>
            <a:endParaRPr sz="1100" b="1" i="0" dirty="0">
              <a:solidFill>
                <a:srgbClr val="198754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06640" y="3927461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 dirty="0" smtClean="0">
                <a:solidFill>
                  <a:srgbClr val="CC2222"/>
                </a:solidFill>
                <a:latin typeface="Arial"/>
              </a:rPr>
              <a:t>?</a:t>
            </a:r>
            <a:r>
              <a:rPr lang="ar-SA" sz="1000" b="1" i="0" dirty="0" smtClean="0">
                <a:solidFill>
                  <a:srgbClr val="CC2222"/>
                </a:solidFill>
                <a:latin typeface="Arial"/>
              </a:rPr>
              <a:t> </a:t>
            </a:r>
            <a:r>
              <a:rPr sz="1000" b="1" i="0" dirty="0" err="1" smtClean="0">
                <a:solidFill>
                  <a:srgbClr val="CC2222"/>
                </a:solidFill>
                <a:latin typeface="Arial"/>
              </a:rPr>
              <a:t>وتر</a:t>
            </a:r>
            <a:endParaRPr sz="1000" b="1" i="0" dirty="0">
              <a:solidFill>
                <a:srgbClr val="CC2222"/>
              </a:solidFill>
              <a:latin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320" y="3200400"/>
            <a:ext cx="548640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236976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نطبق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نظرية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فيثاغورس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وتر²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ضل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ع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₁²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+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ضلع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₂²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639312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وتر²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=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٦²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+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٨²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= ٣٦ + ٦٤ = ١٠٠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041648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وتر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√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١٠٠ = ١٠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سم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7472" y="4443984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هذا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المثلث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(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٦-٨-١٠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)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أشهر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المثلثات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القائمة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احفظه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!  ✓</a:t>
            </a:r>
          </a:p>
        </p:txBody>
      </p:sp>
      <p:sp>
        <p:nvSpPr>
          <p:cNvPr id="28" name="مثلث قائم الزاوية 27"/>
          <p:cNvSpPr/>
          <p:nvPr/>
        </p:nvSpPr>
        <p:spPr>
          <a:xfrm>
            <a:off x="6693408" y="3374136"/>
            <a:ext cx="1792224" cy="1435608"/>
          </a:xfrm>
          <a:prstGeom prst="rt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sz="1700" b="1" i="0" dirty="0" smtClean="0">
                <a:solidFill>
                  <a:srgbClr val="FFFFFF"/>
                </a:solidFill>
                <a:latin typeface="Arial"/>
              </a:rPr>
              <a:t>51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مثلث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قاعدته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١٢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وارتفاعه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٩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مساحته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٤٨ سم²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٥٤ سم²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١٠٨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سم²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٦٠ سم²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4795" y="477963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 dirty="0">
                <a:solidFill>
                  <a:srgbClr val="F47E20"/>
                </a:solidFill>
                <a:latin typeface="Arial"/>
              </a:rPr>
              <a:t>← ١٢ </a:t>
            </a:r>
            <a:r>
              <a:rPr sz="1000" b="1" i="0" dirty="0" err="1">
                <a:solidFill>
                  <a:srgbClr val="F47E20"/>
                </a:solidFill>
                <a:latin typeface="Arial"/>
              </a:rPr>
              <a:t>سم</a:t>
            </a:r>
            <a:r>
              <a:rPr sz="1000" b="1" i="0" dirty="0">
                <a:solidFill>
                  <a:srgbClr val="F47E20"/>
                </a:solidFill>
                <a:latin typeface="Arial"/>
              </a:rPr>
              <a:t>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1193" y="394237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 dirty="0">
                <a:solidFill>
                  <a:srgbClr val="F47E20"/>
                </a:solidFill>
                <a:latin typeface="Arial"/>
              </a:rPr>
              <a:t>↕ ٩ </a:t>
            </a:r>
            <a:r>
              <a:rPr sz="1000" b="1" i="0" dirty="0" err="1">
                <a:solidFill>
                  <a:srgbClr val="F47E20"/>
                </a:solidFill>
                <a:latin typeface="Arial"/>
              </a:rPr>
              <a:t>سم</a:t>
            </a:r>
            <a:endParaRPr sz="1000" b="1" i="0" dirty="0">
              <a:solidFill>
                <a:srgbClr val="F47E20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3200400"/>
            <a:ext cx="548640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3236976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نطبق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قانون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مساحة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المثلث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م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½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×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القاعدة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×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الارتفاع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" y="3639312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م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½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×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١٢ × 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859536" y="3640398"/>
            <a:ext cx="53400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= ٦ × ٩ = ٥٤ سم²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939691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أ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٥٤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سم²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✓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5" name="مثلث متساوي الساقين 24"/>
          <p:cNvSpPr/>
          <p:nvPr/>
        </p:nvSpPr>
        <p:spPr>
          <a:xfrm>
            <a:off x="6321278" y="3310128"/>
            <a:ext cx="2027355" cy="1469506"/>
          </a:xfrm>
          <a:prstGeom prst="triangl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المستطيل والمربع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FFC107"/>
                </a:solidFill>
                <a:latin typeface="Arial"/>
              </a:rPr>
              <a:t>27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6C6D6F"/>
                </a:solidFill>
              </a:rPr>
              <a:t>المستطيل: المساحة = الطول × العرض | المحيط = ٢(</a:t>
            </a:r>
            <a:r>
              <a:rPr lang="ar-SA" sz="1400" dirty="0" err="1">
                <a:solidFill>
                  <a:srgbClr val="6C6D6F"/>
                </a:solidFill>
              </a:rPr>
              <a:t>طول+عرض</a:t>
            </a:r>
            <a:r>
              <a:rPr lang="ar-SA" sz="1400" dirty="0">
                <a:solidFill>
                  <a:srgbClr val="6C6D6F"/>
                </a:solidFill>
              </a:rPr>
              <a:t>)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قطر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المستطيل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: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قطر²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=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طول²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+ عرض²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المربع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المساحة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=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الضلع²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|  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المحيط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=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٤ ×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الضلع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قطر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المربع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=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الضلع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×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√٢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sz="1700" b="1" i="0" dirty="0" smtClean="0">
                <a:solidFill>
                  <a:srgbClr val="FFFFFF"/>
                </a:solidFill>
                <a:latin typeface="Arial"/>
              </a:rPr>
              <a:t>52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مستطيل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طوله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١٥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وعرضه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٨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طول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قطره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١٦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١٧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سم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١٨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ج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١٩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3291840"/>
            <a:ext cx="2560320" cy="1371600"/>
          </a:xfrm>
          <a:prstGeom prst="rect">
            <a:avLst/>
          </a:prstGeom>
          <a:solidFill>
            <a:srgbClr val="E8F0FF"/>
          </a:solidFill>
          <a:ln w="190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0" y="46177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>
                <a:solidFill>
                  <a:srgbClr val="0D2B55"/>
                </a:solidFill>
                <a:latin typeface="Arial"/>
              </a:rPr>
              <a:t>← ١٥ سم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794760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>
                <a:solidFill>
                  <a:srgbClr val="0D2B55"/>
                </a:solidFill>
                <a:latin typeface="Arial"/>
              </a:rPr>
              <a:t>↕ ٨ سم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52160" y="3291840"/>
            <a:ext cx="2560320" cy="1371600"/>
          </a:xfrm>
          <a:prstGeom prst="line">
            <a:avLst/>
          </a:prstGeom>
          <a:ln w="19050">
            <a:solidFill>
              <a:srgbClr val="CC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95158" y="380782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1" i="0" dirty="0">
                <a:solidFill>
                  <a:srgbClr val="CC2222"/>
                </a:solidFill>
                <a:latin typeface="Arial"/>
              </a:rPr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00400"/>
            <a:ext cx="548640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236976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القطر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يقسم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المستطيل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إلى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مثلثين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قائمين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نطبق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فيثاغورس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639312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قطر²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=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طول²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+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عرض²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041648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= ١٥² + ٨² = ٢٢٥ + ٦٤ = </a:t>
            </a:r>
            <a:r>
              <a:rPr lang="ar-SA" sz="1200" dirty="0" smtClean="0">
                <a:solidFill>
                  <a:srgbClr val="054040"/>
                </a:solidFill>
              </a:rPr>
              <a:t>٢٨٩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7472" y="4443984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قطر = √٢٨٩ = ١٧ سم </a:t>
            </a:r>
            <a:r>
              <a:rPr lang="ar-SA" sz="1200" dirty="0" smtClean="0">
                <a:solidFill>
                  <a:srgbClr val="054040"/>
                </a:solidFill>
              </a:rPr>
              <a:t> ✓الإجابة</a:t>
            </a:r>
            <a:r>
              <a:rPr lang="ar-SA" sz="1200" dirty="0">
                <a:solidFill>
                  <a:srgbClr val="054040"/>
                </a:solidFill>
              </a:rPr>
              <a:t>: </a:t>
            </a:r>
            <a:r>
              <a:rPr lang="ar-SA" sz="1200" dirty="0" smtClean="0">
                <a:solidFill>
                  <a:srgbClr val="054040"/>
                </a:solidFill>
              </a:rPr>
              <a:t>أ ١7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53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مربع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مساحته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١٤٤ سم²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محيطه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٣٦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٤٠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٤٤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ج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٤٨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سم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3291840"/>
            <a:ext cx="1645920" cy="1645920"/>
          </a:xfrm>
          <a:prstGeom prst="rect">
            <a:avLst/>
          </a:prstGeom>
          <a:solidFill>
            <a:srgbClr val="F0F8E8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0" y="4617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 dirty="0">
                <a:solidFill>
                  <a:srgbClr val="198754"/>
                </a:solidFill>
                <a:latin typeface="Arial"/>
              </a:rPr>
              <a:t>ض = ١٢ </a:t>
            </a:r>
            <a:r>
              <a:rPr sz="1000" b="1" i="0" dirty="0" err="1">
                <a:solidFill>
                  <a:srgbClr val="198754"/>
                </a:solidFill>
                <a:latin typeface="Arial"/>
              </a:rPr>
              <a:t>سم</a:t>
            </a:r>
            <a:endParaRPr sz="1000" b="1" i="0" dirty="0">
              <a:solidFill>
                <a:srgbClr val="198754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55080" y="34518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 dirty="0">
                <a:solidFill>
                  <a:srgbClr val="198754"/>
                </a:solidFill>
                <a:latin typeface="Arial"/>
              </a:rPr>
              <a:t>م = ١٤٤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00400"/>
            <a:ext cx="548640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3236976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١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نجد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طول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الضلع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المساحة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3639312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المساحة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ضلع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²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←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ضلع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= √١٤٤ = ١٢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سم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" y="4041648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٢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—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نحسب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المحيط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4374064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المحيط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٤ ×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الضلع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٤ × ١٢ = ٤٨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سم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 ✓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ج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٤٨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المعين والمتوازي وشبه المنحرف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FFC107"/>
                </a:solidFill>
                <a:latin typeface="Arial"/>
              </a:rPr>
              <a:t>28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>
                <a:solidFill>
                  <a:srgbClr val="6C6D6F"/>
                </a:solidFill>
              </a:rPr>
              <a:t>المعين: مساحة = ½ × القطر الأول × القطر الثاني | محيط = ٤×الضلع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المتوازي: مساحة = القاعدة × الارتفاع | محيط = ٢×(</a:t>
            </a:r>
            <a:r>
              <a:rPr lang="ar-SA" sz="1300" dirty="0" err="1">
                <a:solidFill>
                  <a:srgbClr val="6C6D6F"/>
                </a:solidFill>
              </a:rPr>
              <a:t>ضلع+قاعدة</a:t>
            </a:r>
            <a:r>
              <a:rPr lang="ar-SA" sz="1300" dirty="0">
                <a:solidFill>
                  <a:srgbClr val="6C6D6F"/>
                </a:solidFill>
              </a:rPr>
              <a:t>)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6C6D6F"/>
                </a:solidFill>
              </a:rPr>
              <a:t>شبه </a:t>
            </a:r>
            <a:r>
              <a:rPr lang="ar-SA" sz="1300" dirty="0">
                <a:solidFill>
                  <a:srgbClr val="6C6D6F"/>
                </a:solidFill>
              </a:rPr>
              <a:t>المنحرف: مساحة = ½ × (القاعدة </a:t>
            </a:r>
            <a:r>
              <a:rPr lang="ar-SA" sz="1300" dirty="0" err="1">
                <a:solidFill>
                  <a:srgbClr val="6C6D6F"/>
                </a:solidFill>
              </a:rPr>
              <a:t>الكبرى+القاعدة</a:t>
            </a:r>
            <a:r>
              <a:rPr lang="ar-SA" sz="1300" dirty="0">
                <a:solidFill>
                  <a:srgbClr val="6C6D6F"/>
                </a:solidFill>
              </a:rPr>
              <a:t> الصغرى) × الارتفاع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المحيط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  دائماً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مجموع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جميع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الأضلاع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54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معين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قطراه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١٠ و١٦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مساحته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٦٠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سم²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٧٠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سم²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د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٨٠ سم²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٩٠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سم²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00400"/>
            <a:ext cx="548640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3236976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نطبق قانون مساحة المعين: م = ½ × القطر الأول × القطر الثاني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3639312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م = ½ × ١٠ × ١٦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" y="4041648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= ½ × ١٦٠ = ٨٠ سم²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" y="4443984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د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٨٠ سم²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✓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4" name="مخطط انسيابي: فرز 23"/>
          <p:cNvSpPr/>
          <p:nvPr/>
        </p:nvSpPr>
        <p:spPr>
          <a:xfrm>
            <a:off x="6551023" y="3310797"/>
            <a:ext cx="1267097" cy="1562285"/>
          </a:xfrm>
          <a:prstGeom prst="flowChartSor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cxnSp>
        <p:nvCxnSpPr>
          <p:cNvPr id="26" name="رابط مستقيم 25"/>
          <p:cNvCxnSpPr>
            <a:stCxn id="24" idx="0"/>
            <a:endCxn id="24" idx="2"/>
          </p:cNvCxnSpPr>
          <p:nvPr/>
        </p:nvCxnSpPr>
        <p:spPr>
          <a:xfrm>
            <a:off x="7184572" y="3310797"/>
            <a:ext cx="0" cy="1562285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7" name="TextBox 17"/>
          <p:cNvSpPr txBox="1"/>
          <p:nvPr/>
        </p:nvSpPr>
        <p:spPr>
          <a:xfrm>
            <a:off x="6818808" y="3720969"/>
            <a:ext cx="45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900" b="1" i="0" dirty="0" smtClean="0">
                <a:solidFill>
                  <a:srgbClr val="FF0000"/>
                </a:solidFill>
                <a:latin typeface="Arial"/>
              </a:rPr>
              <a:t>16</a:t>
            </a:r>
            <a:r>
              <a:rPr lang="ar-SA" sz="900" b="1" dirty="0" smtClean="0">
                <a:solidFill>
                  <a:srgbClr val="FF0000"/>
                </a:solidFill>
                <a:latin typeface="Arial"/>
              </a:rPr>
              <a:t>↕</a:t>
            </a:r>
            <a:endParaRPr sz="900" b="1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28" name="مستطيل 27"/>
          <p:cNvSpPr/>
          <p:nvPr/>
        </p:nvSpPr>
        <p:spPr>
          <a:xfrm>
            <a:off x="7199812" y="4110897"/>
            <a:ext cx="420187" cy="138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-SA" sz="800" b="1" dirty="0">
                <a:solidFill>
                  <a:srgbClr val="FF0000"/>
                </a:solidFill>
                <a:latin typeface="Arial"/>
              </a:rPr>
              <a:t>١٠↕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sz="1700" b="1" i="0" dirty="0" smtClean="0">
                <a:solidFill>
                  <a:srgbClr val="FFFFFF"/>
                </a:solidFill>
                <a:latin typeface="Arial"/>
              </a:rPr>
              <a:t>55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شبه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منحرف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 smtClean="0">
                <a:solidFill>
                  <a:srgbClr val="0D2B55"/>
                </a:solidFill>
                <a:latin typeface="Arial"/>
              </a:rPr>
              <a:t>قاعدتاه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>
                <a:solidFill>
                  <a:srgbClr val="0D2B55"/>
                </a:solidFill>
                <a:latin typeface="Arial"/>
              </a:rPr>
              <a:t>٧ و١١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وارتفاعه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٨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مساحته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٦٤ سم²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٧٢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سم²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٨٠ سم²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٥٦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سم²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ight Triangle 16"/>
          <p:cNvSpPr/>
          <p:nvPr/>
        </p:nvSpPr>
        <p:spPr>
          <a:xfrm>
            <a:off x="5852160" y="3246120"/>
            <a:ext cx="2743200" cy="1554480"/>
          </a:xfrm>
          <a:prstGeom prst="rtTriangle">
            <a:avLst/>
          </a:prstGeom>
          <a:solidFill>
            <a:srgbClr val="F0F0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12180" y="368241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 dirty="0">
                <a:solidFill>
                  <a:srgbClr val="6A0DAD"/>
                </a:solidFill>
                <a:latin typeface="Arial"/>
              </a:rPr>
              <a:t>← ١١ </a:t>
            </a:r>
            <a:r>
              <a:rPr sz="900" b="1" i="0" dirty="0" err="1">
                <a:solidFill>
                  <a:srgbClr val="6A0DAD"/>
                </a:solidFill>
                <a:latin typeface="Arial"/>
              </a:rPr>
              <a:t>سم</a:t>
            </a:r>
            <a:r>
              <a:rPr sz="900" b="1" i="0" dirty="0">
                <a:solidFill>
                  <a:srgbClr val="6A0DAD"/>
                </a:solidFill>
                <a:latin typeface="Arial"/>
              </a:rPr>
              <a:t>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56285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 dirty="0">
                <a:solidFill>
                  <a:srgbClr val="6A0DAD"/>
                </a:solidFill>
                <a:latin typeface="Arial"/>
              </a:rPr>
              <a:t>← ٧ </a:t>
            </a:r>
            <a:r>
              <a:rPr sz="900" b="1" i="0" dirty="0" err="1">
                <a:solidFill>
                  <a:srgbClr val="6A0DAD"/>
                </a:solidFill>
                <a:latin typeface="Arial"/>
              </a:rPr>
              <a:t>سم</a:t>
            </a:r>
            <a:r>
              <a:rPr sz="900" b="1" i="0" dirty="0">
                <a:solidFill>
                  <a:srgbClr val="6A0DAD"/>
                </a:solidFill>
                <a:latin typeface="Arial"/>
              </a:rPr>
              <a:t>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90056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>
                <a:solidFill>
                  <a:srgbClr val="6A0DAD"/>
                </a:solidFill>
                <a:latin typeface="Arial"/>
              </a:rPr>
              <a:t>↕٨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00400"/>
            <a:ext cx="548640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3236976"/>
            <a:ext cx="53400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نطبق قانون مساحة شبه المنحرف: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3639312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م = ½ × (القاعدة الكبرى + القاعدة الصغرى) × الارتفاع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7472" y="4041648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= ½ × (١١ + ٧) × ٨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7472" y="4443984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= ½ × ١٨ × ٨ = ٩ × ٨ = ٧٢ سم² ✓ الإجابة: </a:t>
            </a:r>
            <a:r>
              <a:rPr lang="ar-SA" sz="1200" dirty="0" smtClean="0">
                <a:solidFill>
                  <a:srgbClr val="054040"/>
                </a:solidFill>
              </a:rPr>
              <a:t>أ ٧٢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الدائرة وجميع معلوماتها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FFC107"/>
                </a:solidFill>
                <a:latin typeface="Arial"/>
              </a:rPr>
              <a:t>29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محيط الدائرة = ٢ × </a:t>
            </a:r>
            <a:r>
              <a:rPr lang="el-GR" sz="1300" dirty="0" smtClean="0">
                <a:solidFill>
                  <a:srgbClr val="6C6D6F"/>
                </a:solidFill>
              </a:rPr>
              <a:t>π</a:t>
            </a:r>
            <a:r>
              <a:rPr lang="ar-SA" sz="1300" dirty="0" smtClean="0">
                <a:solidFill>
                  <a:srgbClr val="6C6D6F"/>
                </a:solidFill>
              </a:rPr>
              <a:t> </a:t>
            </a:r>
            <a:r>
              <a:rPr lang="el-GR" sz="1300" dirty="0" smtClean="0">
                <a:solidFill>
                  <a:srgbClr val="6C6D6F"/>
                </a:solidFill>
              </a:rPr>
              <a:t> </a:t>
            </a:r>
            <a:r>
              <a:rPr lang="el-GR" sz="1300" dirty="0">
                <a:solidFill>
                  <a:srgbClr val="6C6D6F"/>
                </a:solidFill>
              </a:rPr>
              <a:t>× </a:t>
            </a:r>
            <a:r>
              <a:rPr lang="ar-SA" sz="1300" dirty="0">
                <a:solidFill>
                  <a:srgbClr val="6C6D6F"/>
                </a:solidFill>
              </a:rPr>
              <a:t>نق (نق = نصف القطر)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6C6D6F"/>
                </a:solidFill>
              </a:rPr>
              <a:t>مساحة </a:t>
            </a:r>
            <a:r>
              <a:rPr lang="ar-SA" sz="1300" dirty="0">
                <a:solidFill>
                  <a:srgbClr val="6C6D6F"/>
                </a:solidFill>
              </a:rPr>
              <a:t>الدائرة = </a:t>
            </a:r>
            <a:r>
              <a:rPr lang="el-GR" sz="1300" dirty="0" smtClean="0">
                <a:solidFill>
                  <a:srgbClr val="6C6D6F"/>
                </a:solidFill>
              </a:rPr>
              <a:t>π</a:t>
            </a:r>
            <a:r>
              <a:rPr lang="ar-SA" sz="1300" dirty="0" smtClean="0">
                <a:solidFill>
                  <a:srgbClr val="6C6D6F"/>
                </a:solidFill>
              </a:rPr>
              <a:t> </a:t>
            </a:r>
            <a:r>
              <a:rPr lang="el-GR" sz="1300" dirty="0" smtClean="0">
                <a:solidFill>
                  <a:srgbClr val="6C6D6F"/>
                </a:solidFill>
              </a:rPr>
              <a:t> </a:t>
            </a:r>
            <a:r>
              <a:rPr lang="el-GR" sz="1300" dirty="0">
                <a:solidFill>
                  <a:srgbClr val="6C6D6F"/>
                </a:solidFill>
              </a:rPr>
              <a:t>× </a:t>
            </a:r>
            <a:r>
              <a:rPr lang="ar-SA" sz="1300" dirty="0" smtClean="0">
                <a:solidFill>
                  <a:srgbClr val="6C6D6F"/>
                </a:solidFill>
              </a:rPr>
              <a:t> نق² </a:t>
            </a:r>
            <a:r>
              <a:rPr lang="ar-SA" sz="1300" dirty="0">
                <a:solidFill>
                  <a:srgbClr val="6C6D6F"/>
                </a:solidFill>
              </a:rPr>
              <a:t>(</a:t>
            </a:r>
            <a:r>
              <a:rPr lang="el-GR" sz="1300" dirty="0" smtClean="0">
                <a:solidFill>
                  <a:srgbClr val="6C6D6F"/>
                </a:solidFill>
              </a:rPr>
              <a:t>π</a:t>
            </a:r>
            <a:r>
              <a:rPr lang="ar-SA" sz="1300" dirty="0" smtClean="0">
                <a:solidFill>
                  <a:srgbClr val="6C6D6F"/>
                </a:solidFill>
              </a:rPr>
              <a:t> </a:t>
            </a:r>
            <a:r>
              <a:rPr lang="el-GR" sz="1300" dirty="0" smtClean="0">
                <a:solidFill>
                  <a:srgbClr val="6C6D6F"/>
                </a:solidFill>
              </a:rPr>
              <a:t> </a:t>
            </a:r>
            <a:r>
              <a:rPr lang="el-GR" sz="1300" dirty="0">
                <a:solidFill>
                  <a:srgbClr val="6C6D6F"/>
                </a:solidFill>
              </a:rPr>
              <a:t>≈ ٣.١٤ </a:t>
            </a:r>
            <a:r>
              <a:rPr lang="ar-SA" sz="1300" dirty="0">
                <a:solidFill>
                  <a:srgbClr val="6C6D6F"/>
                </a:solidFill>
              </a:rPr>
              <a:t>أو ٢٢</a:t>
            </a:r>
            <a:r>
              <a:rPr lang="ar-SA" sz="1300" dirty="0" smtClean="0">
                <a:solidFill>
                  <a:srgbClr val="6C6D6F"/>
                </a:solidFill>
              </a:rPr>
              <a:t>/ ٧</a:t>
            </a:r>
            <a:r>
              <a:rPr lang="ar-SA" sz="1300" dirty="0">
                <a:solidFill>
                  <a:srgbClr val="6C6D6F"/>
                </a:solidFill>
              </a:rPr>
              <a:t>)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6C6D6F"/>
                </a:solidFill>
                <a:latin typeface="Arial"/>
              </a:rPr>
              <a:t>القطر</a:t>
            </a:r>
            <a:r>
              <a:rPr sz="1300" b="0" i="0" dirty="0">
                <a:solidFill>
                  <a:srgbClr val="6C6D6F"/>
                </a:solidFill>
                <a:latin typeface="Arial"/>
              </a:rPr>
              <a:t> = ٢ × </a:t>
            </a:r>
            <a:r>
              <a:rPr sz="1300" b="0" i="0" dirty="0" err="1">
                <a:solidFill>
                  <a:srgbClr val="6C6D6F"/>
                </a:solidFill>
                <a:latin typeface="Arial"/>
              </a:rPr>
              <a:t>نصف</a:t>
            </a:r>
            <a:r>
              <a:rPr sz="1300" b="0" i="0" dirty="0">
                <a:solidFill>
                  <a:srgbClr val="6C6D6F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6C6D6F"/>
                </a:solidFill>
                <a:latin typeface="Arial"/>
              </a:rPr>
              <a:t>القطر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مساحة القطاع = (</a:t>
            </a:r>
            <a:r>
              <a:rPr lang="ar-SA" sz="1300" dirty="0" smtClean="0">
                <a:solidFill>
                  <a:srgbClr val="6C6D6F"/>
                </a:solidFill>
              </a:rPr>
              <a:t>الزاوية /</a:t>
            </a:r>
            <a:r>
              <a:rPr lang="ar-SA" sz="1300" dirty="0">
                <a:solidFill>
                  <a:srgbClr val="6C6D6F"/>
                </a:solidFill>
              </a:rPr>
              <a:t>٣٦٠°) × </a:t>
            </a:r>
            <a:r>
              <a:rPr lang="el-GR" sz="1300" dirty="0">
                <a:solidFill>
                  <a:srgbClr val="6C6D6F"/>
                </a:solidFill>
              </a:rPr>
              <a:t>π </a:t>
            </a:r>
            <a:r>
              <a:rPr lang="ar-SA" sz="1300" dirty="0" smtClean="0">
                <a:solidFill>
                  <a:srgbClr val="6C6D6F"/>
                </a:solidFill>
              </a:rPr>
              <a:t> </a:t>
            </a:r>
            <a:r>
              <a:rPr lang="el-GR" sz="1300" dirty="0" smtClean="0">
                <a:solidFill>
                  <a:srgbClr val="6C6D6F"/>
                </a:solidFill>
              </a:rPr>
              <a:t>×</a:t>
            </a:r>
            <a:r>
              <a:rPr lang="ar-SA" sz="1300" dirty="0" smtClean="0">
                <a:solidFill>
                  <a:srgbClr val="6C6D6F"/>
                </a:solidFill>
              </a:rPr>
              <a:t> </a:t>
            </a:r>
            <a:r>
              <a:rPr lang="el-GR" sz="1300" dirty="0" smtClean="0">
                <a:solidFill>
                  <a:srgbClr val="6C6D6F"/>
                </a:solidFill>
              </a:rPr>
              <a:t> </a:t>
            </a:r>
            <a:r>
              <a:rPr lang="ar-SA" sz="1300" dirty="0">
                <a:solidFill>
                  <a:srgbClr val="6C6D6F"/>
                </a:solidFill>
              </a:rPr>
              <a:t>نق²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055364"/>
            <a:ext cx="4096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 dirty="0" err="1">
                <a:solidFill>
                  <a:srgbClr val="FFC107"/>
                </a:solidFill>
                <a:latin typeface="Arial"/>
              </a:rPr>
              <a:t>محيط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smtClean="0">
                <a:solidFill>
                  <a:srgbClr val="FFC107"/>
                </a:solidFill>
                <a:latin typeface="Arial"/>
              </a:rPr>
              <a:t>=</a:t>
            </a:r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  2</a:t>
            </a:r>
            <a:r>
              <a:rPr lang="el-GR" sz="1200" b="1" dirty="0" smtClean="0">
                <a:solidFill>
                  <a:srgbClr val="FFC107"/>
                </a:solidFill>
                <a:latin typeface="Arial"/>
              </a:rPr>
              <a:t>π </a:t>
            </a:r>
            <a:r>
              <a:rPr lang="ar-SA" sz="1200" b="1" dirty="0" smtClean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ن</a:t>
            </a:r>
            <a:r>
              <a:rPr lang="ar-SA" sz="1200" b="1" dirty="0" smtClean="0">
                <a:solidFill>
                  <a:srgbClr val="FFC107"/>
                </a:solidFill>
                <a:latin typeface="Arial"/>
              </a:rPr>
              <a:t>ق²</a:t>
            </a:r>
            <a:endParaRPr lang="ar-SA" sz="1200" b="1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55364"/>
            <a:ext cx="40965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 dirty="0" err="1">
                <a:solidFill>
                  <a:srgbClr val="FFC107"/>
                </a:solidFill>
                <a:latin typeface="Arial"/>
              </a:rPr>
              <a:t>مساحة</a:t>
            </a:r>
            <a:r>
              <a:rPr sz="1200" b="1" i="0" dirty="0">
                <a:solidFill>
                  <a:srgbClr val="FFC107"/>
                </a:solidFill>
                <a:latin typeface="Arial"/>
              </a:rPr>
              <a:t> = </a:t>
            </a:r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 </a:t>
            </a:r>
            <a:r>
              <a:rPr sz="1200" b="1" i="0" dirty="0" smtClean="0">
                <a:solidFill>
                  <a:srgbClr val="FFC107"/>
                </a:solidFill>
                <a:latin typeface="Arial"/>
              </a:rPr>
              <a:t>π</a:t>
            </a:r>
            <a:r>
              <a:rPr lang="ar-SA" sz="1200" b="1" i="0" dirty="0" smtClean="0">
                <a:solidFill>
                  <a:srgbClr val="FFC107"/>
                </a:solidFill>
                <a:latin typeface="Arial"/>
              </a:rPr>
              <a:t> نق</a:t>
            </a:r>
            <a:r>
              <a:rPr sz="1200" b="1" i="0" dirty="0" smtClean="0">
                <a:solidFill>
                  <a:srgbClr val="FFC107"/>
                </a:solidFill>
                <a:latin typeface="Arial"/>
              </a:rPr>
              <a:t>²</a:t>
            </a:r>
            <a:endParaRPr sz="1200" b="1" i="0" dirty="0">
              <a:solidFill>
                <a:srgbClr val="FFC107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56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 smtClean="0">
                <a:solidFill>
                  <a:srgbClr val="0D2B55"/>
                </a:solidFill>
              </a:rPr>
              <a:t>دائرة </a:t>
            </a:r>
            <a:r>
              <a:rPr lang="ar-SA" dirty="0">
                <a:solidFill>
                  <a:srgbClr val="0D2B55"/>
                </a:solidFill>
              </a:rPr>
              <a:t>قطرها ١٤ سم. ما محيطها؟ (</a:t>
            </a:r>
            <a:r>
              <a:rPr lang="el-GR" dirty="0" smtClean="0">
                <a:solidFill>
                  <a:srgbClr val="0D2B55"/>
                </a:solidFill>
              </a:rPr>
              <a:t>π</a:t>
            </a:r>
            <a:r>
              <a:rPr lang="ar-SA" dirty="0" smtClean="0">
                <a:solidFill>
                  <a:srgbClr val="0D2B55"/>
                </a:solidFill>
              </a:rPr>
              <a:t> </a:t>
            </a:r>
            <a:r>
              <a:rPr lang="el-GR" dirty="0" smtClean="0">
                <a:solidFill>
                  <a:srgbClr val="0D2B55"/>
                </a:solidFill>
              </a:rPr>
              <a:t>=٢٢/٧</a:t>
            </a:r>
            <a:r>
              <a:rPr lang="ar-SA" dirty="0" smtClean="0">
                <a:solidFill>
                  <a:srgbClr val="0D2B55"/>
                </a:solidFill>
              </a:rPr>
              <a:t>)</a:t>
            </a:r>
            <a:endParaRPr sz="1600" b="0" i="0" dirty="0">
              <a:solidFill>
                <a:srgbClr val="0D2B55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٤٢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</a:t>
            </a:r>
            <a:r>
              <a:rPr lang="ar-SA" sz="13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٤٤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سم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٤٦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٤٨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Oval 16"/>
          <p:cNvSpPr/>
          <p:nvPr/>
        </p:nvSpPr>
        <p:spPr>
          <a:xfrm>
            <a:off x="6812279" y="3291839"/>
            <a:ext cx="1371600" cy="1371600"/>
          </a:xfrm>
          <a:prstGeom prst="ellipse">
            <a:avLst/>
          </a:prstGeom>
          <a:solidFill>
            <a:srgbClr val="E0F5FF"/>
          </a:solidFill>
          <a:ln w="254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7498079" y="3977639"/>
            <a:ext cx="685800" cy="0"/>
          </a:xfrm>
          <a:prstGeom prst="line">
            <a:avLst/>
          </a:prstGeom>
          <a:ln w="19050">
            <a:solidFill>
              <a:srgbClr val="CC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79" y="4160520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900" b="1" i="0" dirty="0" smtClean="0">
                <a:solidFill>
                  <a:srgbClr val="CC2222"/>
                </a:solidFill>
                <a:latin typeface="Arial"/>
              </a:rPr>
              <a:t>نق</a:t>
            </a:r>
            <a:r>
              <a:rPr sz="900" b="1" i="0" dirty="0" smtClean="0">
                <a:solidFill>
                  <a:srgbClr val="CC2222"/>
                </a:solidFill>
                <a:latin typeface="Arial"/>
              </a:rPr>
              <a:t> </a:t>
            </a:r>
            <a:r>
              <a:rPr sz="900" b="1" i="0" dirty="0">
                <a:solidFill>
                  <a:srgbClr val="CC2222"/>
                </a:solidFill>
                <a:latin typeface="Arial"/>
              </a:rPr>
              <a:t>= 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336499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 dirty="0" err="1">
                <a:solidFill>
                  <a:srgbClr val="008B8B"/>
                </a:solidFill>
                <a:latin typeface="Arial"/>
              </a:rPr>
              <a:t>قطر</a:t>
            </a:r>
            <a:r>
              <a:rPr sz="900" b="1" i="0" dirty="0">
                <a:solidFill>
                  <a:srgbClr val="008B8B"/>
                </a:solidFill>
                <a:latin typeface="Arial"/>
              </a:rPr>
              <a:t> = ١٤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00400"/>
            <a:ext cx="548640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7472" y="3236976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١ —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نجد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نصف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القطر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نق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= ١٤ ÷ ٢ = ٧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سم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" y="3639312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الخطوة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٢ —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نحسب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المحيط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م = ٢ × π ×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نق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7472" y="4041648"/>
            <a:ext cx="53400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= ٢ × ٢٢/٧ × 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340721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= ٢ × ٢٢ = ٤٤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سم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 ✓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أ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٤٤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57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 smtClean="0">
                <a:solidFill>
                  <a:srgbClr val="0D2B55"/>
                </a:solidFill>
              </a:rPr>
              <a:t>دائرة </a:t>
            </a:r>
            <a:r>
              <a:rPr lang="ar-SA" dirty="0">
                <a:solidFill>
                  <a:srgbClr val="0D2B55"/>
                </a:solidFill>
              </a:rPr>
              <a:t>مساحتها ١٥٤ سم². ما قطرها؟ </a:t>
            </a:r>
            <a:r>
              <a:rPr lang="ar-SA" dirty="0" smtClean="0">
                <a:solidFill>
                  <a:srgbClr val="0D2B55"/>
                </a:solidFill>
              </a:rPr>
              <a:t>(</a:t>
            </a:r>
            <a:r>
              <a:rPr lang="el-GR" dirty="0" smtClean="0">
                <a:solidFill>
                  <a:srgbClr val="0D2B55"/>
                </a:solidFill>
              </a:rPr>
              <a:t>π</a:t>
            </a:r>
            <a:r>
              <a:rPr lang="ar-SA" dirty="0">
                <a:solidFill>
                  <a:srgbClr val="0D2B55"/>
                </a:solidFill>
              </a:rPr>
              <a:t> </a:t>
            </a:r>
            <a:r>
              <a:rPr lang="el-GR" dirty="0" smtClean="0">
                <a:solidFill>
                  <a:srgbClr val="0D2B55"/>
                </a:solidFill>
              </a:rPr>
              <a:t>=٢</a:t>
            </a:r>
            <a:r>
              <a:rPr lang="ar-SA" dirty="0" smtClean="0">
                <a:solidFill>
                  <a:srgbClr val="0D2B55"/>
                </a:solidFill>
              </a:rPr>
              <a:t>2</a:t>
            </a:r>
            <a:r>
              <a:rPr lang="el-GR" dirty="0" smtClean="0">
                <a:solidFill>
                  <a:srgbClr val="0D2B55"/>
                </a:solidFill>
              </a:rPr>
              <a:t>/٧</a:t>
            </a:r>
            <a:r>
              <a:rPr lang="ar-SA" dirty="0" smtClean="0">
                <a:solidFill>
                  <a:srgbClr val="0D2B55"/>
                </a:solidFill>
              </a:rPr>
              <a:t>)</a:t>
            </a:r>
            <a:endParaRPr sz="1600" b="0" i="0" dirty="0">
              <a:solidFill>
                <a:srgbClr val="0D2B55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١٢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١٤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سم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١٦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١٨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سم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Oval 16"/>
          <p:cNvSpPr/>
          <p:nvPr/>
        </p:nvSpPr>
        <p:spPr>
          <a:xfrm>
            <a:off x="6812279" y="3291839"/>
            <a:ext cx="1371600" cy="1371600"/>
          </a:xfrm>
          <a:prstGeom prst="ellipse">
            <a:avLst/>
          </a:prstGeom>
          <a:solidFill>
            <a:srgbClr val="E8FFE8"/>
          </a:solidFill>
          <a:ln w="2540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0" y="3840480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 dirty="0">
                <a:solidFill>
                  <a:srgbClr val="198754"/>
                </a:solidFill>
                <a:latin typeface="Arial"/>
              </a:rPr>
              <a:t>م </a:t>
            </a:r>
            <a:r>
              <a:rPr sz="1000" b="1" i="0" dirty="0" smtClean="0">
                <a:solidFill>
                  <a:srgbClr val="198754"/>
                </a:solidFill>
                <a:latin typeface="Arial"/>
              </a:rPr>
              <a:t>= π</a:t>
            </a:r>
            <a:r>
              <a:rPr lang="ar-SA" sz="1000" b="1" i="0" dirty="0" smtClean="0">
                <a:solidFill>
                  <a:srgbClr val="198754"/>
                </a:solidFill>
                <a:latin typeface="Arial"/>
              </a:rPr>
              <a:t>نق</a:t>
            </a:r>
            <a:r>
              <a:rPr sz="1000" b="1" i="0" dirty="0" smtClean="0">
                <a:solidFill>
                  <a:srgbClr val="198754"/>
                </a:solidFill>
                <a:latin typeface="Arial"/>
              </a:rPr>
              <a:t>²</a:t>
            </a:r>
            <a:endParaRPr sz="1000" b="1" i="0" dirty="0">
              <a:solidFill>
                <a:srgbClr val="198754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95160" y="40638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0" i="0" dirty="0">
                <a:solidFill>
                  <a:srgbClr val="444444"/>
                </a:solidFill>
                <a:latin typeface="Arial"/>
              </a:rPr>
              <a:t>= ١٥٤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00400"/>
            <a:ext cx="548640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" y="3236976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</a:rPr>
              <a:t>نطبق </a:t>
            </a:r>
            <a:r>
              <a:rPr lang="ar-SA" sz="1200" dirty="0">
                <a:solidFill>
                  <a:srgbClr val="054040"/>
                </a:solidFill>
              </a:rPr>
              <a:t>قانون المساحة: م = </a:t>
            </a:r>
            <a:r>
              <a:rPr lang="el-GR" sz="1200" dirty="0">
                <a:solidFill>
                  <a:srgbClr val="054040"/>
                </a:solidFill>
              </a:rPr>
              <a:t>π</a:t>
            </a:r>
            <a:r>
              <a:rPr lang="ar-SA" sz="1200" dirty="0" smtClean="0">
                <a:solidFill>
                  <a:srgbClr val="054040"/>
                </a:solidFill>
              </a:rPr>
              <a:t> </a:t>
            </a:r>
            <a:r>
              <a:rPr lang="ar-SA" sz="1200" dirty="0">
                <a:solidFill>
                  <a:srgbClr val="054040"/>
                </a:solidFill>
              </a:rPr>
              <a:t>× </a:t>
            </a:r>
            <a:r>
              <a:rPr lang="ar-SA" sz="1200" dirty="0" smtClean="0">
                <a:solidFill>
                  <a:srgbClr val="054040"/>
                </a:solidFill>
              </a:rPr>
              <a:t>نق² </a:t>
            </a:r>
            <a:r>
              <a:rPr lang="ar-SA" sz="1200" dirty="0">
                <a:solidFill>
                  <a:srgbClr val="054040"/>
                </a:solidFill>
              </a:rPr>
              <a:t>← نعوض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" y="3639312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smtClean="0">
                <a:solidFill>
                  <a:srgbClr val="054040"/>
                </a:solidFill>
                <a:latin typeface="Arial"/>
              </a:rPr>
              <a:t>١٥٤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=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٢٢/٧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×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نق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²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" y="4041648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</a:rPr>
              <a:t>نق² </a:t>
            </a:r>
            <a:r>
              <a:rPr lang="ar-SA" sz="1200" dirty="0">
                <a:solidFill>
                  <a:srgbClr val="054040"/>
                </a:solidFill>
              </a:rPr>
              <a:t>= ١٥٤ × ٧ ÷ ٢٢ = ١٠٧٨ ÷ ٢٢ = ٤٩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7472" y="4443984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نق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=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√٤٩=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٧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سم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 ←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القطر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٢ × ٧ = ١٤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سم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 ✓</a:t>
            </a:r>
          </a:p>
        </p:txBody>
      </p:sp>
      <p:sp>
        <p:nvSpPr>
          <p:cNvPr id="25" name="TextBox 17"/>
          <p:cNvSpPr txBox="1"/>
          <p:nvPr/>
        </p:nvSpPr>
        <p:spPr>
          <a:xfrm>
            <a:off x="8001000" y="4577237"/>
            <a:ext cx="1097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1000" b="1" i="0" dirty="0" smtClean="0">
                <a:solidFill>
                  <a:srgbClr val="198754"/>
                </a:solidFill>
                <a:latin typeface="Arial"/>
              </a:rPr>
              <a:t>م رمز المساحة</a:t>
            </a:r>
          </a:p>
          <a:p>
            <a:pPr algn="ctr" rtl="1"/>
            <a:r>
              <a:rPr lang="ar-SA" sz="1000" b="1" dirty="0" smtClean="0">
                <a:solidFill>
                  <a:srgbClr val="198754"/>
                </a:solidFill>
                <a:latin typeface="Arial"/>
              </a:rPr>
              <a:t>نق رمز نصف القطر</a:t>
            </a:r>
            <a:endParaRPr sz="1000" b="1" i="0" dirty="0">
              <a:solidFill>
                <a:srgbClr val="198754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التوازي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FFC107"/>
                </a:solidFill>
                <a:latin typeface="Arial"/>
              </a:rPr>
              <a:t>30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>
                <a:solidFill>
                  <a:srgbClr val="FFFFFF"/>
                </a:solidFill>
                <a:latin typeface="Arial"/>
              </a:rPr>
              <a:t>📌  الشرح والقواعد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32643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6C6D6F"/>
                </a:solidFill>
              </a:rPr>
              <a:t>عند قطع </a:t>
            </a:r>
            <a:r>
              <a:rPr lang="ar-SA" sz="1300" dirty="0">
                <a:solidFill>
                  <a:srgbClr val="6C6D6F"/>
                </a:solidFill>
              </a:rPr>
              <a:t>مستقيمَين متوازيَين بقاطع تنتج زوايا: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7472" y="169186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وضع التبادل: الزاويتان متساويتان (على جانبَين مختلفَين من القاطع)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" y="2011680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>
                <a:solidFill>
                  <a:srgbClr val="6C6D6F"/>
                </a:solidFill>
              </a:rPr>
              <a:t>وضع التناظر: الزاويتان متساويتان (على نفس الجانب، فوق وتحت)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6C6D6F"/>
                </a:solidFill>
              </a:rPr>
              <a:t>وضع </a:t>
            </a:r>
            <a:r>
              <a:rPr lang="ar-SA" sz="1300" dirty="0">
                <a:solidFill>
                  <a:srgbClr val="6C6D6F"/>
                </a:solidFill>
              </a:rPr>
              <a:t>التحالف (المتكاملتان): مجموعهما = ١٨٠°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055364"/>
            <a:ext cx="4096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C107"/>
                </a:solidFill>
                <a:latin typeface="Arial"/>
              </a:rPr>
              <a:t>تبادل وتناظر:
متساويتان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753612"/>
            <a:ext cx="4187952" cy="129844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3753612"/>
            <a:ext cx="4187952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771900"/>
            <a:ext cx="409651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 i="0">
                <a:solidFill>
                  <a:srgbClr val="FFFFFF"/>
                </a:solidFill>
                <a:latin typeface="Arial"/>
              </a:rPr>
              <a:t>⚡ قانون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55364"/>
            <a:ext cx="40965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C107"/>
                </a:solidFill>
                <a:latin typeface="Arial"/>
              </a:rPr>
              <a:t>تحالف:
مجموعهما = ١٨٠°</a:t>
            </a:r>
          </a:p>
        </p:txBody>
      </p:sp>
      <p:cxnSp>
        <p:nvCxnSpPr>
          <p:cNvPr id="21" name="رابط مستقيم 20"/>
          <p:cNvCxnSpPr/>
          <p:nvPr/>
        </p:nvCxnSpPr>
        <p:spPr>
          <a:xfrm>
            <a:off x="2129246" y="1443446"/>
            <a:ext cx="71192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رابط مستقيم 22"/>
          <p:cNvCxnSpPr/>
          <p:nvPr/>
        </p:nvCxnSpPr>
        <p:spPr>
          <a:xfrm flipH="1">
            <a:off x="2129246" y="1443446"/>
            <a:ext cx="711925" cy="4376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رابط مستقيم 27"/>
          <p:cNvCxnSpPr/>
          <p:nvPr/>
        </p:nvCxnSpPr>
        <p:spPr>
          <a:xfrm flipV="1">
            <a:off x="2129246" y="1861024"/>
            <a:ext cx="836023" cy="200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مستطيل 31"/>
          <p:cNvSpPr/>
          <p:nvPr/>
        </p:nvSpPr>
        <p:spPr>
          <a:xfrm>
            <a:off x="2655776" y="1461355"/>
            <a:ext cx="45719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AE" sz="700" dirty="0" smtClean="0">
                <a:solidFill>
                  <a:srgbClr val="FF0000"/>
                </a:solidFill>
              </a:rPr>
              <a:t>x</a:t>
            </a:r>
            <a:endParaRPr lang="ar-SA" sz="1600" dirty="0">
              <a:solidFill>
                <a:srgbClr val="FF0000"/>
              </a:solidFill>
            </a:endParaRPr>
          </a:p>
        </p:txBody>
      </p:sp>
      <p:sp>
        <p:nvSpPr>
          <p:cNvPr id="33" name="مستطيل 32"/>
          <p:cNvSpPr/>
          <p:nvPr/>
        </p:nvSpPr>
        <p:spPr>
          <a:xfrm>
            <a:off x="2250964" y="1809973"/>
            <a:ext cx="45719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AE" sz="700" dirty="0" smtClean="0">
                <a:solidFill>
                  <a:srgbClr val="FF0000"/>
                </a:solidFill>
              </a:rPr>
              <a:t>x</a:t>
            </a:r>
            <a:endParaRPr lang="ar-SA" sz="1600" dirty="0">
              <a:solidFill>
                <a:srgbClr val="FF0000"/>
              </a:solidFill>
            </a:endParaRPr>
          </a:p>
        </p:txBody>
      </p:sp>
      <p:sp>
        <p:nvSpPr>
          <p:cNvPr id="34" name="مستطيل 33"/>
          <p:cNvSpPr/>
          <p:nvPr/>
        </p:nvSpPr>
        <p:spPr>
          <a:xfrm>
            <a:off x="1354570" y="1518000"/>
            <a:ext cx="635000" cy="2808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smtClean="0">
                <a:solidFill>
                  <a:srgbClr val="FF0000"/>
                </a:solidFill>
              </a:rPr>
              <a:t>تبادل</a:t>
            </a:r>
            <a:endParaRPr lang="ar-SA" dirty="0">
              <a:solidFill>
                <a:srgbClr val="FF0000"/>
              </a:solidFill>
            </a:endParaRPr>
          </a:p>
        </p:txBody>
      </p:sp>
      <p:cxnSp>
        <p:nvCxnSpPr>
          <p:cNvPr id="36" name="رابط مستقيم 35"/>
          <p:cNvCxnSpPr/>
          <p:nvPr/>
        </p:nvCxnSpPr>
        <p:spPr>
          <a:xfrm flipH="1">
            <a:off x="3816350" y="1676639"/>
            <a:ext cx="4127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رابط مستقيم 37"/>
          <p:cNvCxnSpPr/>
          <p:nvPr/>
        </p:nvCxnSpPr>
        <p:spPr>
          <a:xfrm>
            <a:off x="3816350" y="1320993"/>
            <a:ext cx="0" cy="768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رابط مستقيم 44"/>
          <p:cNvCxnSpPr/>
          <p:nvPr/>
        </p:nvCxnSpPr>
        <p:spPr>
          <a:xfrm flipH="1">
            <a:off x="3816350" y="1332882"/>
            <a:ext cx="4127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مستطيل 45"/>
          <p:cNvSpPr/>
          <p:nvPr/>
        </p:nvSpPr>
        <p:spPr>
          <a:xfrm>
            <a:off x="3870214" y="1372901"/>
            <a:ext cx="45719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AE" sz="800" dirty="0" smtClean="0">
                <a:solidFill>
                  <a:srgbClr val="FF0000"/>
                </a:solidFill>
              </a:rPr>
              <a:t>x</a:t>
            </a:r>
            <a:endParaRPr lang="ar-SA" sz="1600" dirty="0">
              <a:solidFill>
                <a:srgbClr val="FF0000"/>
              </a:solidFill>
            </a:endParaRPr>
          </a:p>
        </p:txBody>
      </p:sp>
      <p:sp>
        <p:nvSpPr>
          <p:cNvPr id="47" name="مستطيل 46"/>
          <p:cNvSpPr/>
          <p:nvPr/>
        </p:nvSpPr>
        <p:spPr>
          <a:xfrm>
            <a:off x="3854227" y="1734604"/>
            <a:ext cx="45719" cy="45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AE" sz="800" dirty="0" smtClean="0">
                <a:solidFill>
                  <a:srgbClr val="FF0000"/>
                </a:solidFill>
              </a:rPr>
              <a:t>x</a:t>
            </a:r>
            <a:endParaRPr lang="ar-SA" sz="800" dirty="0">
              <a:solidFill>
                <a:srgbClr val="FF0000"/>
              </a:solidFill>
            </a:endParaRPr>
          </a:p>
        </p:txBody>
      </p:sp>
      <p:sp>
        <p:nvSpPr>
          <p:cNvPr id="48" name="مستطيل 47"/>
          <p:cNvSpPr/>
          <p:nvPr/>
        </p:nvSpPr>
        <p:spPr>
          <a:xfrm>
            <a:off x="3181350" y="1518000"/>
            <a:ext cx="635000" cy="2808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dirty="0" smtClean="0">
                <a:solidFill>
                  <a:srgbClr val="FF0000"/>
                </a:solidFill>
              </a:rPr>
              <a:t>تناظر</a:t>
            </a:r>
            <a:endParaRPr lang="ar-SA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58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81881"/>
            <a:ext cx="8321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 dirty="0" err="1">
                <a:solidFill>
                  <a:srgbClr val="0D2B55"/>
                </a:solidFill>
                <a:latin typeface="Arial"/>
              </a:rPr>
              <a:t>مستقيمان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متوازيان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قطعهما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قاطع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إحدى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الزوايا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smtClean="0">
                <a:solidFill>
                  <a:srgbClr val="0D2B55"/>
                </a:solidFill>
                <a:latin typeface="Arial"/>
              </a:rPr>
              <a:t>٦٥°</a:t>
            </a:r>
            <a:r>
              <a:rPr lang="ar-SA" sz="16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الزاوية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المتحالفة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0D2B55"/>
                </a:solidFill>
                <a:latin typeface="Arial"/>
              </a:rPr>
              <a:t>معها</a:t>
            </a:r>
            <a:r>
              <a:rPr sz="1600"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59" y="155448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٦٥°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>
                <a:solidFill>
                  <a:srgbClr val="FFFFFF"/>
                </a:solidFill>
                <a:latin typeface="Arial"/>
              </a:rPr>
              <a:t>✅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أ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١١٥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٩٠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٢٩٥°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</a:rPr>
              <a:t>الزوايا </a:t>
            </a:r>
            <a:r>
              <a:rPr lang="ar-SA" sz="1200" dirty="0">
                <a:solidFill>
                  <a:srgbClr val="054040"/>
                </a:solidFill>
              </a:rPr>
              <a:t>المتحالفة تقع على نفس جانب القاطع — مجموعها ١٨٠°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نطبق:  الزاوية المتحالفة = ١٨٠° − ٦٥°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21" y="3918857"/>
            <a:ext cx="8449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= ١١٥°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4175768"/>
            <a:ext cx="8449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تذكر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تبادل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وتناظر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متساويتان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،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تحالف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مجموعهما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١٨٠°  ✓</a:t>
            </a:r>
          </a:p>
        </p:txBody>
      </p:sp>
      <p:cxnSp>
        <p:nvCxnSpPr>
          <p:cNvPr id="25" name="رابط مستقيم 24"/>
          <p:cNvCxnSpPr/>
          <p:nvPr/>
        </p:nvCxnSpPr>
        <p:spPr>
          <a:xfrm flipH="1">
            <a:off x="2240279" y="1188720"/>
            <a:ext cx="9405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رابط مستقيم 29"/>
          <p:cNvCxnSpPr/>
          <p:nvPr/>
        </p:nvCxnSpPr>
        <p:spPr>
          <a:xfrm flipV="1">
            <a:off x="2240279" y="718457"/>
            <a:ext cx="0" cy="470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رابط مستقيم 34"/>
          <p:cNvCxnSpPr/>
          <p:nvPr/>
        </p:nvCxnSpPr>
        <p:spPr>
          <a:xfrm flipH="1" flipV="1">
            <a:off x="3174274" y="747847"/>
            <a:ext cx="6531" cy="4408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مستطيل 41"/>
          <p:cNvSpPr/>
          <p:nvPr/>
        </p:nvSpPr>
        <p:spPr>
          <a:xfrm>
            <a:off x="2901260" y="1069054"/>
            <a:ext cx="351392" cy="731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 smtClean="0">
                <a:solidFill>
                  <a:srgbClr val="FF0000"/>
                </a:solidFill>
              </a:rPr>
              <a:t>65</a:t>
            </a:r>
            <a:endParaRPr lang="ar-SA" sz="1100" dirty="0">
              <a:solidFill>
                <a:srgbClr val="FF0000"/>
              </a:solidFill>
            </a:endParaRPr>
          </a:p>
        </p:txBody>
      </p:sp>
      <p:sp>
        <p:nvSpPr>
          <p:cNvPr id="43" name="مستطيل 42"/>
          <p:cNvSpPr/>
          <p:nvPr/>
        </p:nvSpPr>
        <p:spPr>
          <a:xfrm>
            <a:off x="2180189" y="1078198"/>
            <a:ext cx="351392" cy="731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1100" dirty="0" smtClean="0">
                <a:solidFill>
                  <a:srgbClr val="FF0000"/>
                </a:solidFill>
              </a:rPr>
              <a:t>؟</a:t>
            </a:r>
            <a:endParaRPr lang="ar-SA" sz="11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sz="1700" b="1" i="0" dirty="0" smtClean="0">
                <a:solidFill>
                  <a:srgbClr val="FFFFFF"/>
                </a:solidFill>
                <a:latin typeface="Arial"/>
              </a:rPr>
              <a:t>59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 dirty="0" err="1">
                <a:solidFill>
                  <a:srgbClr val="0D2B55"/>
                </a:solidFill>
                <a:latin typeface="Arial"/>
              </a:rPr>
              <a:t>زاوية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D2B55"/>
                </a:solidFill>
                <a:latin typeface="Arial"/>
              </a:rPr>
              <a:t>التبادل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D2B55"/>
                </a:solidFill>
                <a:latin typeface="Arial"/>
              </a:rPr>
              <a:t>للزاوية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0D2B55"/>
                </a:solidFill>
                <a:latin typeface="Arial"/>
              </a:rPr>
              <a:t>٧٠°</a:t>
            </a:r>
            <a:r>
              <a:rPr lang="ar-SA" sz="15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sz="1500" b="0" i="0" dirty="0" err="1">
                <a:solidFill>
                  <a:srgbClr val="0D2B55"/>
                </a:solidFill>
                <a:latin typeface="Arial"/>
              </a:rPr>
              <a:t>تساوي</a:t>
            </a:r>
            <a:r>
              <a:rPr sz="1500" b="0" i="0" dirty="0">
                <a:solidFill>
                  <a:srgbClr val="0D2B55"/>
                </a:solidFill>
                <a:latin typeface="Arial"/>
              </a:rPr>
              <a:t>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١١٠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°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أ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٧٠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٩٠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ج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٣٥°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859536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3236976"/>
            <a:ext cx="8449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زوايا التبادل تقع على جانبين مختلفين من القاطع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639312"/>
            <a:ext cx="84490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قاعدة ثابتة: زوايا التبادل متساوية دائماً مع المتوازيين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041648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>
                <a:solidFill>
                  <a:srgbClr val="054040"/>
                </a:solidFill>
              </a:rPr>
              <a:t>إذاً الزاوية = ٧٠° (نفس الزاوية الأصلية)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7472" y="4443984"/>
            <a:ext cx="84490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أ✓</a:t>
            </a:r>
            <a:r>
              <a:rPr lang="ar-SA" sz="120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٧٠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°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500" b="1" i="0">
                <a:solidFill>
                  <a:srgbClr val="FFFFFF"/>
                </a:solidFill>
                <a:latin typeface="Arial"/>
              </a:rPr>
              <a:t>الأشكال ثلاثية الأبعاد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"/>
            <a:ext cx="87782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300" b="0" i="0" dirty="0" err="1">
                <a:solidFill>
                  <a:srgbClr val="FFC107"/>
                </a:solidFill>
                <a:latin typeface="Arial"/>
              </a:rPr>
              <a:t>الموضوع</a:t>
            </a:r>
            <a:r>
              <a:rPr sz="1300" b="0" i="0" dirty="0">
                <a:solidFill>
                  <a:srgbClr val="FFC107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FFC107"/>
                </a:solidFill>
                <a:latin typeface="Arial"/>
              </a:rPr>
              <a:t>31</a:t>
            </a:r>
            <a:endParaRPr sz="1300" b="0" i="0" dirty="0">
              <a:solidFill>
                <a:srgbClr val="FFC107"/>
              </a:solidFill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859536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>
                <a:solidFill>
                  <a:srgbClr val="FFFFFF"/>
                </a:solidFill>
                <a:latin typeface="Arial"/>
              </a:rPr>
              <a:t>📌 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الشرح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Arial"/>
              </a:rPr>
              <a:t>والقواعد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1335024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المكعب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الحجم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الضلع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³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|  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مساحة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السطح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الكلية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= ٦ ×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الضلع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²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673352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متوازي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المستطيلات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: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الحجم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=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طول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×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عرض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 × </a:t>
            </a:r>
            <a:r>
              <a:rPr sz="1300" b="0" i="0" dirty="0" err="1">
                <a:solidFill>
                  <a:srgbClr val="444444"/>
                </a:solidFill>
                <a:latin typeface="Arial"/>
              </a:rPr>
              <a:t>ارتفاع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8412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400" dirty="0" smtClean="0">
                <a:solidFill>
                  <a:srgbClr val="6C6D6F"/>
                </a:solidFill>
              </a:rPr>
              <a:t>الأسطوانة</a:t>
            </a:r>
            <a:r>
              <a:rPr lang="ar-SA" sz="1400" dirty="0">
                <a:solidFill>
                  <a:srgbClr val="6C6D6F"/>
                </a:solidFill>
              </a:rPr>
              <a:t>: الحجم = </a:t>
            </a:r>
            <a:r>
              <a:rPr lang="ar-SA" sz="1400" dirty="0" smtClean="0">
                <a:solidFill>
                  <a:srgbClr val="6C6D6F"/>
                </a:solidFill>
              </a:rPr>
              <a:t> </a:t>
            </a:r>
            <a:r>
              <a:rPr lang="el-GR" sz="1400" dirty="0" smtClean="0">
                <a:solidFill>
                  <a:srgbClr val="6C6D6F"/>
                </a:solidFill>
              </a:rPr>
              <a:t>× </a:t>
            </a:r>
            <a:r>
              <a:rPr lang="el-GR" sz="1400" dirty="0">
                <a:solidFill>
                  <a:srgbClr val="6C6D6F"/>
                </a:solidFill>
              </a:rPr>
              <a:t>π</a:t>
            </a:r>
            <a:r>
              <a:rPr lang="el-GR" sz="1400" dirty="0" smtClean="0">
                <a:solidFill>
                  <a:srgbClr val="6C6D6F"/>
                </a:solidFill>
              </a:rPr>
              <a:t> </a:t>
            </a:r>
            <a:r>
              <a:rPr lang="ar-SA" sz="1400" dirty="0" smtClean="0">
                <a:solidFill>
                  <a:srgbClr val="6C6D6F"/>
                </a:solidFill>
              </a:rPr>
              <a:t>نق² </a:t>
            </a:r>
            <a:r>
              <a:rPr lang="ar-SA" sz="1400" dirty="0">
                <a:solidFill>
                  <a:srgbClr val="6C6D6F"/>
                </a:solidFill>
              </a:rPr>
              <a:t>× ارتفاع</a:t>
            </a:r>
            <a:endParaRPr sz="1300" b="0" i="0" dirty="0">
              <a:solidFill>
                <a:srgbClr val="6C6D6F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35000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 dirty="0" err="1">
                <a:solidFill>
                  <a:srgbClr val="444444"/>
                </a:solidFill>
                <a:latin typeface="Arial"/>
              </a:rPr>
              <a:t>المخروط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: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الحجم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=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⅓ </a:t>
            </a:r>
            <a:r>
              <a:rPr lang="ar-SA" sz="1300" dirty="0">
                <a:solidFill>
                  <a:srgbClr val="444444"/>
                </a:solidFill>
                <a:latin typeface="Arial"/>
              </a:rPr>
              <a:t>×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×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π </a:t>
            </a:r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نق</a:t>
            </a:r>
            <a:r>
              <a:rPr lang="ar-SA" sz="1300" dirty="0" smtClean="0">
                <a:solidFill>
                  <a:srgbClr val="444444"/>
                </a:solidFill>
                <a:latin typeface="Arial"/>
              </a:rPr>
              <a:t>²×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</a:t>
            </a:r>
            <a:r>
              <a:rPr sz="1300" b="0" i="0" dirty="0" err="1" smtClean="0">
                <a:solidFill>
                  <a:srgbClr val="444444"/>
                </a:solidFill>
                <a:latin typeface="Arial"/>
              </a:rPr>
              <a:t>ارتفاع</a:t>
            </a:r>
            <a:endParaRPr sz="1300" b="0" i="0" dirty="0">
              <a:solidFill>
                <a:srgbClr val="444444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60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b="0" i="0" dirty="0" err="1">
                <a:solidFill>
                  <a:srgbClr val="0D2B55"/>
                </a:solidFill>
                <a:latin typeface="Arial"/>
              </a:rPr>
              <a:t>مكعب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ضلعه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٥</a:t>
            </a:r>
            <a:r>
              <a:rPr lang="ar-SA"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smtClean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سم</a:t>
            </a:r>
            <a:r>
              <a:rPr b="0" i="0" dirty="0">
                <a:solidFill>
                  <a:srgbClr val="0D2B55"/>
                </a:solidFill>
                <a:latin typeface="Arial"/>
              </a:rPr>
              <a:t>.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ما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مساحة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سطحه</a:t>
            </a:r>
            <a:r>
              <a:rPr b="0" i="0" dirty="0">
                <a:solidFill>
                  <a:srgbClr val="0D2B55"/>
                </a:solidFill>
                <a:latin typeface="Arial"/>
              </a:rPr>
              <a:t> </a:t>
            </a:r>
            <a:r>
              <a:rPr b="0" i="0" dirty="0" err="1">
                <a:solidFill>
                  <a:srgbClr val="0D2B55"/>
                </a:solidFill>
                <a:latin typeface="Arial"/>
              </a:rPr>
              <a:t>الكلية</a:t>
            </a:r>
            <a:r>
              <a:rPr b="0" i="0" dirty="0">
                <a:solidFill>
                  <a:srgbClr val="0D2B55"/>
                </a:solidFill>
                <a:latin typeface="Arial"/>
              </a:rPr>
              <a:t>؟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ب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١٢٠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سم²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 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١٣٠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سم²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١٤٠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سم²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ج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١٥٠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سم²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>
                <a:solidFill>
                  <a:srgbClr val="FFFFFF"/>
                </a:solidFill>
                <a:latin typeface="Arial"/>
              </a:rPr>
              <a:t>✏️  خطوات الحل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291840"/>
            <a:ext cx="1463040" cy="1463040"/>
          </a:xfrm>
          <a:prstGeom prst="rect">
            <a:avLst/>
          </a:prstGeom>
          <a:solidFill>
            <a:srgbClr val="D0E8FF"/>
          </a:solidFill>
          <a:ln w="190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3063240"/>
            <a:ext cx="1463040" cy="1463040"/>
          </a:xfrm>
          <a:prstGeom prst="rect">
            <a:avLst/>
          </a:prstGeom>
          <a:solidFill>
            <a:srgbClr val="B0D0FF"/>
          </a:solidFill>
          <a:ln w="190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6035040" y="3063240"/>
            <a:ext cx="274320" cy="228600"/>
          </a:xfrm>
          <a:prstGeom prst="line">
            <a:avLst/>
          </a:prstGeom>
          <a:ln w="12700">
            <a:solidFill>
              <a:srgbClr val="0D2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498079" y="3063240"/>
            <a:ext cx="274321" cy="228600"/>
          </a:xfrm>
          <a:prstGeom prst="line">
            <a:avLst/>
          </a:prstGeom>
          <a:ln w="12700">
            <a:solidFill>
              <a:srgbClr val="0D2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035040" y="4526280"/>
            <a:ext cx="274320" cy="228600"/>
          </a:xfrm>
          <a:prstGeom prst="line">
            <a:avLst/>
          </a:prstGeom>
          <a:ln w="12700">
            <a:solidFill>
              <a:srgbClr val="0D2B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20840" y="4528893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000" b="1" i="0" dirty="0">
                <a:solidFill>
                  <a:srgbClr val="0D2B55"/>
                </a:solidFill>
                <a:latin typeface="Arial"/>
              </a:rPr>
              <a:t>ض = 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200400"/>
            <a:ext cx="548640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" y="3236976"/>
            <a:ext cx="53400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المكعب له ٦ وجوه متساوية، كل وجه مربع بضلع ٥: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3639312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مساحة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وجه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واحد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=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ض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²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²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=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٥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= ٢٥ سم²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4041648"/>
            <a:ext cx="53400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مساحة السطح الكلية = ٦ × ٢٥ = ١٥٠ سم²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4443984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 err="1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054040"/>
                </a:solidFill>
                <a:latin typeface="Arial"/>
              </a:rPr>
              <a:t>الصحيحة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: 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ج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١٥٠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سم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²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</a:t>
            </a:r>
            <a:r>
              <a:rPr sz="1200" b="0" i="0" dirty="0">
                <a:solidFill>
                  <a:srgbClr val="054040"/>
                </a:solidFill>
                <a:latin typeface="Arial"/>
              </a:rPr>
              <a:t>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45720"/>
          </a:xfrm>
          <a:prstGeom prst="rect">
            <a:avLst/>
          </a:prstGeom>
          <a:solidFill>
            <a:srgbClr val="F4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700" b="1" i="0" dirty="0" err="1">
                <a:solidFill>
                  <a:srgbClr val="FFFFFF"/>
                </a:solidFill>
                <a:latin typeface="Arial"/>
              </a:rPr>
              <a:t>السؤال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FFFFFF"/>
                </a:solidFill>
                <a:latin typeface="Arial"/>
              </a:rPr>
              <a:t>رقم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  </a:t>
            </a:r>
            <a:r>
              <a:rPr lang="en-AE" sz="1700" b="1" dirty="0" smtClean="0">
                <a:solidFill>
                  <a:srgbClr val="FFFFFF"/>
                </a:solidFill>
                <a:latin typeface="Arial"/>
              </a:rPr>
              <a:t>61</a:t>
            </a:r>
            <a:endParaRPr sz="17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8595360" cy="868680"/>
          </a:xfrm>
          <a:prstGeom prst="rect">
            <a:avLst/>
          </a:prstGeom>
          <a:solidFill>
            <a:srgbClr val="E8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667512"/>
            <a:ext cx="832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dirty="0">
                <a:solidFill>
                  <a:srgbClr val="0D2B55"/>
                </a:solidFill>
              </a:rPr>
              <a:t>أسطوانة نصف قطرها ٧ سم وارتفاعها ١٠ سم. ما حجمها؟ </a:t>
            </a:r>
            <a:r>
              <a:rPr lang="el-GR" dirty="0">
                <a:solidFill>
                  <a:srgbClr val="0D2B55"/>
                </a:solidFill>
              </a:rPr>
              <a:t>=</a:t>
            </a:r>
            <a:r>
              <a:rPr lang="el-GR" dirty="0" smtClean="0">
                <a:solidFill>
                  <a:srgbClr val="0D2B55"/>
                </a:solidFill>
              </a:rPr>
              <a:t>π </a:t>
            </a:r>
            <a:r>
              <a:rPr lang="ar-SA" dirty="0" smtClean="0">
                <a:solidFill>
                  <a:srgbClr val="0D2B55"/>
                </a:solidFill>
              </a:rPr>
              <a:t>(</a:t>
            </a:r>
            <a:r>
              <a:rPr lang="el-GR" dirty="0" smtClean="0">
                <a:solidFill>
                  <a:srgbClr val="0D2B55"/>
                </a:solidFill>
              </a:rPr>
              <a:t>٢٢/٧</a:t>
            </a:r>
            <a:r>
              <a:rPr lang="ar-SA" dirty="0" smtClean="0">
                <a:solidFill>
                  <a:srgbClr val="0D2B55"/>
                </a:solidFill>
              </a:rPr>
              <a:t>)</a:t>
            </a:r>
            <a:endParaRPr sz="1600" b="0" i="0" dirty="0">
              <a:solidFill>
                <a:srgbClr val="0D2B55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dirty="0" smtClean="0">
                <a:solidFill>
                  <a:srgbClr val="444444"/>
                </a:solidFill>
                <a:latin typeface="Arial"/>
              </a:rPr>
              <a:t>ب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١٤٠٠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سم³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627632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6592" y="1682496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أ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١٤٣٠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سم³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4206240" cy="530352"/>
          </a:xfrm>
          <a:prstGeom prst="rect">
            <a:avLst/>
          </a:prstGeom>
          <a:solidFill>
            <a:srgbClr val="F0F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300" b="0" i="0" dirty="0" smtClean="0">
                <a:solidFill>
                  <a:srgbClr val="444444"/>
                </a:solidFill>
                <a:latin typeface="Arial"/>
              </a:rPr>
              <a:t>د</a:t>
            </a:r>
            <a:r>
              <a:rPr sz="1300" b="0" i="0" dirty="0" smtClean="0">
                <a:solidFill>
                  <a:srgbClr val="444444"/>
                </a:solidFill>
                <a:latin typeface="Arial"/>
              </a:rPr>
              <a:t>  </a:t>
            </a:r>
            <a:r>
              <a:rPr sz="1300" b="0" i="0" dirty="0">
                <a:solidFill>
                  <a:srgbClr val="444444"/>
                </a:solidFill>
                <a:latin typeface="Arial"/>
              </a:rPr>
              <a:t>١٥٠٠ سم³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286000"/>
            <a:ext cx="4206240" cy="530352"/>
          </a:xfrm>
          <a:prstGeom prst="rect">
            <a:avLst/>
          </a:prstGeom>
          <a:solidFill>
            <a:srgbClr val="198754"/>
          </a:solidFill>
          <a:ln w="19050"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340864"/>
            <a:ext cx="405993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 i="0" dirty="0" smtClean="0">
                <a:solidFill>
                  <a:srgbClr val="FFFFFF"/>
                </a:solidFill>
                <a:latin typeface="Arial"/>
              </a:rPr>
              <a:t>✅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</a:t>
            </a:r>
            <a:r>
              <a:rPr lang="ar-SA" sz="1300" b="1" i="0" dirty="0" smtClean="0">
                <a:solidFill>
                  <a:srgbClr val="FFFFFF"/>
                </a:solidFill>
                <a:latin typeface="Arial"/>
              </a:rPr>
              <a:t>ج</a:t>
            </a:r>
            <a:r>
              <a:rPr sz="1300" b="1" i="0" dirty="0" smtClean="0">
                <a:solidFill>
                  <a:srgbClr val="FFFFFF"/>
                </a:solidFill>
                <a:latin typeface="Arial"/>
              </a:rPr>
              <a:t>  </a:t>
            </a:r>
            <a:r>
              <a:rPr sz="1300" b="1" i="0" dirty="0">
                <a:solidFill>
                  <a:srgbClr val="FFFFFF"/>
                </a:solidFill>
                <a:latin typeface="Arial"/>
              </a:rPr>
              <a:t>١٥٤٠ سم³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8595360" cy="2743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935224"/>
            <a:ext cx="8503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 i="0" dirty="0">
                <a:solidFill>
                  <a:srgbClr val="FFFFFF"/>
                </a:solidFill>
                <a:latin typeface="Arial"/>
              </a:rPr>
              <a:t>✏️ 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خطوات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الحل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505302" y="3255264"/>
            <a:ext cx="640080" cy="594360"/>
          </a:xfrm>
          <a:prstGeom prst="ellipse">
            <a:avLst/>
          </a:prstGeom>
          <a:solidFill>
            <a:srgbClr val="FFE8D0"/>
          </a:solidFill>
          <a:ln w="2540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05302" y="3822192"/>
            <a:ext cx="640080" cy="758951"/>
          </a:xfrm>
          <a:prstGeom prst="rect">
            <a:avLst/>
          </a:prstGeom>
          <a:solidFill>
            <a:srgbClr val="FFF0E0"/>
          </a:solidFill>
          <a:ln w="1905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05302" y="4489704"/>
            <a:ext cx="640080" cy="594360"/>
          </a:xfrm>
          <a:prstGeom prst="ellipse">
            <a:avLst/>
          </a:prstGeom>
          <a:solidFill>
            <a:srgbClr val="FFD0A0"/>
          </a:solidFill>
          <a:ln w="25400">
            <a:solidFill>
              <a:srgbClr val="F4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79" y="34747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900" b="1" i="0" dirty="0" smtClean="0">
                <a:solidFill>
                  <a:srgbClr val="F47E20"/>
                </a:solidFill>
                <a:latin typeface="Arial"/>
              </a:rPr>
              <a:t>نق </a:t>
            </a:r>
            <a:r>
              <a:rPr sz="900" b="1" i="0" dirty="0" smtClean="0">
                <a:solidFill>
                  <a:srgbClr val="F47E20"/>
                </a:solidFill>
                <a:latin typeface="Arial"/>
              </a:rPr>
              <a:t>=٧</a:t>
            </a:r>
            <a:endParaRPr sz="900" b="1" i="0" dirty="0">
              <a:solidFill>
                <a:srgbClr val="F47E20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32419" y="390906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00" b="1" i="0" dirty="0" smtClean="0">
                <a:solidFill>
                  <a:srgbClr val="F47E20"/>
                </a:solidFill>
                <a:latin typeface="Arial"/>
              </a:rPr>
              <a:t>ر=١٠</a:t>
            </a:r>
            <a:endParaRPr sz="900" b="1" i="0" dirty="0">
              <a:solidFill>
                <a:srgbClr val="F47E20"/>
              </a:solidFill>
              <a:latin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320" y="3200400"/>
            <a:ext cx="5486400" cy="1783080"/>
          </a:xfrm>
          <a:prstGeom prst="rect">
            <a:avLst/>
          </a:prstGeom>
          <a:solidFill>
            <a:srgbClr val="E0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236976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SA" sz="1200" dirty="0" smtClean="0">
                <a:solidFill>
                  <a:srgbClr val="054040"/>
                </a:solidFill>
              </a:rPr>
              <a:t>نطبق قانون حجم الأسطوانة: حجم = </a:t>
            </a:r>
            <a:r>
              <a:rPr lang="el-GR" sz="1200" dirty="0" smtClean="0">
                <a:solidFill>
                  <a:srgbClr val="054040"/>
                </a:solidFill>
              </a:rPr>
              <a:t>×π</a:t>
            </a:r>
            <a:r>
              <a:rPr lang="ar-SA" sz="1200" dirty="0" smtClean="0">
                <a:solidFill>
                  <a:srgbClr val="054040"/>
                </a:solidFill>
              </a:rPr>
              <a:t> </a:t>
            </a:r>
            <a:r>
              <a:rPr lang="el-GR" sz="1200" dirty="0" smtClean="0">
                <a:solidFill>
                  <a:srgbClr val="054040"/>
                </a:solidFill>
              </a:rPr>
              <a:t> </a:t>
            </a:r>
            <a:r>
              <a:rPr lang="ar-SA" sz="1200" dirty="0" smtClean="0">
                <a:solidFill>
                  <a:srgbClr val="054040"/>
                </a:solidFill>
              </a:rPr>
              <a:t>نق² × الارتفاع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7472" y="3639312"/>
            <a:ext cx="53400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= ٢٢/٧ × ٧² × ١٠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041648"/>
            <a:ext cx="534009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>
                <a:solidFill>
                  <a:srgbClr val="054040"/>
                </a:solidFill>
                <a:latin typeface="Arial"/>
              </a:rPr>
              <a:t>   = ٢٢/٧ × ٤٩ × ١٠  =  ٢٢ × ٧ × ١٠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4443984"/>
            <a:ext cx="5340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 i="0" dirty="0">
                <a:solidFill>
                  <a:srgbClr val="054040"/>
                </a:solidFill>
                <a:latin typeface="Arial"/>
              </a:rPr>
              <a:t>   = ١٥٤ × ١٠ = ١٥٤٠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سم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 ✓   </a:t>
            </a:r>
            <a:r>
              <a:rPr sz="1200" b="0" i="0" dirty="0" err="1" smtClean="0">
                <a:solidFill>
                  <a:srgbClr val="054040"/>
                </a:solidFill>
                <a:latin typeface="Arial"/>
              </a:rPr>
              <a:t>الإجابة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: </a:t>
            </a:r>
            <a:r>
              <a:rPr lang="ar-SA" sz="1200" b="0" i="0" dirty="0" smtClean="0">
                <a:solidFill>
                  <a:srgbClr val="054040"/>
                </a:solidFill>
                <a:latin typeface="Arial"/>
              </a:rPr>
              <a:t> ج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 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 </a:t>
            </a:r>
            <a:r>
              <a:rPr lang="ar-SA" sz="1200" dirty="0">
                <a:solidFill>
                  <a:srgbClr val="054040"/>
                </a:solidFill>
                <a:latin typeface="Arial"/>
              </a:rPr>
              <a:t>³</a:t>
            </a:r>
            <a:r>
              <a:rPr sz="1200" b="0" i="0" dirty="0" smtClean="0">
                <a:solidFill>
                  <a:srgbClr val="054040"/>
                </a:solidFill>
                <a:latin typeface="Arial"/>
              </a:rPr>
              <a:t>١٥٤٠</a:t>
            </a:r>
            <a:endParaRPr sz="1200" b="0" i="0" dirty="0">
              <a:solidFill>
                <a:srgbClr val="05404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1797</TotalTime>
  <Words>7900</Words>
  <Application>Microsoft Office PowerPoint</Application>
  <PresentationFormat>عرض على الشاشة (9:16)‏</PresentationFormat>
  <Paragraphs>1356</Paragraphs>
  <Slides>100</Slides>
  <Notes>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subject/>
  <dc:creator>Dell</dc:creator>
  <cp:keywords/>
  <dc:description>generated using python-pptx</dc:description>
  <cp:lastModifiedBy>Dell</cp:lastModifiedBy>
  <cp:revision>154</cp:revision>
  <dcterms:created xsi:type="dcterms:W3CDTF">2013-01-27T09:14:16Z</dcterms:created>
  <dcterms:modified xsi:type="dcterms:W3CDTF">2026-05-22T10:51:40Z</dcterms:modified>
  <cp:category/>
</cp:coreProperties>
</file>